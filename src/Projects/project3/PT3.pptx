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72" r:id="rId4"/>
    <p:sldId id="257" r:id="rId5"/>
    <p:sldId id="270" r:id="rId6"/>
    <p:sldId id="269" r:id="rId7"/>
    <p:sldId id="260" r:id="rId8"/>
    <p:sldId id="271" r:id="rId9"/>
    <p:sldId id="262" r:id="rId10"/>
    <p:sldId id="274" r:id="rId11"/>
    <p:sldId id="267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"/>
            <a:ext cx="18288000" cy="74736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919712"/>
            <a:ext cx="18287999" cy="36728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919706"/>
            <a:ext cx="1820925" cy="31432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97208" y="3398646"/>
            <a:ext cx="2281301" cy="34895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800" y="40005"/>
            <a:ext cx="6883044" cy="596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Binary_Worksheet1.xlsb"/><Relationship Id="rId3" Type="http://schemas.openxmlformats.org/officeDocument/2006/relationships/image" Target="../media/image3.jpg"/><Relationship Id="rId7" Type="http://schemas.openxmlformats.org/officeDocument/2006/relationships/image" Target="../media/image1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Binary_Worksheet.xlsb"/><Relationship Id="rId5" Type="http://schemas.openxmlformats.org/officeDocument/2006/relationships/image" Target="../media/image11.jpg"/><Relationship Id="rId4" Type="http://schemas.openxmlformats.org/officeDocument/2006/relationships/image" Target="../media/image7.png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Binary_Worksheet2.xlsb"/><Relationship Id="rId3" Type="http://schemas.openxmlformats.org/officeDocument/2006/relationships/image" Target="../media/image3.jpg"/><Relationship Id="rId7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3.jpg"/><Relationship Id="rId7" Type="http://schemas.openxmlformats.org/officeDocument/2006/relationships/image" Target="../media/image1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11" Type="http://schemas.openxmlformats.org/officeDocument/2006/relationships/image" Target="../media/image30.jpeg"/><Relationship Id="rId5" Type="http://schemas.openxmlformats.org/officeDocument/2006/relationships/image" Target="../media/image24.jpeg"/><Relationship Id="rId10" Type="http://schemas.openxmlformats.org/officeDocument/2006/relationships/image" Target="../media/image29.png"/><Relationship Id="rId4" Type="http://schemas.openxmlformats.org/officeDocument/2006/relationships/image" Target="../media/image3.jp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3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944"/>
            <a:ext cx="18290583" cy="10288944"/>
            <a:chOff x="-2584" y="-1948"/>
            <a:chExt cx="18290583" cy="1028894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584" y="-1948"/>
              <a:ext cx="18288000" cy="102340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823" y="1123950"/>
              <a:ext cx="6200394" cy="14998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19707"/>
              <a:ext cx="1820925" cy="31432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6000" y="2456536"/>
            <a:ext cx="10220325" cy="24824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100"/>
              </a:spcBef>
            </a:pPr>
            <a:r>
              <a:rPr lang="en-ID" sz="4400" dirty="0" err="1">
                <a:solidFill>
                  <a:srgbClr val="000000"/>
                </a:solidFill>
                <a:latin typeface="Lucida Sans Unicode"/>
                <a:cs typeface="Lucida Sans Unicode"/>
              </a:rPr>
              <a:t>Implementasi</a:t>
            </a:r>
            <a:r>
              <a:rPr lang="en-ID" sz="4400" dirty="0">
                <a:solidFill>
                  <a:srgbClr val="000000"/>
                </a:solidFill>
                <a:latin typeface="Lucida Sans Unicode"/>
                <a:cs typeface="Lucida Sans Unicode"/>
              </a:rPr>
              <a:t> Smart Lighting Control System pada Foundry </a:t>
            </a:r>
            <a:r>
              <a:rPr lang="en-ID" sz="4800" dirty="0">
                <a:solidFill>
                  <a:srgbClr val="000000"/>
                </a:solidFill>
                <a:latin typeface="Lucida Sans Unicode"/>
                <a:cs typeface="Lucida Sans Unicode"/>
              </a:rPr>
              <a:t>Plant</a:t>
            </a:r>
            <a:r>
              <a:rPr lang="en-ID" sz="440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lang="en-ID" sz="4400" dirty="0" err="1">
                <a:solidFill>
                  <a:srgbClr val="000000"/>
                </a:solidFill>
                <a:latin typeface="Lucida Sans Unicode"/>
                <a:cs typeface="Lucida Sans Unicode"/>
              </a:rPr>
              <a:t>Berbasis</a:t>
            </a:r>
            <a:r>
              <a:rPr lang="en-ID" sz="4400" dirty="0">
                <a:solidFill>
                  <a:srgbClr val="000000"/>
                </a:solidFill>
                <a:latin typeface="Lucida Sans Unicode"/>
                <a:cs typeface="Lucida Sans Unicode"/>
              </a:rPr>
              <a:t> Internet of Things (IoT)</a:t>
            </a:r>
            <a:endParaRPr sz="4400" spc="85" dirty="0">
              <a:solidFill>
                <a:srgbClr val="000000"/>
              </a:solidFill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0643" y="7657845"/>
            <a:ext cx="8102600" cy="1524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625">
              <a:lnSpc>
                <a:spcPts val="4875"/>
              </a:lnSpc>
              <a:spcBef>
                <a:spcPts val="105"/>
              </a:spcBef>
              <a:tabLst>
                <a:tab pos="3754754" algn="l"/>
              </a:tabLst>
            </a:pPr>
            <a:endParaRPr sz="4300" dirty="0">
              <a:latin typeface="Tahoma"/>
              <a:cs typeface="Tahoma"/>
            </a:endParaRPr>
          </a:p>
          <a:p>
            <a:pPr marL="12700">
              <a:lnSpc>
                <a:spcPts val="3315"/>
              </a:lnSpc>
            </a:pPr>
            <a:r>
              <a:rPr sz="3000" spc="50" dirty="0">
                <a:latin typeface="Lucida Sans Unicode"/>
                <a:cs typeface="Lucida Sans Unicode"/>
              </a:rPr>
              <a:t>Presented</a:t>
            </a:r>
            <a:r>
              <a:rPr sz="3000" spc="-170" dirty="0">
                <a:latin typeface="Lucida Sans Unicode"/>
                <a:cs typeface="Lucida Sans Unicode"/>
              </a:rPr>
              <a:t> </a:t>
            </a:r>
            <a:r>
              <a:rPr sz="3000" dirty="0">
                <a:latin typeface="Lucida Sans Unicode"/>
                <a:cs typeface="Lucida Sans Unicode"/>
              </a:rPr>
              <a:t>by:</a:t>
            </a:r>
            <a:r>
              <a:rPr sz="3000" spc="-140" dirty="0">
                <a:latin typeface="Lucida Sans Unicode"/>
                <a:cs typeface="Lucida Sans Unicode"/>
              </a:rPr>
              <a:t> </a:t>
            </a:r>
            <a:r>
              <a:rPr lang="en-US" sz="3000" spc="-140" dirty="0">
                <a:latin typeface="Lucida Sans Unicode"/>
                <a:cs typeface="Lucida Sans Unicode"/>
              </a:rPr>
              <a:t>Muhammad Ibrahim Musyaffa</a:t>
            </a:r>
            <a:endParaRPr sz="3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3000" dirty="0">
                <a:latin typeface="Lucida Sans Unicode"/>
                <a:cs typeface="Lucida Sans Unicode"/>
              </a:rPr>
              <a:t>Universitas</a:t>
            </a:r>
            <a:r>
              <a:rPr sz="3000" spc="-110" dirty="0">
                <a:latin typeface="Lucida Sans Unicode"/>
                <a:cs typeface="Lucida Sans Unicode"/>
              </a:rPr>
              <a:t> </a:t>
            </a:r>
            <a:r>
              <a:rPr lang="en-US" sz="3000" spc="-10" dirty="0">
                <a:latin typeface="Lucida Sans Unicode"/>
                <a:cs typeface="Lucida Sans Unicode"/>
              </a:rPr>
              <a:t>Negeri Yogyakarta</a:t>
            </a:r>
            <a:endParaRPr sz="30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C48C-1DA1-33DA-B933-D6188A0B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749BC1E-902A-4EBD-CF5A-6A934E564024}"/>
              </a:ext>
            </a:extLst>
          </p:cNvPr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CDF19AD-E0C6-AA34-AD03-D21DB2DE36F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0C249A0-82DC-F2CC-8606-7DC581D347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889BA31F-1EDB-1369-632F-3C37D6D579E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sp>
        <p:nvSpPr>
          <p:cNvPr id="33" name="object 33">
            <a:extLst>
              <a:ext uri="{FF2B5EF4-FFF2-40B4-BE49-F238E27FC236}">
                <a16:creationId xmlns:a16="http://schemas.microsoft.com/office/drawing/2014/main" id="{2EC222B1-6BC5-CDD3-E1C3-4120BB6FE534}"/>
              </a:ext>
            </a:extLst>
          </p:cNvPr>
          <p:cNvSpPr txBox="1"/>
          <p:nvPr/>
        </p:nvSpPr>
        <p:spPr>
          <a:xfrm>
            <a:off x="1071778" y="1299209"/>
            <a:ext cx="187833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60"/>
              </a:lnSpc>
              <a:spcBef>
                <a:spcPts val="105"/>
              </a:spcBef>
            </a:pPr>
            <a:r>
              <a:rPr sz="1350" b="1" i="1" dirty="0">
                <a:solidFill>
                  <a:srgbClr val="FFFFFF"/>
                </a:solidFill>
                <a:latin typeface="Trebuchet MS"/>
                <a:cs typeface="Trebuchet MS"/>
              </a:rPr>
              <a:t>LAYOUT</a:t>
            </a:r>
            <a:r>
              <a:rPr sz="1350" b="1" i="1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endParaRPr sz="1350" dirty="0">
              <a:latin typeface="Trebuchet MS"/>
              <a:cs typeface="Trebuchet MS"/>
            </a:endParaRPr>
          </a:p>
          <a:p>
            <a:pPr marL="12700">
              <a:lnSpc>
                <a:spcPts val="1560"/>
              </a:lnSpc>
            </a:pPr>
            <a:r>
              <a:rPr sz="1350" b="1" i="1" spc="60" dirty="0">
                <a:solidFill>
                  <a:srgbClr val="FFFFFF"/>
                </a:solidFill>
                <a:latin typeface="Trebuchet MS"/>
                <a:cs typeface="Trebuchet MS"/>
              </a:rPr>
              <a:t>KOMATSU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413770DF-42F6-5C23-869F-83CA5F6FA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40005"/>
            <a:ext cx="6883044" cy="586826"/>
          </a:xfrm>
          <a:prstGeom prst="rect">
            <a:avLst/>
          </a:prstGeom>
        </p:spPr>
        <p:txBody>
          <a:bodyPr vert="horz" wrap="square" lIns="0" tIns="154431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"/>
              </a:spcBef>
            </a:pPr>
            <a:r>
              <a:rPr lang="en-US" sz="2800" dirty="0"/>
              <a:t>I</a:t>
            </a:r>
            <a:r>
              <a:rPr lang="en-ID" sz="2800" dirty="0" err="1"/>
              <a:t>dentifikasi</a:t>
            </a:r>
            <a:r>
              <a:rPr lang="en-ID" sz="2800" dirty="0"/>
              <a:t> </a:t>
            </a:r>
            <a:r>
              <a:rPr lang="en-ID" sz="2800" dirty="0" err="1"/>
              <a:t>Masalah</a:t>
            </a:r>
            <a:r>
              <a:rPr lang="en-ID" sz="2800" dirty="0"/>
              <a:t> </a:t>
            </a:r>
            <a:endParaRPr sz="2500"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875AFB05-7A2A-4FD0-C1B3-5477B432F342}"/>
              </a:ext>
            </a:extLst>
          </p:cNvPr>
          <p:cNvSpPr txBox="1"/>
          <p:nvPr/>
        </p:nvSpPr>
        <p:spPr>
          <a:xfrm>
            <a:off x="17701387" y="570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56C8991-955D-B5B7-E513-9812F5C926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949520"/>
            <a:ext cx="7129802" cy="4010514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6BD2EDF-23BF-D1FF-15F7-3600CE7722D2}"/>
              </a:ext>
            </a:extLst>
          </p:cNvPr>
          <p:cNvCxnSpPr>
            <a:cxnSpLocks/>
          </p:cNvCxnSpPr>
          <p:nvPr/>
        </p:nvCxnSpPr>
        <p:spPr>
          <a:xfrm flipV="1">
            <a:off x="723282" y="1928941"/>
            <a:ext cx="998475" cy="1534189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A27A7ED-DE8D-8244-E21E-F0055FA310DB}"/>
              </a:ext>
            </a:extLst>
          </p:cNvPr>
          <p:cNvCxnSpPr>
            <a:cxnSpLocks/>
          </p:cNvCxnSpPr>
          <p:nvPr/>
        </p:nvCxnSpPr>
        <p:spPr>
          <a:xfrm flipH="1" flipV="1">
            <a:off x="1676400" y="1897500"/>
            <a:ext cx="2547257" cy="579761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CCCD5BC-ECED-68A2-C95C-2F3E85F32EF7}"/>
              </a:ext>
            </a:extLst>
          </p:cNvPr>
          <p:cNvCxnSpPr>
            <a:cxnSpLocks/>
          </p:cNvCxnSpPr>
          <p:nvPr/>
        </p:nvCxnSpPr>
        <p:spPr>
          <a:xfrm flipH="1">
            <a:off x="2362200" y="2572216"/>
            <a:ext cx="1829398" cy="1255599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FFB8535-7299-1ED0-7474-CCE159AEC9E1}"/>
              </a:ext>
            </a:extLst>
          </p:cNvPr>
          <p:cNvCxnSpPr>
            <a:cxnSpLocks/>
          </p:cNvCxnSpPr>
          <p:nvPr/>
        </p:nvCxnSpPr>
        <p:spPr>
          <a:xfrm flipH="1" flipV="1">
            <a:off x="677925" y="3494571"/>
            <a:ext cx="1684275" cy="340211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FB2275B9-5D27-BF80-6594-5E4D32E122C1}"/>
              </a:ext>
            </a:extLst>
          </p:cNvPr>
          <p:cNvSpPr/>
          <p:nvPr/>
        </p:nvSpPr>
        <p:spPr>
          <a:xfrm>
            <a:off x="7518956" y="1052611"/>
            <a:ext cx="7802690" cy="3804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D" sz="2400" b="1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en-ID" sz="2400" b="1" dirty="0">
              <a:solidFill>
                <a:schemeClr val="tx1"/>
              </a:solidFill>
            </a:endParaRPr>
          </a:p>
          <a:p>
            <a:pPr algn="l"/>
            <a:r>
              <a:rPr lang="en-ID" sz="2400" b="1" dirty="0">
                <a:solidFill>
                  <a:schemeClr val="tx1"/>
                </a:solidFill>
              </a:rPr>
              <a:t>  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Lampu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penerangan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 area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pabrik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sering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</a:rPr>
              <a:t>tetap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menyala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b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meskipun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kondisi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sekitar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sudah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terang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Hal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algn="l"/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menyebabkan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pemborosan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energi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listrik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b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dan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meningkatkan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biaya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operasional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ID" sz="24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Panel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lampu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yang </a:t>
            </a:r>
            <a:r>
              <a:rPr lang="en-ID" sz="2400" b="1" dirty="0" err="1">
                <a:solidFill>
                  <a:schemeClr val="tx1"/>
                </a:solidFill>
              </a:rPr>
              <a:t>J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auh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dari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area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kerja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membuat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operator </a:t>
            </a:r>
            <a:r>
              <a:rPr lang="en-ID" sz="2400" b="1" dirty="0">
                <a:solidFill>
                  <a:schemeClr val="tx1"/>
                </a:solidFill>
              </a:rPr>
              <a:t>  </a:t>
            </a:r>
            <a:br>
              <a:rPr lang="en-ID" sz="2400" b="1" dirty="0">
                <a:solidFill>
                  <a:schemeClr val="tx1"/>
                </a:solidFill>
              </a:rPr>
            </a:br>
            <a:r>
              <a:rPr lang="en-ID" sz="2400" b="1" dirty="0">
                <a:solidFill>
                  <a:schemeClr val="tx1"/>
                </a:solidFill>
              </a:rPr>
              <a:t>  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Jarang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mematikan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lampu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sehingga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lampu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sering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algn="l"/>
            <a:r>
              <a:rPr lang="en-ID" sz="2400" b="1" dirty="0">
                <a:solidFill>
                  <a:schemeClr val="tx1"/>
                </a:solidFill>
              </a:rPr>
              <a:t>  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dibiarkan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tetap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D" sz="24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menyala</a:t>
            </a:r>
            <a: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ID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ID" sz="2400" b="1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53823BB-4425-D815-C39B-2C661C6B9BA6}"/>
              </a:ext>
            </a:extLst>
          </p:cNvPr>
          <p:cNvSpPr/>
          <p:nvPr/>
        </p:nvSpPr>
        <p:spPr>
          <a:xfrm>
            <a:off x="7693331" y="1405254"/>
            <a:ext cx="7456197" cy="1632800"/>
          </a:xfrm>
          <a:prstGeom prst="rect">
            <a:avLst/>
          </a:prstGeom>
          <a:noFill/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16963D6-B43B-CF41-AB1E-192C83FC76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4220" y="1007161"/>
            <a:ext cx="2423028" cy="3864595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917BA0C0-596D-FF53-7EE9-A78858C6CC53}"/>
              </a:ext>
            </a:extLst>
          </p:cNvPr>
          <p:cNvSpPr/>
          <p:nvPr/>
        </p:nvSpPr>
        <p:spPr>
          <a:xfrm>
            <a:off x="7692202" y="3207860"/>
            <a:ext cx="7456197" cy="1429875"/>
          </a:xfrm>
          <a:prstGeom prst="rect">
            <a:avLst/>
          </a:prstGeom>
          <a:noFill/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6919138B-AD21-D0AB-EF5C-9B6E7C2DDE77}"/>
              </a:ext>
            </a:extLst>
          </p:cNvPr>
          <p:cNvSpPr/>
          <p:nvPr/>
        </p:nvSpPr>
        <p:spPr>
          <a:xfrm rot="10800000">
            <a:off x="15083133" y="3436147"/>
            <a:ext cx="609600" cy="36728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63AC56-2D7C-3165-4FD0-B34872C4B9B1}"/>
              </a:ext>
            </a:extLst>
          </p:cNvPr>
          <p:cNvCxnSpPr>
            <a:cxnSpLocks/>
          </p:cNvCxnSpPr>
          <p:nvPr/>
        </p:nvCxnSpPr>
        <p:spPr>
          <a:xfrm flipV="1">
            <a:off x="4079444" y="2076375"/>
            <a:ext cx="3564901" cy="45594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A015F89-E119-07DC-6A03-B5D7BBFF8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913" y="5383065"/>
            <a:ext cx="7341157" cy="4010514"/>
          </a:xfrm>
          <a:prstGeom prst="rect">
            <a:avLst/>
          </a:prstGeom>
        </p:spPr>
      </p:pic>
      <p:sp>
        <p:nvSpPr>
          <p:cNvPr id="9" name="object 47">
            <a:extLst>
              <a:ext uri="{FF2B5EF4-FFF2-40B4-BE49-F238E27FC236}">
                <a16:creationId xmlns:a16="http://schemas.microsoft.com/office/drawing/2014/main" id="{A98C588C-40A6-D71E-0695-07711ACEE7E4}"/>
              </a:ext>
            </a:extLst>
          </p:cNvPr>
          <p:cNvSpPr txBox="1"/>
          <p:nvPr/>
        </p:nvSpPr>
        <p:spPr>
          <a:xfrm>
            <a:off x="7744526" y="5412475"/>
            <a:ext cx="10376561" cy="4014945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38760" marR="518795">
              <a:lnSpc>
                <a:spcPct val="116599"/>
              </a:lnSpc>
              <a:spcBef>
                <a:spcPts val="190"/>
              </a:spcBef>
            </a:pPr>
            <a:r>
              <a:rPr lang="en-ID" sz="2800" dirty="0" err="1"/>
              <a:t>Kontrol</a:t>
            </a:r>
            <a:r>
              <a:rPr lang="en-ID" sz="2800" dirty="0"/>
              <a:t> </a:t>
            </a:r>
            <a:r>
              <a:rPr lang="en-ID" sz="2800" dirty="0" err="1"/>
              <a:t>lampu</a:t>
            </a:r>
            <a:r>
              <a:rPr lang="en-ID" sz="2800" dirty="0"/>
              <a:t> </a:t>
            </a:r>
            <a:r>
              <a:rPr lang="en-ID" sz="2800" dirty="0" err="1"/>
              <a:t>saat</a:t>
            </a:r>
            <a:r>
              <a:rPr lang="en-ID" sz="2800" dirty="0"/>
              <a:t> </a:t>
            </a:r>
            <a:r>
              <a:rPr lang="en-ID" sz="2800" dirty="0" err="1"/>
              <a:t>ini</a:t>
            </a:r>
            <a:r>
              <a:rPr lang="en-ID" sz="2800" dirty="0"/>
              <a:t> </a:t>
            </a:r>
            <a:r>
              <a:rPr lang="en-ID" sz="2800" dirty="0" err="1"/>
              <a:t>dilakukan</a:t>
            </a:r>
            <a:r>
              <a:rPr lang="en-ID" sz="2800" dirty="0"/>
              <a:t> manual di panel yang </a:t>
            </a:r>
            <a:r>
              <a:rPr lang="en-ID" sz="2800" dirty="0" err="1"/>
              <a:t>jaraknya</a:t>
            </a:r>
            <a:r>
              <a:rPr lang="en-ID" sz="2800" dirty="0"/>
              <a:t> 50-300 meter </a:t>
            </a:r>
            <a:r>
              <a:rPr lang="en-ID" sz="2800" dirty="0" err="1"/>
              <a:t>dari</a:t>
            </a:r>
            <a:r>
              <a:rPr lang="en-ID" sz="2800" dirty="0"/>
              <a:t> area </a:t>
            </a:r>
            <a:r>
              <a:rPr lang="en-ID" sz="2800" dirty="0" err="1"/>
              <a:t>kerja</a:t>
            </a:r>
            <a:r>
              <a:rPr lang="en-ID" sz="2800" dirty="0"/>
              <a:t>. Operator/</a:t>
            </a:r>
            <a:r>
              <a:rPr lang="en-ID" sz="2800" dirty="0" err="1"/>
              <a:t>teknisi</a:t>
            </a:r>
            <a:r>
              <a:rPr lang="en-ID" sz="2800" dirty="0"/>
              <a:t> </a:t>
            </a:r>
            <a:r>
              <a:rPr lang="en-ID" sz="2800" dirty="0" err="1"/>
              <a:t>membutuhkan</a:t>
            </a:r>
            <a:r>
              <a:rPr lang="en-ID" sz="2800" dirty="0"/>
              <a:t> 5-10 </a:t>
            </a:r>
            <a:r>
              <a:rPr lang="en-ID" sz="2800" dirty="0" err="1"/>
              <a:t>menit</a:t>
            </a:r>
            <a:r>
              <a:rPr lang="en-ID" sz="2800" dirty="0"/>
              <a:t> </a:t>
            </a:r>
            <a:r>
              <a:rPr lang="en-ID" sz="2800" dirty="0" err="1"/>
              <a:t>setiap</a:t>
            </a:r>
            <a:r>
              <a:rPr lang="en-ID" sz="2800" dirty="0"/>
              <a:t> kali </a:t>
            </a:r>
            <a:r>
              <a:rPr lang="en-ID" sz="2800" dirty="0" err="1"/>
              <a:t>mengontrol</a:t>
            </a:r>
            <a:r>
              <a:rPr lang="en-ID" sz="2800" dirty="0"/>
              <a:t> </a:t>
            </a:r>
            <a:r>
              <a:rPr lang="en-ID" sz="2800" dirty="0" err="1"/>
              <a:t>satu</a:t>
            </a:r>
            <a:r>
              <a:rPr lang="en-ID" sz="2800" dirty="0"/>
              <a:t> panel. </a:t>
            </a:r>
            <a:r>
              <a:rPr lang="en-ID" sz="2800" dirty="0" err="1"/>
              <a:t>Dengan</a:t>
            </a:r>
            <a:r>
              <a:rPr lang="en-ID" sz="2800" dirty="0"/>
              <a:t> 10 panel yang </a:t>
            </a:r>
            <a:r>
              <a:rPr lang="en-ID" sz="2800" dirty="0" err="1"/>
              <a:t>tersebar</a:t>
            </a:r>
            <a:r>
              <a:rPr lang="en-ID" sz="2800" dirty="0"/>
              <a:t>, </a:t>
            </a:r>
            <a:r>
              <a:rPr lang="en-ID" sz="2800" dirty="0" err="1"/>
              <a:t>waktu</a:t>
            </a:r>
            <a:r>
              <a:rPr lang="en-ID" sz="2800" dirty="0"/>
              <a:t> yang </a:t>
            </a:r>
            <a:r>
              <a:rPr lang="en-ID" sz="2800" dirty="0" err="1"/>
              <a:t>terbuang</a:t>
            </a:r>
            <a:r>
              <a:rPr lang="en-ID" sz="2800" dirty="0"/>
              <a:t> </a:t>
            </a:r>
            <a:r>
              <a:rPr lang="en-ID" sz="2800" dirty="0" err="1"/>
              <a:t>mencapai</a:t>
            </a:r>
            <a:r>
              <a:rPr lang="en-ID" sz="2800" dirty="0"/>
              <a:t> 10-20 </a:t>
            </a:r>
            <a:r>
              <a:rPr lang="en-ID" sz="2800" dirty="0" err="1"/>
              <a:t>menit</a:t>
            </a:r>
            <a:r>
              <a:rPr lang="en-ID" sz="2800" dirty="0"/>
              <a:t> per </a:t>
            </a:r>
            <a:r>
              <a:rPr lang="en-ID" sz="2800" dirty="0" err="1"/>
              <a:t>hari</a:t>
            </a:r>
            <a:r>
              <a:rPr lang="en-ID" sz="2800" dirty="0"/>
              <a:t> </a:t>
            </a:r>
            <a:r>
              <a:rPr lang="en-ID" sz="2800" dirty="0" err="1"/>
              <a:t>atau</a:t>
            </a:r>
            <a:r>
              <a:rPr lang="en-ID" sz="2800" dirty="0"/>
              <a:t> </a:t>
            </a:r>
            <a:r>
              <a:rPr lang="en-ID" sz="2800" dirty="0" err="1"/>
              <a:t>setara</a:t>
            </a:r>
            <a:r>
              <a:rPr lang="en-ID" sz="2800" dirty="0"/>
              <a:t> 220 -440 </a:t>
            </a:r>
            <a:r>
              <a:rPr lang="en-ID" sz="2800" dirty="0" err="1"/>
              <a:t>menit</a:t>
            </a:r>
            <a:r>
              <a:rPr lang="en-ID" sz="2800" dirty="0"/>
              <a:t> per </a:t>
            </a:r>
            <a:r>
              <a:rPr lang="en-ID" sz="2800" dirty="0" err="1"/>
              <a:t>bulan</a:t>
            </a:r>
            <a:r>
              <a:rPr lang="en-ID" sz="2800" dirty="0"/>
              <a:t>. Jarak yang </a:t>
            </a:r>
            <a:r>
              <a:rPr lang="en-ID" sz="2800" dirty="0" err="1"/>
              <a:t>jauh</a:t>
            </a:r>
            <a:r>
              <a:rPr lang="en-ID" sz="2800" dirty="0"/>
              <a:t> </a:t>
            </a:r>
            <a:r>
              <a:rPr lang="en-ID" sz="2800" dirty="0" err="1"/>
              <a:t>membuat</a:t>
            </a:r>
            <a:r>
              <a:rPr lang="en-ID" sz="2800" dirty="0"/>
              <a:t> operator/</a:t>
            </a:r>
            <a:r>
              <a:rPr lang="en-ID" sz="2800" dirty="0" err="1"/>
              <a:t>teknisi</a:t>
            </a:r>
            <a:r>
              <a:rPr lang="en-ID" sz="2800" dirty="0"/>
              <a:t> </a:t>
            </a:r>
            <a:r>
              <a:rPr lang="en-ID" sz="2800" dirty="0" err="1"/>
              <a:t>jarang</a:t>
            </a:r>
            <a:r>
              <a:rPr lang="en-ID" sz="2800" dirty="0"/>
              <a:t> </a:t>
            </a:r>
            <a:r>
              <a:rPr lang="en-ID" sz="2800" dirty="0" err="1"/>
              <a:t>mematikan</a:t>
            </a:r>
            <a:r>
              <a:rPr lang="en-ID" sz="2800" dirty="0"/>
              <a:t> </a:t>
            </a:r>
            <a:r>
              <a:rPr lang="en-ID" sz="2800" dirty="0" err="1"/>
              <a:t>lampu</a:t>
            </a:r>
            <a:r>
              <a:rPr lang="en-ID" sz="2800" dirty="0"/>
              <a:t>, </a:t>
            </a:r>
            <a:r>
              <a:rPr lang="en-ID" sz="2800" dirty="0" err="1"/>
              <a:t>sehingga</a:t>
            </a:r>
            <a:r>
              <a:rPr lang="en-ID" sz="2800" dirty="0"/>
              <a:t> </a:t>
            </a:r>
            <a:r>
              <a:rPr lang="en-ID" sz="2800" dirty="0" err="1"/>
              <a:t>lampu</a:t>
            </a:r>
            <a:r>
              <a:rPr lang="en-ID" sz="2800" dirty="0"/>
              <a:t> </a:t>
            </a:r>
            <a:r>
              <a:rPr lang="en-ID" sz="2800" dirty="0" err="1"/>
              <a:t>sering</a:t>
            </a:r>
            <a:r>
              <a:rPr lang="en-ID" sz="2800" dirty="0"/>
              <a:t> </a:t>
            </a:r>
            <a:r>
              <a:rPr lang="en-ID" sz="2800" dirty="0" err="1"/>
              <a:t>dibiarkan</a:t>
            </a:r>
            <a:r>
              <a:rPr lang="en-ID" sz="2800" dirty="0"/>
              <a:t> </a:t>
            </a:r>
            <a:r>
              <a:rPr lang="en-ID" sz="2800" dirty="0" err="1"/>
              <a:t>menyala</a:t>
            </a:r>
            <a:r>
              <a:rPr lang="en-ID" sz="2800" dirty="0"/>
              <a:t> dan </a:t>
            </a:r>
            <a:r>
              <a:rPr lang="en-ID" sz="2800" dirty="0" err="1"/>
              <a:t>menyebabkan</a:t>
            </a:r>
            <a:r>
              <a:rPr lang="en-ID" sz="2800" dirty="0"/>
              <a:t> </a:t>
            </a:r>
            <a:r>
              <a:rPr lang="en-ID" sz="2800" dirty="0" err="1"/>
              <a:t>pemborosan</a:t>
            </a:r>
            <a:r>
              <a:rPr lang="en-ID" sz="2800" dirty="0"/>
              <a:t> </a:t>
            </a:r>
            <a:r>
              <a:rPr lang="en-ID" sz="2800" dirty="0" err="1"/>
              <a:t>energi</a:t>
            </a:r>
            <a:r>
              <a:rPr lang="en-ID" sz="2800" dirty="0"/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575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A994-B099-7F90-5017-5165A0CE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472546E-52FC-0BA7-E016-BAB246D16091}"/>
              </a:ext>
            </a:extLst>
          </p:cNvPr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7D8756B-52FA-BEF6-8C91-EC926C9644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3A054C8-4457-4DEF-7FA0-F39DB4F1F7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6275EB6D-1C15-F933-8B79-8A9AC29A9D0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sp>
        <p:nvSpPr>
          <p:cNvPr id="34" name="object 34">
            <a:extLst>
              <a:ext uri="{FF2B5EF4-FFF2-40B4-BE49-F238E27FC236}">
                <a16:creationId xmlns:a16="http://schemas.microsoft.com/office/drawing/2014/main" id="{839A677F-904D-5A7E-89D1-50DFA2C86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40005"/>
            <a:ext cx="6883044" cy="586826"/>
          </a:xfrm>
          <a:prstGeom prst="rect">
            <a:avLst/>
          </a:prstGeom>
        </p:spPr>
        <p:txBody>
          <a:bodyPr vert="horz" wrap="square" lIns="0" tIns="154431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"/>
              </a:spcBef>
            </a:pPr>
            <a:r>
              <a:rPr lang="en-ID" sz="2800" dirty="0" err="1"/>
              <a:t>Analisis</a:t>
            </a:r>
            <a:r>
              <a:rPr lang="en-ID" sz="2800" dirty="0"/>
              <a:t> </a:t>
            </a:r>
            <a:r>
              <a:rPr lang="en-ID" sz="2800" dirty="0" err="1"/>
              <a:t>Masalah</a:t>
            </a:r>
            <a:endParaRPr sz="2500"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CA80089-EF17-7DFC-922E-C4E06E52E4CB}"/>
              </a:ext>
            </a:extLst>
          </p:cNvPr>
          <p:cNvSpPr txBox="1"/>
          <p:nvPr/>
        </p:nvSpPr>
        <p:spPr>
          <a:xfrm>
            <a:off x="17701387" y="570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70D63-2BED-43F6-AC39-BCE21677C5E9}"/>
              </a:ext>
            </a:extLst>
          </p:cNvPr>
          <p:cNvSpPr/>
          <p:nvPr/>
        </p:nvSpPr>
        <p:spPr>
          <a:xfrm>
            <a:off x="762000" y="1409700"/>
            <a:ext cx="16002000" cy="25146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WHY </a:t>
            </a:r>
            <a:r>
              <a:rPr lang="en-US" dirty="0" err="1"/>
              <a:t>Why</a:t>
            </a:r>
            <a:r>
              <a:rPr lang="en-US" dirty="0"/>
              <a:t> </a:t>
            </a:r>
            <a:r>
              <a:rPr lang="en-US" dirty="0" err="1"/>
              <a:t>Analisis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3B152-CA3D-726E-1A04-021209505D30}"/>
              </a:ext>
            </a:extLst>
          </p:cNvPr>
          <p:cNvSpPr txBox="1"/>
          <p:nvPr/>
        </p:nvSpPr>
        <p:spPr>
          <a:xfrm>
            <a:off x="932233" y="1522958"/>
            <a:ext cx="2581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E06D6D64-7711-37E7-15B7-F5AA1D4EB1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0" y="4198580"/>
            <a:ext cx="16002000" cy="46715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F6300F-1F31-8C93-E75A-1723CC6F0045}"/>
              </a:ext>
            </a:extLst>
          </p:cNvPr>
          <p:cNvSpPr txBox="1"/>
          <p:nvPr/>
        </p:nvSpPr>
        <p:spPr>
          <a:xfrm>
            <a:off x="959447" y="4421342"/>
            <a:ext cx="133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W+1H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87B8B988-16F4-9D9B-18A3-137CB700FB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715702"/>
              </p:ext>
            </p:extLst>
          </p:nvPr>
        </p:nvGraphicFramePr>
        <p:xfrm>
          <a:off x="1104900" y="4904232"/>
          <a:ext cx="15544800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6" imgW="6553299" imgH="723856" progId="Excel.SheetBinaryMacroEnabled.12">
                  <p:embed/>
                </p:oleObj>
              </mc:Choice>
              <mc:Fallback>
                <p:oleObj name="Binary Worksheet" r:id="rId6" imgW="6553299" imgH="723856" progId="Excel.SheetBinary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04900" y="4904232"/>
                        <a:ext cx="15544800" cy="226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25B90166-7270-6E85-503F-2DCE48465A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603773"/>
              </p:ext>
            </p:extLst>
          </p:nvPr>
        </p:nvGraphicFramePr>
        <p:xfrm>
          <a:off x="1104900" y="2117748"/>
          <a:ext cx="15544800" cy="1654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8" imgW="6553299" imgH="780940" progId="Excel.SheetBinaryMacroEnabled.12">
                  <p:embed/>
                </p:oleObj>
              </mc:Choice>
              <mc:Fallback>
                <p:oleObj name="Binary Worksheet" r:id="rId8" imgW="6553299" imgH="780940" progId="Excel.SheetBinary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04900" y="2117748"/>
                        <a:ext cx="15544800" cy="16541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object 20">
            <a:extLst>
              <a:ext uri="{FF2B5EF4-FFF2-40B4-BE49-F238E27FC236}">
                <a16:creationId xmlns:a16="http://schemas.microsoft.com/office/drawing/2014/main" id="{2B18E71A-85F6-4483-E971-E9A29F1590DE}"/>
              </a:ext>
            </a:extLst>
          </p:cNvPr>
          <p:cNvSpPr txBox="1"/>
          <p:nvPr/>
        </p:nvSpPr>
        <p:spPr>
          <a:xfrm>
            <a:off x="1104900" y="7324141"/>
            <a:ext cx="15544800" cy="1136850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225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Karena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operator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harus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mematikan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tenaga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Jika operator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sibuk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pekerjaannya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dimatikan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dibiarkan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pemborosan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plant.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332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71778" y="1299209"/>
            <a:ext cx="187833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60"/>
              </a:lnSpc>
              <a:spcBef>
                <a:spcPts val="105"/>
              </a:spcBef>
            </a:pPr>
            <a:r>
              <a:rPr sz="1350" b="1" i="1" dirty="0">
                <a:solidFill>
                  <a:srgbClr val="FFFFFF"/>
                </a:solidFill>
                <a:latin typeface="Trebuchet MS"/>
                <a:cs typeface="Trebuchet MS"/>
              </a:rPr>
              <a:t>LAYOUT</a:t>
            </a:r>
            <a:r>
              <a:rPr sz="1350" b="1" i="1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endParaRPr sz="1350" dirty="0">
              <a:latin typeface="Trebuchet MS"/>
              <a:cs typeface="Trebuchet MS"/>
            </a:endParaRPr>
          </a:p>
          <a:p>
            <a:pPr marL="12700">
              <a:lnSpc>
                <a:spcPts val="1560"/>
              </a:lnSpc>
            </a:pPr>
            <a:r>
              <a:rPr sz="1350" b="1" i="1" spc="60" dirty="0">
                <a:solidFill>
                  <a:srgbClr val="FFFFFF"/>
                </a:solidFill>
                <a:latin typeface="Trebuchet MS"/>
                <a:cs typeface="Trebuchet MS"/>
              </a:rPr>
              <a:t>KOMATSU</a:t>
            </a:r>
            <a:endParaRPr sz="1350" dirty="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77800" y="40005"/>
            <a:ext cx="6883044" cy="586826"/>
          </a:xfrm>
          <a:prstGeom prst="rect">
            <a:avLst/>
          </a:prstGeom>
        </p:spPr>
        <p:txBody>
          <a:bodyPr vert="horz" wrap="square" lIns="0" tIns="154431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"/>
              </a:spcBef>
            </a:pPr>
            <a:r>
              <a:rPr lang="en-ID" sz="2800" dirty="0" err="1"/>
              <a:t>Cakupan</a:t>
            </a:r>
            <a:r>
              <a:rPr lang="en-ID" sz="2800" dirty="0"/>
              <a:t> Area dan Status </a:t>
            </a:r>
            <a:r>
              <a:rPr lang="en-ID" sz="2800" dirty="0" err="1"/>
              <a:t>Implementasi</a:t>
            </a:r>
            <a:endParaRPr sz="2500" dirty="0"/>
          </a:p>
        </p:txBody>
      </p:sp>
      <p:sp>
        <p:nvSpPr>
          <p:cNvPr id="42" name="object 42"/>
          <p:cNvSpPr txBox="1"/>
          <p:nvPr/>
        </p:nvSpPr>
        <p:spPr>
          <a:xfrm>
            <a:off x="17701387" y="57099"/>
            <a:ext cx="21653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E84278EE-07E2-336E-D5E3-EDDC2C028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129" y="952500"/>
            <a:ext cx="7654471" cy="4943513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9D4A02B1-E61A-95C8-6C1A-76678617B109}"/>
              </a:ext>
            </a:extLst>
          </p:cNvPr>
          <p:cNvSpPr/>
          <p:nvPr/>
        </p:nvSpPr>
        <p:spPr>
          <a:xfrm>
            <a:off x="124483" y="941614"/>
            <a:ext cx="8280400" cy="5411551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EF9B99BD-25D6-A363-6F82-BDD95F471481}"/>
              </a:ext>
            </a:extLst>
          </p:cNvPr>
          <p:cNvCxnSpPr>
            <a:cxnSpLocks/>
          </p:cNvCxnSpPr>
          <p:nvPr/>
        </p:nvCxnSpPr>
        <p:spPr>
          <a:xfrm>
            <a:off x="8404883" y="974271"/>
            <a:ext cx="1729718" cy="762000"/>
          </a:xfrm>
          <a:prstGeom prst="bentConnector3">
            <a:avLst>
              <a:gd name="adj1" fmla="val 100032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bject 47">
            <a:extLst>
              <a:ext uri="{FF2B5EF4-FFF2-40B4-BE49-F238E27FC236}">
                <a16:creationId xmlns:a16="http://schemas.microsoft.com/office/drawing/2014/main" id="{F365487C-9003-E2A3-F44D-12E920AC6B20}"/>
              </a:ext>
            </a:extLst>
          </p:cNvPr>
          <p:cNvSpPr txBox="1"/>
          <p:nvPr/>
        </p:nvSpPr>
        <p:spPr>
          <a:xfrm>
            <a:off x="8574224" y="1768928"/>
            <a:ext cx="9343698" cy="289566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38760" marR="518795">
              <a:lnSpc>
                <a:spcPct val="116599"/>
              </a:lnSpc>
              <a:spcBef>
                <a:spcPts val="190"/>
              </a:spcBef>
            </a:pPr>
            <a:r>
              <a:rPr lang="en-US" sz="2650" dirty="0">
                <a:latin typeface="Times New Roman"/>
                <a:cs typeface="Times New Roman"/>
              </a:rPr>
              <a:t>      =  </a:t>
            </a:r>
            <a:r>
              <a:rPr lang="en-US" sz="2400" dirty="0" err="1"/>
              <a:t>menandakan</a:t>
            </a:r>
            <a:r>
              <a:rPr lang="en-US" sz="2400" dirty="0"/>
              <a:t> </a:t>
            </a:r>
            <a:r>
              <a:rPr lang="en-US" sz="2400" dirty="0" err="1"/>
              <a:t>letak</a:t>
            </a:r>
            <a:r>
              <a:rPr lang="en-US" sz="2400" dirty="0"/>
              <a:t> panel </a:t>
            </a:r>
            <a:r>
              <a:rPr lang="en-US" sz="2400" dirty="0" err="1"/>
              <a:t>lampu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masing-masing area.</a:t>
            </a:r>
          </a:p>
          <a:p>
            <a:pPr marL="238760" marR="518795">
              <a:spcBef>
                <a:spcPts val="190"/>
              </a:spcBef>
            </a:pPr>
            <a:r>
              <a:rPr lang="en-US" sz="2400" dirty="0"/>
              <a:t>      </a:t>
            </a:r>
            <a:r>
              <a:rPr lang="en-US" sz="2650" dirty="0">
                <a:latin typeface="Times New Roman"/>
                <a:cs typeface="Times New Roman"/>
              </a:rPr>
              <a:t>=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pembagian</a:t>
            </a:r>
            <a:r>
              <a:rPr lang="en-ID" sz="2400" dirty="0"/>
              <a:t> area </a:t>
            </a:r>
            <a:r>
              <a:rPr lang="en-ID" sz="2400" dirty="0" err="1"/>
              <a:t>lampu</a:t>
            </a:r>
            <a:r>
              <a:rPr lang="en-ID" sz="2400" dirty="0"/>
              <a:t> di </a:t>
            </a:r>
            <a:r>
              <a:rPr lang="en-ID" sz="2400" dirty="0" err="1"/>
              <a:t>setiap</a:t>
            </a:r>
            <a:r>
              <a:rPr lang="en-ID" sz="2400" dirty="0"/>
              <a:t> lane.</a:t>
            </a:r>
          </a:p>
          <a:p>
            <a:pPr marL="238760" marR="518795">
              <a:spcBef>
                <a:spcPts val="190"/>
              </a:spcBef>
            </a:pPr>
            <a:endParaRPr lang="en-ID" sz="2400" dirty="0"/>
          </a:p>
          <a:p>
            <a:pPr marL="238760" marR="518795">
              <a:spcBef>
                <a:spcPts val="190"/>
              </a:spcBef>
            </a:pPr>
            <a:r>
              <a:rPr lang="en-ID" sz="2400" dirty="0" err="1"/>
              <a:t>Dengan</a:t>
            </a:r>
            <a:r>
              <a:rPr lang="en-ID" sz="2400" dirty="0"/>
              <a:t> area yang </a:t>
            </a:r>
            <a:r>
              <a:rPr lang="en-ID" sz="2400" dirty="0" err="1"/>
              <a:t>luas</a:t>
            </a:r>
            <a:r>
              <a:rPr lang="en-ID" sz="2400" dirty="0"/>
              <a:t> dan panel yang </a:t>
            </a:r>
            <a:r>
              <a:rPr lang="en-ID" sz="2400" dirty="0" err="1"/>
              <a:t>tersebar</a:t>
            </a:r>
            <a:r>
              <a:rPr lang="en-ID" sz="2400" dirty="0"/>
              <a:t>, </a:t>
            </a:r>
            <a:r>
              <a:rPr lang="en-ID" sz="2400" dirty="0" err="1"/>
              <a:t>kontrol</a:t>
            </a:r>
            <a:r>
              <a:rPr lang="en-ID" sz="2400" dirty="0"/>
              <a:t> manual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kurang</a:t>
            </a:r>
            <a:r>
              <a:rPr lang="en-ID" sz="2400" dirty="0"/>
              <a:t> </a:t>
            </a:r>
            <a:r>
              <a:rPr lang="en-ID" sz="2400" dirty="0" err="1"/>
              <a:t>efisien</a:t>
            </a:r>
            <a:r>
              <a:rPr lang="en-ID" sz="2400" dirty="0"/>
              <a:t> dan </a:t>
            </a:r>
            <a:r>
              <a:rPr lang="en-ID" sz="2400" dirty="0" err="1"/>
              <a:t>sering</a:t>
            </a:r>
            <a:r>
              <a:rPr lang="en-ID" sz="2400" dirty="0"/>
              <a:t> </a:t>
            </a:r>
            <a:r>
              <a:rPr lang="en-ID" sz="2400" dirty="0" err="1"/>
              <a:t>menyebabkan</a:t>
            </a:r>
            <a:r>
              <a:rPr lang="en-ID" sz="2400" dirty="0"/>
              <a:t> </a:t>
            </a:r>
            <a:r>
              <a:rPr lang="en-ID" sz="2400" dirty="0" err="1"/>
              <a:t>lampu</a:t>
            </a:r>
            <a:r>
              <a:rPr lang="en-ID" sz="2400" dirty="0"/>
              <a:t> </a:t>
            </a:r>
            <a:r>
              <a:rPr lang="en-ID" sz="2400" dirty="0" err="1"/>
              <a:t>tetap</a:t>
            </a:r>
            <a:r>
              <a:rPr lang="en-ID" sz="2400" dirty="0"/>
              <a:t> </a:t>
            </a:r>
            <a:r>
              <a:rPr lang="en-ID" sz="2400" dirty="0" err="1"/>
              <a:t>menyala</a:t>
            </a:r>
            <a:r>
              <a:rPr lang="en-ID" sz="2400" dirty="0"/>
              <a:t> </a:t>
            </a:r>
            <a:r>
              <a:rPr lang="en-ID" sz="2400" dirty="0" err="1"/>
              <a:t>meskipun</a:t>
            </a:r>
            <a:r>
              <a:rPr lang="en-ID" sz="2400" dirty="0"/>
              <a:t> </a:t>
            </a:r>
            <a:r>
              <a:rPr lang="en-ID" sz="2400" dirty="0" err="1"/>
              <a:t>sudah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diperlukan</a:t>
            </a:r>
            <a:r>
              <a:rPr lang="en-ID" sz="2400" dirty="0"/>
              <a:t>.</a:t>
            </a:r>
          </a:p>
        </p:txBody>
      </p: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A236B30D-22BC-3905-E6FB-1D7A633BB8B5}"/>
              </a:ext>
            </a:extLst>
          </p:cNvPr>
          <p:cNvSpPr/>
          <p:nvPr/>
        </p:nvSpPr>
        <p:spPr>
          <a:xfrm>
            <a:off x="8840786" y="1902580"/>
            <a:ext cx="284163" cy="267307"/>
          </a:xfrm>
          <a:prstGeom prst="flowChartConnector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946C433-5CAB-8D85-D5AA-CF6BB69F1713}"/>
              </a:ext>
            </a:extLst>
          </p:cNvPr>
          <p:cNvSpPr/>
          <p:nvPr/>
        </p:nvSpPr>
        <p:spPr>
          <a:xfrm>
            <a:off x="8745536" y="2731119"/>
            <a:ext cx="379413" cy="352259"/>
          </a:xfrm>
          <a:prstGeom prst="rect">
            <a:avLst/>
          </a:prstGeom>
          <a:noFill/>
          <a:ln w="28575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D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3170A9B-47D1-46E7-210D-72DDECAE4FE7}"/>
              </a:ext>
            </a:extLst>
          </p:cNvPr>
          <p:cNvSpPr txBox="1"/>
          <p:nvPr/>
        </p:nvSpPr>
        <p:spPr>
          <a:xfrm>
            <a:off x="1118791" y="5893986"/>
            <a:ext cx="1831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Foundry Plant 2</a:t>
            </a:r>
            <a:endParaRPr lang="en-ID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23EF11-2E83-92D6-9090-469C9DFF6BEA}"/>
              </a:ext>
            </a:extLst>
          </p:cNvPr>
          <p:cNvSpPr txBox="1"/>
          <p:nvPr/>
        </p:nvSpPr>
        <p:spPr>
          <a:xfrm>
            <a:off x="5562600" y="5896013"/>
            <a:ext cx="1831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Foundry Plant 1</a:t>
            </a:r>
            <a:endParaRPr lang="en-ID" dirty="0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F9017A71-69EE-41FE-68FE-71BE3CDA8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97" y="6521460"/>
            <a:ext cx="6350949" cy="2973758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F9F69AC7-1760-7EAF-25FC-2BE4C0E27B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463" y="6488796"/>
            <a:ext cx="1821863" cy="3262621"/>
          </a:xfrm>
          <a:prstGeom prst="rect">
            <a:avLst/>
          </a:prstGeom>
        </p:spPr>
      </p:pic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F3CD74C5-3677-EFF1-A7A0-7C57E26111E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78056" y="5852675"/>
            <a:ext cx="1377651" cy="357314"/>
          </a:xfrm>
          <a:prstGeom prst="bentConnector3">
            <a:avLst>
              <a:gd name="adj1" fmla="val 9978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bject 47">
            <a:extLst>
              <a:ext uri="{FF2B5EF4-FFF2-40B4-BE49-F238E27FC236}">
                <a16:creationId xmlns:a16="http://schemas.microsoft.com/office/drawing/2014/main" id="{3A83D001-466B-0DBD-CE8F-275C9324611F}"/>
              </a:ext>
            </a:extLst>
          </p:cNvPr>
          <p:cNvSpPr txBox="1"/>
          <p:nvPr/>
        </p:nvSpPr>
        <p:spPr>
          <a:xfrm>
            <a:off x="8826661" y="4888810"/>
            <a:ext cx="8660621" cy="1434495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38760" marR="518795">
              <a:lnSpc>
                <a:spcPct val="116599"/>
              </a:lnSpc>
              <a:spcBef>
                <a:spcPts val="190"/>
              </a:spcBef>
            </a:pPr>
            <a:r>
              <a:rPr lang="en-ID" sz="2000" b="1" dirty="0"/>
              <a:t>Solusi yang </a:t>
            </a:r>
            <a:r>
              <a:rPr lang="en-ID" sz="2000" b="1" dirty="0" err="1"/>
              <a:t>Diberikan</a:t>
            </a:r>
            <a:r>
              <a:rPr lang="en-ID" sz="2000" b="1" dirty="0"/>
              <a:t>:</a:t>
            </a:r>
            <a:br>
              <a:rPr lang="en-ID" sz="2000" dirty="0"/>
            </a:br>
            <a:r>
              <a:rPr lang="en-ID" sz="2000" dirty="0"/>
              <a:t>Project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dibuat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0000"/>
                </a:solidFill>
              </a:rPr>
              <a:t>mengontrol</a:t>
            </a:r>
            <a:r>
              <a:rPr lang="en-ID" sz="2000" dirty="0">
                <a:solidFill>
                  <a:srgbClr val="FF0000"/>
                </a:solidFill>
              </a:rPr>
              <a:t> dan monitoring </a:t>
            </a:r>
            <a:r>
              <a:rPr lang="en-ID" sz="2000" dirty="0" err="1">
                <a:solidFill>
                  <a:srgbClr val="FF0000"/>
                </a:solidFill>
              </a:rPr>
              <a:t>lampu</a:t>
            </a:r>
            <a:r>
              <a:rPr lang="en-ID" sz="2000" dirty="0">
                <a:solidFill>
                  <a:srgbClr val="FF0000"/>
                </a:solidFill>
              </a:rPr>
              <a:t> di plant</a:t>
            </a:r>
            <a:r>
              <a:rPr lang="en-ID" sz="2000" dirty="0"/>
              <a:t>, </a:t>
            </a:r>
            <a:r>
              <a:rPr lang="en-ID" sz="2000" dirty="0" err="1"/>
              <a:t>sehingga</a:t>
            </a:r>
            <a:r>
              <a:rPr lang="en-ID" sz="2000" dirty="0"/>
              <a:t> </a:t>
            </a:r>
            <a:r>
              <a:rPr lang="en-ID" sz="2000" dirty="0" err="1"/>
              <a:t>seluruh</a:t>
            </a:r>
            <a:r>
              <a:rPr lang="en-ID" sz="2000" dirty="0"/>
              <a:t> area </a:t>
            </a:r>
            <a:r>
              <a:rPr lang="en-ID" sz="2000" dirty="0" err="1"/>
              <a:t>penerangan</a:t>
            </a:r>
            <a:r>
              <a:rPr lang="en-ID" sz="2000" dirty="0"/>
              <a:t> plant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dikelola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real-time, </a:t>
            </a:r>
            <a:r>
              <a:rPr lang="en-ID" sz="2000" dirty="0" err="1"/>
              <a:t>terpusat</a:t>
            </a:r>
            <a:r>
              <a:rPr lang="en-ID" sz="2000" dirty="0"/>
              <a:t>, dan </a:t>
            </a:r>
            <a:r>
              <a:rPr lang="en-ID" sz="2000" dirty="0" err="1"/>
              <a:t>efisien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aplikasi</a:t>
            </a:r>
            <a:r>
              <a:rPr lang="en-ID" sz="2000" dirty="0"/>
              <a:t> mobile dan website.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12DA760-1DD7-5D72-3CCA-598AFD12DEC5}"/>
              </a:ext>
            </a:extLst>
          </p:cNvPr>
          <p:cNvSpPr/>
          <p:nvPr/>
        </p:nvSpPr>
        <p:spPr>
          <a:xfrm>
            <a:off x="107823" y="6488796"/>
            <a:ext cx="8333793" cy="3142877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8A6550A-F2B5-5DE1-8D83-B4ABDB4B1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049215"/>
              </p:ext>
            </p:extLst>
          </p:nvPr>
        </p:nvGraphicFramePr>
        <p:xfrm>
          <a:off x="8890741" y="6488796"/>
          <a:ext cx="8596541" cy="329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8" imgW="2260452" imgH="2032029" progId="Excel.SheetBinaryMacroEnabled.12">
                  <p:embed/>
                </p:oleObj>
              </mc:Choice>
              <mc:Fallback>
                <p:oleObj name="Binary Worksheet" r:id="rId8" imgW="2260452" imgH="2032029" progId="Excel.SheetBinary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890741" y="6488796"/>
                        <a:ext cx="8596541" cy="3295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5B46-9CFC-0544-F4A6-6CFB56E0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62F6E07-A991-C2A9-B8A9-7BAF09882733}"/>
              </a:ext>
            </a:extLst>
          </p:cNvPr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069C7AD-524D-30E3-E02D-B6BE397CFB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F7BBB32-6110-662F-4E3D-53044D4D30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5D398B4B-BF61-384D-B559-CED3882F028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sp>
        <p:nvSpPr>
          <p:cNvPr id="34" name="object 34">
            <a:extLst>
              <a:ext uri="{FF2B5EF4-FFF2-40B4-BE49-F238E27FC236}">
                <a16:creationId xmlns:a16="http://schemas.microsoft.com/office/drawing/2014/main" id="{01BE071A-6EF9-4220-99C6-506535FDF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40005"/>
            <a:ext cx="6883044" cy="586826"/>
          </a:xfrm>
          <a:prstGeom prst="rect">
            <a:avLst/>
          </a:prstGeom>
        </p:spPr>
        <p:txBody>
          <a:bodyPr vert="horz" wrap="square" lIns="0" tIns="154431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"/>
              </a:spcBef>
            </a:pPr>
            <a:r>
              <a:rPr lang="en-ID" sz="2800" dirty="0" err="1"/>
              <a:t>Komponen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 dan </a:t>
            </a:r>
            <a:r>
              <a:rPr lang="en-ID" sz="2800" dirty="0" err="1"/>
              <a:t>Visualisasi</a:t>
            </a:r>
            <a:r>
              <a:rPr lang="en-ID" sz="2800" dirty="0"/>
              <a:t> </a:t>
            </a:r>
            <a:r>
              <a:rPr lang="en-ID" sz="2800" dirty="0" err="1"/>
              <a:t>Perangkat</a:t>
            </a:r>
            <a:endParaRPr sz="2500"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28A0532-89C5-69DB-A8DA-C0A0AB256969}"/>
              </a:ext>
            </a:extLst>
          </p:cNvPr>
          <p:cNvSpPr txBox="1"/>
          <p:nvPr/>
        </p:nvSpPr>
        <p:spPr>
          <a:xfrm>
            <a:off x="17701387" y="570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3C1307C-6365-03CF-5E6F-8CF42A69F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015" y="952500"/>
            <a:ext cx="4956099" cy="5665431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1D5E314-12DC-39FA-F872-A78FF8648074}"/>
              </a:ext>
            </a:extLst>
          </p:cNvPr>
          <p:cNvSpPr/>
          <p:nvPr/>
        </p:nvSpPr>
        <p:spPr>
          <a:xfrm>
            <a:off x="177800" y="1049724"/>
            <a:ext cx="5118100" cy="566543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3619177D-0573-09DE-C4A3-DF2187160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195044"/>
              </p:ext>
            </p:extLst>
          </p:nvPr>
        </p:nvGraphicFramePr>
        <p:xfrm>
          <a:off x="5512329" y="1049724"/>
          <a:ext cx="12189058" cy="5665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000475" imgH="1543248" progId="Excel.Sheet.12">
                  <p:embed/>
                </p:oleObj>
              </mc:Choice>
              <mc:Fallback>
                <p:oleObj name="Worksheet" r:id="rId6" imgW="4000475" imgH="154324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2329" y="1049724"/>
                        <a:ext cx="12189058" cy="5665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" name="Picture 55">
            <a:extLst>
              <a:ext uri="{FF2B5EF4-FFF2-40B4-BE49-F238E27FC236}">
                <a16:creationId xmlns:a16="http://schemas.microsoft.com/office/drawing/2014/main" id="{7805C87C-AF96-3AA1-7202-4C13E0738CB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6812379"/>
            <a:ext cx="5145314" cy="2794700"/>
          </a:xfrm>
          <a:prstGeom prst="rect">
            <a:avLst/>
          </a:prstGeom>
        </p:spPr>
      </p:pic>
      <p:sp>
        <p:nvSpPr>
          <p:cNvPr id="57" name="object 44">
            <a:extLst>
              <a:ext uri="{FF2B5EF4-FFF2-40B4-BE49-F238E27FC236}">
                <a16:creationId xmlns:a16="http://schemas.microsoft.com/office/drawing/2014/main" id="{E0078087-4A9C-F928-16B2-7D14AD44F087}"/>
              </a:ext>
            </a:extLst>
          </p:cNvPr>
          <p:cNvSpPr/>
          <p:nvPr/>
        </p:nvSpPr>
        <p:spPr>
          <a:xfrm>
            <a:off x="5289171" y="6823037"/>
            <a:ext cx="625929" cy="475429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7">
            <a:extLst>
              <a:ext uri="{FF2B5EF4-FFF2-40B4-BE49-F238E27FC236}">
                <a16:creationId xmlns:a16="http://schemas.microsoft.com/office/drawing/2014/main" id="{0BD3C3DF-3C26-7DF1-D386-72DF0AF7BE63}"/>
              </a:ext>
            </a:extLst>
          </p:cNvPr>
          <p:cNvSpPr txBox="1"/>
          <p:nvPr/>
        </p:nvSpPr>
        <p:spPr>
          <a:xfrm>
            <a:off x="5958643" y="6833793"/>
            <a:ext cx="10043357" cy="2502608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38760" marR="518795">
              <a:lnSpc>
                <a:spcPct val="116599"/>
              </a:lnSpc>
              <a:spcBef>
                <a:spcPts val="190"/>
              </a:spcBef>
            </a:pPr>
            <a:r>
              <a:rPr lang="en-ID" sz="2800" dirty="0" err="1"/>
              <a:t>Visualisasi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 </a:t>
            </a:r>
            <a:r>
              <a:rPr lang="en-ID" sz="2800" dirty="0" err="1"/>
              <a:t>kontrol</a:t>
            </a:r>
            <a:r>
              <a:rPr lang="en-ID" sz="2800" dirty="0"/>
              <a:t> </a:t>
            </a:r>
            <a:r>
              <a:rPr lang="en-ID" sz="2800" dirty="0" err="1"/>
              <a:t>lampu</a:t>
            </a:r>
            <a:r>
              <a:rPr lang="en-ID" sz="2800" dirty="0"/>
              <a:t> </a:t>
            </a:r>
            <a:r>
              <a:rPr lang="en-ID" sz="2800" dirty="0" err="1"/>
              <a:t>otomatis</a:t>
            </a:r>
            <a:r>
              <a:rPr lang="en-ID" sz="2800" dirty="0"/>
              <a:t> yang </a:t>
            </a:r>
            <a:r>
              <a:rPr lang="en-ID" sz="2800" dirty="0" err="1"/>
              <a:t>terpasang</a:t>
            </a:r>
            <a:r>
              <a:rPr lang="en-ID" sz="2800" dirty="0"/>
              <a:t> di </a:t>
            </a:r>
            <a:r>
              <a:rPr lang="en-ID" sz="2800" dirty="0" err="1"/>
              <a:t>samping</a:t>
            </a:r>
            <a:r>
              <a:rPr lang="en-ID" sz="2800" dirty="0"/>
              <a:t> panel </a:t>
            </a:r>
            <a:r>
              <a:rPr lang="en-ID" sz="2800" dirty="0" err="1"/>
              <a:t>lampu</a:t>
            </a:r>
            <a:r>
              <a:rPr lang="en-ID" sz="2800" dirty="0"/>
              <a:t> di area plant.</a:t>
            </a:r>
            <a:br>
              <a:rPr lang="en-ID" sz="2800" dirty="0"/>
            </a:br>
            <a:r>
              <a:rPr lang="en-ID" sz="2800" dirty="0" err="1"/>
              <a:t>Perangkat</a:t>
            </a:r>
            <a:r>
              <a:rPr lang="en-ID" sz="2800" dirty="0"/>
              <a:t> </a:t>
            </a:r>
            <a:r>
              <a:rPr lang="en-ID" sz="2800" dirty="0" err="1"/>
              <a:t>dipasang</a:t>
            </a:r>
            <a:r>
              <a:rPr lang="en-ID" sz="2800" dirty="0"/>
              <a:t> </a:t>
            </a:r>
            <a:r>
              <a:rPr lang="en-ID" sz="2800" dirty="0" err="1"/>
              <a:t>menggunakan</a:t>
            </a:r>
            <a:r>
              <a:rPr lang="en-ID" sz="2800" dirty="0"/>
              <a:t> </a:t>
            </a:r>
            <a:r>
              <a:rPr lang="en-ID" sz="2800" dirty="0" err="1"/>
              <a:t>dudukan</a:t>
            </a:r>
            <a:r>
              <a:rPr lang="en-ID" sz="2800" dirty="0"/>
              <a:t> plat dan </a:t>
            </a:r>
            <a:r>
              <a:rPr lang="en-ID" sz="2800" dirty="0" err="1"/>
              <a:t>dilengkapi</a:t>
            </a:r>
            <a:r>
              <a:rPr lang="en-ID" sz="2800" dirty="0"/>
              <a:t> stop </a:t>
            </a:r>
            <a:r>
              <a:rPr lang="en-ID" sz="2800" dirty="0" err="1"/>
              <a:t>kontak</a:t>
            </a:r>
            <a:r>
              <a:rPr lang="en-ID" sz="2800" dirty="0"/>
              <a:t> single di </a:t>
            </a:r>
            <a:r>
              <a:rPr lang="en-ID" sz="2800" dirty="0" err="1"/>
              <a:t>bawahnya</a:t>
            </a:r>
            <a:r>
              <a:rPr lang="en-ID" sz="2800" dirty="0"/>
              <a:t> </a:t>
            </a:r>
            <a:r>
              <a:rPr lang="en-ID" sz="2800" dirty="0" err="1"/>
              <a:t>sebagai</a:t>
            </a:r>
            <a:r>
              <a:rPr lang="en-ID" sz="2800" dirty="0"/>
              <a:t> </a:t>
            </a:r>
            <a:r>
              <a:rPr lang="en-ID" sz="2800" dirty="0" err="1"/>
              <a:t>sumber</a:t>
            </a:r>
            <a:r>
              <a:rPr lang="en-ID" sz="2800" dirty="0"/>
              <a:t> </a:t>
            </a:r>
            <a:r>
              <a:rPr lang="en-ID" sz="2800" dirty="0" err="1"/>
              <a:t>listrik</a:t>
            </a:r>
            <a:r>
              <a:rPr lang="en-ID" sz="2800" dirty="0"/>
              <a:t> </a:t>
            </a:r>
            <a:r>
              <a:rPr lang="en-ID" sz="2800" dirty="0" err="1"/>
              <a:t>utama</a:t>
            </a:r>
            <a:r>
              <a:rPr lang="en-ID" sz="2800" dirty="0"/>
              <a:t>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F87F5-70E3-5222-2E40-980A633CDD37}"/>
              </a:ext>
            </a:extLst>
          </p:cNvPr>
          <p:cNvSpPr/>
          <p:nvPr/>
        </p:nvSpPr>
        <p:spPr>
          <a:xfrm>
            <a:off x="1676400" y="6833793"/>
            <a:ext cx="1600200" cy="26531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030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DE54-1D26-FB3D-3629-2CF660B5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D5BE170-5CE5-E51C-3E4A-D6578325D496}"/>
              </a:ext>
            </a:extLst>
          </p:cNvPr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6D8D07A-B2B6-419E-8BB4-D5BADF48C2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53B25F-EB90-C011-42C1-341F4BB91F4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3616F6D5-35BC-D720-384C-744C76F1D42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sp>
        <p:nvSpPr>
          <p:cNvPr id="34" name="object 34">
            <a:extLst>
              <a:ext uri="{FF2B5EF4-FFF2-40B4-BE49-F238E27FC236}">
                <a16:creationId xmlns:a16="http://schemas.microsoft.com/office/drawing/2014/main" id="{E5A442C2-AFA8-98EC-B7E2-2F3964C3B1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40005"/>
            <a:ext cx="6883044" cy="586826"/>
          </a:xfrm>
          <a:prstGeom prst="rect">
            <a:avLst/>
          </a:prstGeom>
        </p:spPr>
        <p:txBody>
          <a:bodyPr vert="horz" wrap="square" lIns="0" tIns="154431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"/>
              </a:spcBef>
            </a:pPr>
            <a:r>
              <a:rPr lang="en-ID" sz="2800" dirty="0"/>
              <a:t>Fitur Monitoring dan </a:t>
            </a:r>
            <a:r>
              <a:rPr lang="en-ID" sz="2800" dirty="0" err="1"/>
              <a:t>Kontrol</a:t>
            </a:r>
            <a:r>
              <a:rPr lang="en-ID" sz="2800" dirty="0"/>
              <a:t> </a:t>
            </a:r>
            <a:r>
              <a:rPr lang="en-ID" sz="2800" dirty="0" err="1"/>
              <a:t>Aplikasi</a:t>
            </a:r>
            <a:endParaRPr sz="2500"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287E9FE-DD63-9479-FA34-51B137CE9C87}"/>
              </a:ext>
            </a:extLst>
          </p:cNvPr>
          <p:cNvSpPr txBox="1"/>
          <p:nvPr/>
        </p:nvSpPr>
        <p:spPr>
          <a:xfrm>
            <a:off x="17701387" y="570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60C7D-BD39-7756-292C-4D2AA63F81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6369412"/>
            <a:ext cx="2169886" cy="3360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EE80A6-FE81-6D74-3EA6-FC39D422D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80216"/>
            <a:ext cx="5486400" cy="4808397"/>
          </a:xfrm>
          <a:prstGeom prst="rect">
            <a:avLst/>
          </a:prstGeom>
        </p:spPr>
      </p:pic>
      <p:sp>
        <p:nvSpPr>
          <p:cNvPr id="9" name="object 21">
            <a:extLst>
              <a:ext uri="{FF2B5EF4-FFF2-40B4-BE49-F238E27FC236}">
                <a16:creationId xmlns:a16="http://schemas.microsoft.com/office/drawing/2014/main" id="{F2E0FDA5-9B91-DADF-1DCF-904896E92459}"/>
              </a:ext>
            </a:extLst>
          </p:cNvPr>
          <p:cNvSpPr txBox="1"/>
          <p:nvPr/>
        </p:nvSpPr>
        <p:spPr>
          <a:xfrm>
            <a:off x="6096000" y="958445"/>
            <a:ext cx="12014200" cy="4830168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monitoring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seluruh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area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 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Peta Area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status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lane,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operator/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mana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hijau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yang online dan status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koneksi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keseluruhan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Kontaktor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Tiap</a:t>
            </a: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Lane: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lane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(K1, K2,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mewakili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area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kontrol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monitoring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pembagian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aktual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Layout Area: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Penataan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pada dashboard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mengikuti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aktual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tampilan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plant.</a:t>
            </a:r>
          </a:p>
        </p:txBody>
      </p:sp>
      <p:sp>
        <p:nvSpPr>
          <p:cNvPr id="13" name="object 44">
            <a:extLst>
              <a:ext uri="{FF2B5EF4-FFF2-40B4-BE49-F238E27FC236}">
                <a16:creationId xmlns:a16="http://schemas.microsoft.com/office/drawing/2014/main" id="{B2EFA5E6-5486-4477-3E5B-1C4DBCECCC9B}"/>
              </a:ext>
            </a:extLst>
          </p:cNvPr>
          <p:cNvSpPr/>
          <p:nvPr/>
        </p:nvSpPr>
        <p:spPr>
          <a:xfrm>
            <a:off x="5867400" y="1711275"/>
            <a:ext cx="457200" cy="38422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4">
            <a:extLst>
              <a:ext uri="{FF2B5EF4-FFF2-40B4-BE49-F238E27FC236}">
                <a16:creationId xmlns:a16="http://schemas.microsoft.com/office/drawing/2014/main" id="{FD53BA00-BD87-E3F8-D765-06A854B939E4}"/>
              </a:ext>
            </a:extLst>
          </p:cNvPr>
          <p:cNvSpPr/>
          <p:nvPr/>
        </p:nvSpPr>
        <p:spPr>
          <a:xfrm>
            <a:off x="5842000" y="2789838"/>
            <a:ext cx="457200" cy="38422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4">
            <a:extLst>
              <a:ext uri="{FF2B5EF4-FFF2-40B4-BE49-F238E27FC236}">
                <a16:creationId xmlns:a16="http://schemas.microsoft.com/office/drawing/2014/main" id="{29DCD5F9-E3D2-5321-EBF4-C86A9BB6F173}"/>
              </a:ext>
            </a:extLst>
          </p:cNvPr>
          <p:cNvSpPr/>
          <p:nvPr/>
        </p:nvSpPr>
        <p:spPr>
          <a:xfrm>
            <a:off x="5842000" y="3550385"/>
            <a:ext cx="457200" cy="38422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44">
            <a:extLst>
              <a:ext uri="{FF2B5EF4-FFF2-40B4-BE49-F238E27FC236}">
                <a16:creationId xmlns:a16="http://schemas.microsoft.com/office/drawing/2014/main" id="{D93F4DD3-D263-0D9C-BF01-21AD06A9C7F3}"/>
              </a:ext>
            </a:extLst>
          </p:cNvPr>
          <p:cNvSpPr/>
          <p:nvPr/>
        </p:nvSpPr>
        <p:spPr>
          <a:xfrm>
            <a:off x="5842000" y="4643881"/>
            <a:ext cx="457200" cy="38422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3">
            <a:extLst>
              <a:ext uri="{FF2B5EF4-FFF2-40B4-BE49-F238E27FC236}">
                <a16:creationId xmlns:a16="http://schemas.microsoft.com/office/drawing/2014/main" id="{E492992F-B975-3AEC-6D7B-822D832531EA}"/>
              </a:ext>
            </a:extLst>
          </p:cNvPr>
          <p:cNvSpPr txBox="1"/>
          <p:nvPr/>
        </p:nvSpPr>
        <p:spPr>
          <a:xfrm>
            <a:off x="8534400" y="6369412"/>
            <a:ext cx="9575800" cy="33284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35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Blynk IoT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device handphone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menyalakan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mematikan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area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jauh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Operator/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mengontrol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(K1, K2,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sekaligus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lane masing-masing,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sentuhan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Operator juga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indikator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tampil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efisien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A5AB59-7DB9-402A-EBC0-4E33824B42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771" y="6747102"/>
            <a:ext cx="5887358" cy="3073955"/>
          </a:xfrm>
          <a:prstGeom prst="rect">
            <a:avLst/>
          </a:prstGeom>
        </p:spPr>
      </p:pic>
      <p:sp>
        <p:nvSpPr>
          <p:cNvPr id="21" name="object 44">
            <a:extLst>
              <a:ext uri="{FF2B5EF4-FFF2-40B4-BE49-F238E27FC236}">
                <a16:creationId xmlns:a16="http://schemas.microsoft.com/office/drawing/2014/main" id="{5B646F41-249D-C741-CB3D-8D5A0C8B6C20}"/>
              </a:ext>
            </a:extLst>
          </p:cNvPr>
          <p:cNvSpPr/>
          <p:nvPr/>
        </p:nvSpPr>
        <p:spPr>
          <a:xfrm rot="5400000">
            <a:off x="3029199" y="4874636"/>
            <a:ext cx="190001" cy="2013756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F2D5B3-2125-F800-D0F2-8EDBA1EF746F}"/>
              </a:ext>
            </a:extLst>
          </p:cNvPr>
          <p:cNvSpPr txBox="1"/>
          <p:nvPr/>
        </p:nvSpPr>
        <p:spPr>
          <a:xfrm>
            <a:off x="275771" y="5916124"/>
            <a:ext cx="6310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area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Monitoring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A3F566-7E40-6454-7BEC-F31926A2166E}"/>
              </a:ext>
            </a:extLst>
          </p:cNvPr>
          <p:cNvSpPr/>
          <p:nvPr/>
        </p:nvSpPr>
        <p:spPr>
          <a:xfrm>
            <a:off x="177800" y="5976515"/>
            <a:ext cx="6056086" cy="389022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23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"/>
            <a:ext cx="18288000" cy="74736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D" dirty="0"/>
              <a:t>Alur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Sistem</a:t>
            </a:r>
            <a:endParaRPr spc="-10" dirty="0"/>
          </a:p>
        </p:txBody>
      </p:sp>
      <p:grpSp>
        <p:nvGrpSpPr>
          <p:cNvPr id="37" name="object 37"/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7701387" y="570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50" name="object 27">
            <a:extLst>
              <a:ext uri="{FF2B5EF4-FFF2-40B4-BE49-F238E27FC236}">
                <a16:creationId xmlns:a16="http://schemas.microsoft.com/office/drawing/2014/main" id="{F2D013C4-8EDC-BCC9-07E0-103DEA6350E3}"/>
              </a:ext>
            </a:extLst>
          </p:cNvPr>
          <p:cNvSpPr txBox="1"/>
          <p:nvPr/>
        </p:nvSpPr>
        <p:spPr>
          <a:xfrm>
            <a:off x="558601" y="1160270"/>
            <a:ext cx="9052848" cy="41934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2650" dirty="0">
                <a:latin typeface="Times New Roman"/>
                <a:cs typeface="Times New Roman"/>
              </a:rPr>
              <a:t>Flow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Process</a:t>
            </a:r>
            <a:r>
              <a:rPr lang="en-US" sz="2650" dirty="0">
                <a:latin typeface="Times New Roman"/>
                <a:cs typeface="Times New Roman"/>
              </a:rPr>
              <a:t> </a:t>
            </a:r>
            <a:r>
              <a:rPr lang="en-US" sz="2650" dirty="0" err="1">
                <a:latin typeface="Times New Roman"/>
                <a:cs typeface="Times New Roman"/>
              </a:rPr>
              <a:t>Sistem</a:t>
            </a:r>
            <a:r>
              <a:rPr lang="en-US" sz="2650" dirty="0">
                <a:latin typeface="Times New Roman"/>
                <a:cs typeface="Times New Roman"/>
              </a:rPr>
              <a:t> Control </a:t>
            </a:r>
            <a:r>
              <a:rPr lang="en-US" sz="2650" dirty="0" err="1">
                <a:latin typeface="Times New Roman"/>
                <a:cs typeface="Times New Roman"/>
              </a:rPr>
              <a:t>Dengan</a:t>
            </a:r>
            <a:r>
              <a:rPr lang="en-US" sz="2650" dirty="0">
                <a:latin typeface="Times New Roman"/>
                <a:cs typeface="Times New Roman"/>
              </a:rPr>
              <a:t> </a:t>
            </a:r>
            <a:r>
              <a:rPr lang="en-US" sz="2650" dirty="0" err="1">
                <a:latin typeface="Times New Roman"/>
                <a:cs typeface="Times New Roman"/>
              </a:rPr>
              <a:t>Aplikasi</a:t>
            </a:r>
            <a:r>
              <a:rPr lang="en-US" sz="2650" dirty="0">
                <a:latin typeface="Times New Roman"/>
                <a:cs typeface="Times New Roman"/>
              </a:rPr>
              <a:t> </a:t>
            </a:r>
            <a:r>
              <a:rPr lang="en-US" sz="2650" dirty="0" err="1">
                <a:latin typeface="Times New Roman"/>
                <a:cs typeface="Times New Roman"/>
              </a:rPr>
              <a:t>Blynk.iot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endParaRPr sz="2650" dirty="0">
              <a:latin typeface="Times New Roman"/>
              <a:cs typeface="Times New Roman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4BFD4AD-F637-BE96-8FFE-6E4C6F2EF8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76" y="1846465"/>
            <a:ext cx="1691224" cy="1822633"/>
          </a:xfrm>
          <a:prstGeom prst="rect">
            <a:avLst/>
          </a:prstGeom>
        </p:spPr>
      </p:pic>
      <p:sp>
        <p:nvSpPr>
          <p:cNvPr id="53" name="object 44">
            <a:extLst>
              <a:ext uri="{FF2B5EF4-FFF2-40B4-BE49-F238E27FC236}">
                <a16:creationId xmlns:a16="http://schemas.microsoft.com/office/drawing/2014/main" id="{26EE69AC-6275-2D52-74E8-38F73307F891}"/>
              </a:ext>
            </a:extLst>
          </p:cNvPr>
          <p:cNvSpPr/>
          <p:nvPr/>
        </p:nvSpPr>
        <p:spPr>
          <a:xfrm>
            <a:off x="2590800" y="2338910"/>
            <a:ext cx="863875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5CF1592-AB91-3025-1CC0-5ECD0A13B5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490" y="1846465"/>
            <a:ext cx="1605535" cy="1926791"/>
          </a:xfrm>
          <a:prstGeom prst="rect">
            <a:avLst/>
          </a:prstGeom>
        </p:spPr>
      </p:pic>
      <p:sp>
        <p:nvSpPr>
          <p:cNvPr id="56" name="object 44">
            <a:extLst>
              <a:ext uri="{FF2B5EF4-FFF2-40B4-BE49-F238E27FC236}">
                <a16:creationId xmlns:a16="http://schemas.microsoft.com/office/drawing/2014/main" id="{58A235F0-3A94-7536-8915-31D44691599F}"/>
              </a:ext>
            </a:extLst>
          </p:cNvPr>
          <p:cNvSpPr/>
          <p:nvPr/>
        </p:nvSpPr>
        <p:spPr>
          <a:xfrm>
            <a:off x="5085025" y="2338908"/>
            <a:ext cx="888690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DA9C768-EF45-6760-EE88-BF0B044C58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542" y="1547760"/>
            <a:ext cx="2333625" cy="2333625"/>
          </a:xfrm>
          <a:prstGeom prst="rect">
            <a:avLst/>
          </a:prstGeom>
        </p:spPr>
      </p:pic>
      <p:sp>
        <p:nvSpPr>
          <p:cNvPr id="59" name="object 44">
            <a:extLst>
              <a:ext uri="{FF2B5EF4-FFF2-40B4-BE49-F238E27FC236}">
                <a16:creationId xmlns:a16="http://schemas.microsoft.com/office/drawing/2014/main" id="{839ECA57-BA51-1A0F-669D-E4F06F42EF3F}"/>
              </a:ext>
            </a:extLst>
          </p:cNvPr>
          <p:cNvSpPr/>
          <p:nvPr/>
        </p:nvSpPr>
        <p:spPr>
          <a:xfrm>
            <a:off x="7013111" y="2338908"/>
            <a:ext cx="888690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9E9CB24-AE30-76B5-667E-C76643FF52D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801" y="1846465"/>
            <a:ext cx="1521125" cy="184386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911361C-752D-FD89-B1E6-F0443ED00F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713" y="1835777"/>
            <a:ext cx="1521125" cy="1854556"/>
          </a:xfrm>
          <a:prstGeom prst="rect">
            <a:avLst/>
          </a:prstGeom>
        </p:spPr>
      </p:pic>
      <p:sp>
        <p:nvSpPr>
          <p:cNvPr id="64" name="object 44">
            <a:extLst>
              <a:ext uri="{FF2B5EF4-FFF2-40B4-BE49-F238E27FC236}">
                <a16:creationId xmlns:a16="http://schemas.microsoft.com/office/drawing/2014/main" id="{7EEACB29-0B6B-5472-9884-23D1A9026956}"/>
              </a:ext>
            </a:extLst>
          </p:cNvPr>
          <p:cNvSpPr/>
          <p:nvPr/>
        </p:nvSpPr>
        <p:spPr>
          <a:xfrm>
            <a:off x="9390375" y="2338906"/>
            <a:ext cx="888690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A24C9C90-E9CD-DDD8-8245-1DE42B9FE5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36624" y="1846465"/>
            <a:ext cx="1785901" cy="1956664"/>
          </a:xfrm>
          <a:prstGeom prst="rect">
            <a:avLst/>
          </a:prstGeom>
        </p:spPr>
      </p:pic>
      <p:sp>
        <p:nvSpPr>
          <p:cNvPr id="69" name="object 44">
            <a:extLst>
              <a:ext uri="{FF2B5EF4-FFF2-40B4-BE49-F238E27FC236}">
                <a16:creationId xmlns:a16="http://schemas.microsoft.com/office/drawing/2014/main" id="{CB587B61-8890-0ABB-3A16-AA796E6E0B9D}"/>
              </a:ext>
            </a:extLst>
          </p:cNvPr>
          <p:cNvSpPr/>
          <p:nvPr/>
        </p:nvSpPr>
        <p:spPr>
          <a:xfrm>
            <a:off x="14182838" y="2315119"/>
            <a:ext cx="888690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28">
            <a:extLst>
              <a:ext uri="{FF2B5EF4-FFF2-40B4-BE49-F238E27FC236}">
                <a16:creationId xmlns:a16="http://schemas.microsoft.com/office/drawing/2014/main" id="{55C1ABBE-EBCB-1608-F171-611BF7AF9B0B}"/>
              </a:ext>
            </a:extLst>
          </p:cNvPr>
          <p:cNvSpPr txBox="1"/>
          <p:nvPr/>
        </p:nvSpPr>
        <p:spPr>
          <a:xfrm>
            <a:off x="924971" y="3885734"/>
            <a:ext cx="16296229" cy="1160573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409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mengakses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Blynk di HP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dikontrol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dikirim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mikrokontroler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ESP32,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mengaktifkan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panel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listrik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area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terlihat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indikator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monitoring.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C62C344-7528-2F49-76A9-C74E32E9D0C5}"/>
              </a:ext>
            </a:extLst>
          </p:cNvPr>
          <p:cNvSpPr/>
          <p:nvPr/>
        </p:nvSpPr>
        <p:spPr>
          <a:xfrm>
            <a:off x="772256" y="1692094"/>
            <a:ext cx="16616168" cy="354864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EF42B802-9DC7-88AA-02DD-CD4805E903E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12" y="1846465"/>
            <a:ext cx="1521125" cy="1945976"/>
          </a:xfrm>
          <a:prstGeom prst="rect">
            <a:avLst/>
          </a:prstGeom>
        </p:spPr>
      </p:pic>
      <p:sp>
        <p:nvSpPr>
          <p:cNvPr id="74" name="object 44">
            <a:extLst>
              <a:ext uri="{FF2B5EF4-FFF2-40B4-BE49-F238E27FC236}">
                <a16:creationId xmlns:a16="http://schemas.microsoft.com/office/drawing/2014/main" id="{516D5AE5-B34F-5BBD-6926-2C85CC65705C}"/>
              </a:ext>
            </a:extLst>
          </p:cNvPr>
          <p:cNvSpPr/>
          <p:nvPr/>
        </p:nvSpPr>
        <p:spPr>
          <a:xfrm>
            <a:off x="11765286" y="2315119"/>
            <a:ext cx="888690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27">
            <a:extLst>
              <a:ext uri="{FF2B5EF4-FFF2-40B4-BE49-F238E27FC236}">
                <a16:creationId xmlns:a16="http://schemas.microsoft.com/office/drawing/2014/main" id="{28C3C76E-FEFB-9C8B-8456-716E5D5D18EE}"/>
              </a:ext>
            </a:extLst>
          </p:cNvPr>
          <p:cNvSpPr txBox="1"/>
          <p:nvPr/>
        </p:nvSpPr>
        <p:spPr>
          <a:xfrm>
            <a:off x="558601" y="5284252"/>
            <a:ext cx="9052848" cy="41934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265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Manual (</a:t>
            </a:r>
            <a:r>
              <a:rPr lang="en-US" sz="26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Panel)</a:t>
            </a:r>
            <a:r>
              <a:rPr sz="265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BD55E37A-C29B-9D19-3CF9-9BDB81F282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62" y="5821525"/>
            <a:ext cx="1521125" cy="1843868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B8EBC0A4-9A3E-ACA0-393E-5378C6AD8BD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271" y="5781561"/>
            <a:ext cx="1521125" cy="1945976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70A38DE-69A2-DA38-CBD5-F966FF728B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144" y="5821525"/>
            <a:ext cx="2123312" cy="212331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F1853FE1-2C0F-431E-E70D-C0B914C88EE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844" y="5812803"/>
            <a:ext cx="1521125" cy="181390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E9E63D1E-FA3E-E587-89CE-5A4F804AC8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3730" y="5821525"/>
            <a:ext cx="1785901" cy="1956664"/>
          </a:xfrm>
          <a:prstGeom prst="rect">
            <a:avLst/>
          </a:prstGeom>
        </p:spPr>
      </p:pic>
      <p:sp>
        <p:nvSpPr>
          <p:cNvPr id="82" name="object 44">
            <a:extLst>
              <a:ext uri="{FF2B5EF4-FFF2-40B4-BE49-F238E27FC236}">
                <a16:creationId xmlns:a16="http://schemas.microsoft.com/office/drawing/2014/main" id="{3AD2B7E4-1301-6268-4176-F7B1FCACC2F5}"/>
              </a:ext>
            </a:extLst>
          </p:cNvPr>
          <p:cNvSpPr/>
          <p:nvPr/>
        </p:nvSpPr>
        <p:spPr>
          <a:xfrm>
            <a:off x="2438107" y="6318914"/>
            <a:ext cx="824532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44">
            <a:extLst>
              <a:ext uri="{FF2B5EF4-FFF2-40B4-BE49-F238E27FC236}">
                <a16:creationId xmlns:a16="http://schemas.microsoft.com/office/drawing/2014/main" id="{67ACE760-AFEC-FA31-E75D-22ECF51ADE85}"/>
              </a:ext>
            </a:extLst>
          </p:cNvPr>
          <p:cNvSpPr/>
          <p:nvPr/>
        </p:nvSpPr>
        <p:spPr>
          <a:xfrm>
            <a:off x="4744168" y="6318914"/>
            <a:ext cx="863875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44">
            <a:extLst>
              <a:ext uri="{FF2B5EF4-FFF2-40B4-BE49-F238E27FC236}">
                <a16:creationId xmlns:a16="http://schemas.microsoft.com/office/drawing/2014/main" id="{A81BBFF4-86E5-C79C-2DED-F15E48624771}"/>
              </a:ext>
            </a:extLst>
          </p:cNvPr>
          <p:cNvSpPr/>
          <p:nvPr/>
        </p:nvSpPr>
        <p:spPr>
          <a:xfrm>
            <a:off x="7153084" y="6367793"/>
            <a:ext cx="863875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44">
            <a:extLst>
              <a:ext uri="{FF2B5EF4-FFF2-40B4-BE49-F238E27FC236}">
                <a16:creationId xmlns:a16="http://schemas.microsoft.com/office/drawing/2014/main" id="{F655B739-0608-B392-D162-CE342B5C12B2}"/>
              </a:ext>
            </a:extLst>
          </p:cNvPr>
          <p:cNvSpPr/>
          <p:nvPr/>
        </p:nvSpPr>
        <p:spPr>
          <a:xfrm>
            <a:off x="9559855" y="6370243"/>
            <a:ext cx="863875" cy="751331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236474" y="0"/>
                </a:moveTo>
                <a:lnTo>
                  <a:pt x="236474" y="118237"/>
                </a:lnTo>
                <a:lnTo>
                  <a:pt x="0" y="118237"/>
                </a:lnTo>
                <a:lnTo>
                  <a:pt x="0" y="354584"/>
                </a:lnTo>
                <a:lnTo>
                  <a:pt x="236474" y="354584"/>
                </a:lnTo>
                <a:lnTo>
                  <a:pt x="236474" y="472821"/>
                </a:lnTo>
                <a:lnTo>
                  <a:pt x="472948" y="236347"/>
                </a:lnTo>
                <a:lnTo>
                  <a:pt x="236474" y="0"/>
                </a:lnTo>
                <a:close/>
              </a:path>
            </a:pathLst>
          </a:custGeom>
          <a:solidFill>
            <a:srgbClr val="1807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28">
            <a:extLst>
              <a:ext uri="{FF2B5EF4-FFF2-40B4-BE49-F238E27FC236}">
                <a16:creationId xmlns:a16="http://schemas.microsoft.com/office/drawing/2014/main" id="{C9148327-F840-B85C-DDAA-F3B63CFC7429}"/>
              </a:ext>
            </a:extLst>
          </p:cNvPr>
          <p:cNvSpPr txBox="1"/>
          <p:nvPr/>
        </p:nvSpPr>
        <p:spPr>
          <a:xfrm>
            <a:off x="932225" y="7829953"/>
            <a:ext cx="16456199" cy="1529905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409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mematikan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kontrol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area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pabrik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saklar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ditekan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area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menyala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perintah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Status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dipantau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sensor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dilihat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indikator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monitoring.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monitoring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operator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kondisi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real-time,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meskipun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kontrol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di panel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C994E20-3E03-FCE7-3253-2AC285F1FB9A}"/>
              </a:ext>
            </a:extLst>
          </p:cNvPr>
          <p:cNvSpPr/>
          <p:nvPr/>
        </p:nvSpPr>
        <p:spPr>
          <a:xfrm>
            <a:off x="761370" y="5732123"/>
            <a:ext cx="16764630" cy="383097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AE60-1DD9-BFE4-A618-33BDCA3E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EC4F25E-96D6-4A93-1E95-7AD571536E32}"/>
              </a:ext>
            </a:extLst>
          </p:cNvPr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A00D6A5-4E70-CDE7-B3D2-AF494168D5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313A5E3-03CE-7D9E-DDDF-21C477E982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pic>
        <p:nvPicPr>
          <p:cNvPr id="10" name="object 10">
            <a:extLst>
              <a:ext uri="{FF2B5EF4-FFF2-40B4-BE49-F238E27FC236}">
                <a16:creationId xmlns:a16="http://schemas.microsoft.com/office/drawing/2014/main" id="{C1180F0C-CEAD-9ABA-49C4-4F25F5EE941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sp>
        <p:nvSpPr>
          <p:cNvPr id="34" name="object 34">
            <a:extLst>
              <a:ext uri="{FF2B5EF4-FFF2-40B4-BE49-F238E27FC236}">
                <a16:creationId xmlns:a16="http://schemas.microsoft.com/office/drawing/2014/main" id="{9BF0C371-E4DD-5D1F-DFE5-85B7F3395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00" y="40005"/>
            <a:ext cx="6883044" cy="586826"/>
          </a:xfrm>
          <a:prstGeom prst="rect">
            <a:avLst/>
          </a:prstGeom>
        </p:spPr>
        <p:txBody>
          <a:bodyPr vert="horz" wrap="square" lIns="0" tIns="154431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"/>
              </a:spcBef>
            </a:pPr>
            <a:r>
              <a:rPr lang="fi-FI" sz="2800" dirty="0"/>
              <a:t>Diagram Wiring dan Skema Koneksi ESP32</a:t>
            </a:r>
            <a:endParaRPr sz="2500"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E3793C3B-A025-FC7D-4F3E-EBE154365458}"/>
              </a:ext>
            </a:extLst>
          </p:cNvPr>
          <p:cNvSpPr txBox="1"/>
          <p:nvPr/>
        </p:nvSpPr>
        <p:spPr>
          <a:xfrm>
            <a:off x="17701387" y="570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C570AD-6DB7-7A8B-9B39-608B91413F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69" y="1181100"/>
            <a:ext cx="6637867" cy="37338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AC0397-A19A-0AD0-3CF9-88DFF2FDC95B}"/>
              </a:ext>
            </a:extLst>
          </p:cNvPr>
          <p:cNvCxnSpPr/>
          <p:nvPr/>
        </p:nvCxnSpPr>
        <p:spPr>
          <a:xfrm>
            <a:off x="2677064" y="1276350"/>
            <a:ext cx="4470044" cy="0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89DBF3-7643-ECE9-A676-A7119802D68B}"/>
              </a:ext>
            </a:extLst>
          </p:cNvPr>
          <p:cNvCxnSpPr>
            <a:cxnSpLocks/>
          </p:cNvCxnSpPr>
          <p:nvPr/>
        </p:nvCxnSpPr>
        <p:spPr>
          <a:xfrm>
            <a:off x="2677064" y="1265464"/>
            <a:ext cx="0" cy="3565071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680A79-D28A-0DC6-D044-C5D79BC82F9B}"/>
              </a:ext>
            </a:extLst>
          </p:cNvPr>
          <p:cNvCxnSpPr/>
          <p:nvPr/>
        </p:nvCxnSpPr>
        <p:spPr>
          <a:xfrm>
            <a:off x="2677064" y="4781549"/>
            <a:ext cx="4470044" cy="0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98CB50-61C5-D349-D182-CF61D2A3350A}"/>
              </a:ext>
            </a:extLst>
          </p:cNvPr>
          <p:cNvCxnSpPr>
            <a:cxnSpLocks/>
          </p:cNvCxnSpPr>
          <p:nvPr/>
        </p:nvCxnSpPr>
        <p:spPr>
          <a:xfrm>
            <a:off x="7060844" y="1349829"/>
            <a:ext cx="0" cy="3565071"/>
          </a:xfrm>
          <a:prstGeom prst="line">
            <a:avLst/>
          </a:prstGeom>
          <a:ln w="5715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FFCC109-D377-09CE-0204-94E7FFA04F57}"/>
              </a:ext>
            </a:extLst>
          </p:cNvPr>
          <p:cNvSpPr/>
          <p:nvPr/>
        </p:nvSpPr>
        <p:spPr>
          <a:xfrm>
            <a:off x="8000689" y="1181100"/>
            <a:ext cx="9362015" cy="80009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FD55539-4E6B-0E18-15ED-7C2F9C9757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099" y="1512124"/>
            <a:ext cx="8839195" cy="4152447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7B15AE3-E2B2-C9BE-D8E0-1C18835B048D}"/>
              </a:ext>
            </a:extLst>
          </p:cNvPr>
          <p:cNvCxnSpPr>
            <a:cxnSpLocks/>
          </p:cNvCxnSpPr>
          <p:nvPr/>
        </p:nvCxnSpPr>
        <p:spPr>
          <a:xfrm>
            <a:off x="7060844" y="2171700"/>
            <a:ext cx="1201256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8">
            <a:extLst>
              <a:ext uri="{FF2B5EF4-FFF2-40B4-BE49-F238E27FC236}">
                <a16:creationId xmlns:a16="http://schemas.microsoft.com/office/drawing/2014/main" id="{A08874DE-60D0-887F-BFE7-393EA4E8101E}"/>
              </a:ext>
            </a:extLst>
          </p:cNvPr>
          <p:cNvSpPr txBox="1"/>
          <p:nvPr/>
        </p:nvSpPr>
        <p:spPr>
          <a:xfrm>
            <a:off x="8262099" y="5881424"/>
            <a:ext cx="8839195" cy="3007232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409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 wiring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kabel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Lighting Control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terpasang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panel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lampu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kontaktor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 relay NC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dihubungkan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pushbutton NC (STOP), Out relay NO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dihubungkan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pushbutton NO (START). Out NC relay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NO pada com pushbutton NO. Sensor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dipasang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Com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Lamp pilot NO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membaca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terdeteksi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mengirim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ESP32.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8D2E2432-6070-95E9-C613-83FC8E58CF4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75" y="5810249"/>
            <a:ext cx="6637866" cy="3707892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6F2056-0AC3-8BC6-C05B-F805CFFCB96D}"/>
              </a:ext>
            </a:extLst>
          </p:cNvPr>
          <p:cNvSpPr txBox="1"/>
          <p:nvPr/>
        </p:nvSpPr>
        <p:spPr>
          <a:xfrm>
            <a:off x="387465" y="5192455"/>
            <a:ext cx="7143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Wiring ESP32 pada </a:t>
            </a:r>
            <a:r>
              <a:rPr lang="en-ID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Lighting Control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48">
            <a:extLst>
              <a:ext uri="{FF2B5EF4-FFF2-40B4-BE49-F238E27FC236}">
                <a16:creationId xmlns:a16="http://schemas.microsoft.com/office/drawing/2014/main" id="{3B4838D5-5AD5-A6B6-38D3-831195F8BD51}"/>
              </a:ext>
            </a:extLst>
          </p:cNvPr>
          <p:cNvSpPr txBox="1"/>
          <p:nvPr/>
        </p:nvSpPr>
        <p:spPr>
          <a:xfrm>
            <a:off x="17759108" y="951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3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5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Kesimpulan</a:t>
            </a:r>
            <a:endParaRPr spc="-10" dirty="0"/>
          </a:p>
        </p:txBody>
      </p:sp>
      <p:sp>
        <p:nvSpPr>
          <p:cNvPr id="27" name="object 27"/>
          <p:cNvSpPr txBox="1"/>
          <p:nvPr/>
        </p:nvSpPr>
        <p:spPr>
          <a:xfrm>
            <a:off x="17701387" y="57099"/>
            <a:ext cx="216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EDA89733-6A71-E541-D604-92BDF1054F7E}"/>
              </a:ext>
            </a:extLst>
          </p:cNvPr>
          <p:cNvSpPr txBox="1"/>
          <p:nvPr/>
        </p:nvSpPr>
        <p:spPr>
          <a:xfrm>
            <a:off x="316864" y="5641517"/>
            <a:ext cx="17601057" cy="2491067"/>
          </a:xfrm>
          <a:prstGeom prst="rect">
            <a:avLst/>
          </a:prstGeom>
          <a:solidFill>
            <a:srgbClr val="F8F88F"/>
          </a:solidFill>
          <a:ln w="38100">
            <a:solidFill>
              <a:srgbClr val="FF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225"/>
              </a:spcBef>
            </a:pPr>
            <a:r>
              <a:rPr lang="en-ID" sz="3200" dirty="0"/>
              <a:t>Dari </a:t>
            </a:r>
            <a:r>
              <a:rPr lang="en-ID" sz="3200" dirty="0" err="1"/>
              <a:t>tabel</a:t>
            </a:r>
            <a:r>
              <a:rPr lang="en-ID" sz="3200" dirty="0"/>
              <a:t> </a:t>
            </a:r>
            <a:r>
              <a:rPr lang="en-ID" sz="3200" dirty="0" err="1"/>
              <a:t>diatas</a:t>
            </a:r>
            <a:r>
              <a:rPr lang="en-ID" sz="3200" dirty="0"/>
              <a:t> </a:t>
            </a:r>
            <a:r>
              <a:rPr lang="en-ID" sz="3200" dirty="0" err="1"/>
              <a:t>terlihat</a:t>
            </a:r>
            <a:r>
              <a:rPr lang="en-ID" sz="3200" dirty="0"/>
              <a:t> </a:t>
            </a:r>
            <a:r>
              <a:rPr lang="en-ID" sz="3200" dirty="0" err="1"/>
              <a:t>peningkatan</a:t>
            </a:r>
            <a:r>
              <a:rPr lang="en-ID" sz="3200" dirty="0"/>
              <a:t> </a:t>
            </a:r>
            <a:r>
              <a:rPr lang="en-ID" sz="3200" dirty="0" err="1"/>
              <a:t>drastis</a:t>
            </a:r>
            <a:r>
              <a:rPr lang="en-ID" sz="3200" dirty="0"/>
              <a:t> di </a:t>
            </a:r>
            <a:r>
              <a:rPr lang="en-ID" sz="3200" dirty="0" err="1"/>
              <a:t>semua</a:t>
            </a:r>
            <a:r>
              <a:rPr lang="en-ID" sz="3200" dirty="0"/>
              <a:t> </a:t>
            </a:r>
            <a:r>
              <a:rPr lang="en-ID" sz="3200" dirty="0" err="1"/>
              <a:t>aspek</a:t>
            </a:r>
            <a:r>
              <a:rPr lang="en-ID" sz="3200" dirty="0"/>
              <a:t> </a:t>
            </a:r>
            <a:r>
              <a:rPr lang="en-ID" sz="3200" dirty="0" err="1"/>
              <a:t>operasional</a:t>
            </a:r>
            <a:r>
              <a:rPr lang="en-ID" sz="3200" dirty="0"/>
              <a:t>. Waktu </a:t>
            </a:r>
            <a:r>
              <a:rPr lang="en-ID" sz="3200" dirty="0" err="1"/>
              <a:t>kontrol</a:t>
            </a:r>
            <a:r>
              <a:rPr lang="en-ID" sz="3200" dirty="0"/>
              <a:t> </a:t>
            </a:r>
            <a:r>
              <a:rPr lang="en-ID" sz="3200" dirty="0" err="1"/>
              <a:t>berkurang</a:t>
            </a:r>
            <a:r>
              <a:rPr lang="en-ID" sz="3200" dirty="0"/>
              <a:t> 80-90%, </a:t>
            </a:r>
            <a:r>
              <a:rPr lang="en-ID" sz="3200" dirty="0" err="1"/>
              <a:t>jarak</a:t>
            </a:r>
            <a:r>
              <a:rPr lang="en-ID" sz="3200" dirty="0"/>
              <a:t> </a:t>
            </a:r>
            <a:r>
              <a:rPr lang="en-ID" sz="3200" dirty="0" err="1"/>
              <a:t>tempuh</a:t>
            </a:r>
            <a:r>
              <a:rPr lang="en-ID" sz="3200" dirty="0"/>
              <a:t> </a:t>
            </a:r>
            <a:r>
              <a:rPr lang="en-ID" sz="3200" dirty="0" err="1"/>
              <a:t>tereliminasi</a:t>
            </a:r>
            <a:r>
              <a:rPr lang="en-ID" sz="3200" dirty="0"/>
              <a:t> 100%, dan monitoring yang </a:t>
            </a:r>
            <a:r>
              <a:rPr lang="en-ID" sz="3200" dirty="0" err="1"/>
              <a:t>tadinya</a:t>
            </a:r>
            <a:r>
              <a:rPr lang="en-ID" sz="3200" dirty="0"/>
              <a:t> </a:t>
            </a:r>
            <a:r>
              <a:rPr lang="en-ID" sz="3200" dirty="0" err="1"/>
              <a:t>tidak</a:t>
            </a:r>
            <a:r>
              <a:rPr lang="en-ID" sz="3200" dirty="0"/>
              <a:t> </a:t>
            </a:r>
            <a:r>
              <a:rPr lang="en-ID" sz="3200" dirty="0" err="1"/>
              <a:t>ada</a:t>
            </a:r>
            <a:r>
              <a:rPr lang="en-ID" sz="3200" dirty="0"/>
              <a:t> </a:t>
            </a:r>
            <a:r>
              <a:rPr lang="en-ID" sz="3200" dirty="0" err="1"/>
              <a:t>sekarang</a:t>
            </a:r>
            <a:r>
              <a:rPr lang="en-ID" sz="3200" dirty="0"/>
              <a:t> </a:t>
            </a:r>
            <a:r>
              <a:rPr lang="en-ID" sz="3200" dirty="0" err="1"/>
              <a:t>bisa</a:t>
            </a:r>
            <a:r>
              <a:rPr lang="en-ID" sz="3200" dirty="0"/>
              <a:t> </a:t>
            </a:r>
            <a:r>
              <a:rPr lang="en-ID" sz="3200" dirty="0" err="1"/>
              <a:t>dilakukan</a:t>
            </a:r>
            <a:r>
              <a:rPr lang="en-ID" sz="3200" dirty="0"/>
              <a:t> real-time. Bisa </a:t>
            </a:r>
            <a:r>
              <a:rPr lang="en-ID" sz="3200" dirty="0" err="1"/>
              <a:t>mengontrol</a:t>
            </a:r>
            <a:r>
              <a:rPr lang="en-ID" sz="3200" dirty="0"/>
              <a:t> 10 area </a:t>
            </a:r>
            <a:r>
              <a:rPr lang="en-ID" sz="3200" dirty="0" err="1"/>
              <a:t>sekaligus</a:t>
            </a:r>
            <a:r>
              <a:rPr lang="en-ID" sz="3200" dirty="0"/>
              <a:t> dan </a:t>
            </a:r>
            <a:r>
              <a:rPr lang="en-ID" sz="3200" dirty="0" err="1"/>
              <a:t>penghematan</a:t>
            </a:r>
            <a:r>
              <a:rPr lang="en-ID" sz="3200" dirty="0"/>
              <a:t> </a:t>
            </a:r>
            <a:r>
              <a:rPr lang="en-ID" sz="3200" dirty="0" err="1"/>
              <a:t>waktu</a:t>
            </a:r>
            <a:r>
              <a:rPr lang="en-ID" sz="3200" dirty="0"/>
              <a:t> 10-20 </a:t>
            </a:r>
            <a:r>
              <a:rPr lang="en-ID" sz="3200" dirty="0" err="1"/>
              <a:t>menit</a:t>
            </a:r>
            <a:r>
              <a:rPr lang="en-ID" sz="3200" dirty="0"/>
              <a:t> per </a:t>
            </a:r>
            <a:r>
              <a:rPr lang="en-ID" sz="3200" dirty="0" err="1"/>
              <a:t>hari</a:t>
            </a:r>
            <a:r>
              <a:rPr lang="en-ID" sz="3200" dirty="0"/>
              <a:t>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setiap</a:t>
            </a:r>
            <a:r>
              <a:rPr lang="en-ID" sz="3200" dirty="0"/>
              <a:t> operator/</a:t>
            </a:r>
            <a:r>
              <a:rPr lang="en-ID" sz="3200" dirty="0" err="1"/>
              <a:t>teknisi</a:t>
            </a:r>
            <a:r>
              <a:rPr lang="en-ID" sz="3200" dirty="0"/>
              <a:t>. </a:t>
            </a:r>
            <a:r>
              <a:rPr lang="en-ID" sz="3200" dirty="0" err="1"/>
              <a:t>Dengan</a:t>
            </a:r>
            <a:r>
              <a:rPr lang="en-ID" sz="3200" dirty="0"/>
              <a:t> 80% area </a:t>
            </a:r>
            <a:r>
              <a:rPr lang="en-ID" sz="3200" dirty="0" err="1"/>
              <a:t>sudah</a:t>
            </a:r>
            <a:r>
              <a:rPr lang="en-ID" sz="3200" dirty="0"/>
              <a:t> </a:t>
            </a:r>
            <a:r>
              <a:rPr lang="en-ID" sz="3200" dirty="0" err="1"/>
              <a:t>terpasang</a:t>
            </a:r>
            <a:r>
              <a:rPr lang="en-ID" sz="3200" dirty="0"/>
              <a:t>, </a:t>
            </a:r>
            <a:r>
              <a:rPr lang="en-ID" sz="3200" dirty="0" err="1"/>
              <a:t>sistem</a:t>
            </a:r>
            <a:r>
              <a:rPr lang="en-ID" sz="3200" dirty="0"/>
              <a:t> </a:t>
            </a:r>
            <a:r>
              <a:rPr lang="en-ID" sz="3200" dirty="0" err="1"/>
              <a:t>ini</a:t>
            </a:r>
            <a:r>
              <a:rPr lang="en-ID" sz="3200" dirty="0"/>
              <a:t> </a:t>
            </a:r>
            <a:r>
              <a:rPr lang="en-ID" sz="3200" dirty="0" err="1"/>
              <a:t>terbukti</a:t>
            </a:r>
            <a:r>
              <a:rPr lang="en-ID" sz="3200" dirty="0"/>
              <a:t> </a:t>
            </a:r>
            <a:r>
              <a:rPr lang="en-ID" sz="3200" dirty="0" err="1"/>
              <a:t>memberikan</a:t>
            </a:r>
            <a:r>
              <a:rPr lang="en-ID" sz="3200" dirty="0"/>
              <a:t> </a:t>
            </a:r>
            <a:r>
              <a:rPr lang="en-ID" sz="3200" dirty="0" err="1"/>
              <a:t>efisiensi</a:t>
            </a:r>
            <a:r>
              <a:rPr lang="en-ID" sz="3200" dirty="0"/>
              <a:t> </a:t>
            </a:r>
            <a:r>
              <a:rPr lang="en-ID" sz="3200" dirty="0" err="1"/>
              <a:t>operasional</a:t>
            </a:r>
            <a:r>
              <a:rPr lang="en-ID" sz="3200" dirty="0"/>
              <a:t> yang </a:t>
            </a:r>
            <a:r>
              <a:rPr lang="en-ID" sz="3200" dirty="0" err="1"/>
              <a:t>signifikan</a:t>
            </a:r>
            <a:r>
              <a:rPr lang="en-ID" sz="3200" dirty="0"/>
              <a:t>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F54E70-96DB-DEE5-F218-DF8DE776C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16812"/>
            <a:ext cx="17613122" cy="43552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B9B29-173C-9A0E-EF6B-8D5F644F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A7C2FD02-CCEC-A206-7390-9696FF6E915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5"/>
            <a:ext cx="18249900" cy="747369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E50835E6-66DD-3B4C-1B16-4219AEE64237}"/>
              </a:ext>
            </a:extLst>
          </p:cNvPr>
          <p:cNvGrpSpPr/>
          <p:nvPr/>
        </p:nvGrpSpPr>
        <p:grpSpPr>
          <a:xfrm>
            <a:off x="0" y="9919706"/>
            <a:ext cx="18288000" cy="367665"/>
            <a:chOff x="0" y="9919706"/>
            <a:chExt cx="18288000" cy="36766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07D1A5D-B87E-D3D9-53B5-01593CF7773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9919712"/>
              <a:ext cx="18287999" cy="367284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A652ADB3-7CEE-8B6B-ECDF-6743312F007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9919706"/>
              <a:ext cx="1820925" cy="314323"/>
            </a:xfrm>
            <a:prstGeom prst="rect">
              <a:avLst/>
            </a:prstGeom>
          </p:spPr>
        </p:pic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2C5168E7-A4FC-F5CC-2C21-DAE2328B9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D" dirty="0" err="1"/>
              <a:t>Demonstrasi</a:t>
            </a:r>
            <a:r>
              <a:rPr lang="en-ID" dirty="0"/>
              <a:t> </a:t>
            </a:r>
            <a:r>
              <a:rPr lang="en-ID" dirty="0" err="1"/>
              <a:t>Pengoperasian</a:t>
            </a:r>
            <a:r>
              <a:rPr lang="en-ID" dirty="0"/>
              <a:t> </a:t>
            </a:r>
            <a:r>
              <a:rPr lang="en-ID"/>
              <a:t>Sistem</a:t>
            </a:r>
            <a:endParaRPr spc="-10"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2DE7367-1E53-CDA2-D1A3-1D3756944A3F}"/>
              </a:ext>
            </a:extLst>
          </p:cNvPr>
          <p:cNvSpPr txBox="1"/>
          <p:nvPr/>
        </p:nvSpPr>
        <p:spPr>
          <a:xfrm>
            <a:off x="17449801" y="57099"/>
            <a:ext cx="468122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30" name="WhatsApp Video 2025-10-21 at 14.43.06">
            <a:hlinkClick r:id="" action="ppaction://media"/>
            <a:extLst>
              <a:ext uri="{FF2B5EF4-FFF2-40B4-BE49-F238E27FC236}">
                <a16:creationId xmlns:a16="http://schemas.microsoft.com/office/drawing/2014/main" id="{3C02E157-AF90-443D-D21E-812FEC4E86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1000" y="1104900"/>
            <a:ext cx="17536922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2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774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8726" y="4741926"/>
            <a:ext cx="3949700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38095" algn="l"/>
              </a:tabLst>
            </a:pPr>
            <a:r>
              <a:rPr sz="4300" b="1" spc="515" dirty="0">
                <a:solidFill>
                  <a:srgbClr val="000000"/>
                </a:solidFill>
                <a:latin typeface="Tahoma"/>
                <a:cs typeface="Tahoma"/>
              </a:rPr>
              <a:t>THANK</a:t>
            </a:r>
            <a:r>
              <a:rPr sz="4300" b="1" dirty="0">
                <a:solidFill>
                  <a:srgbClr val="000000"/>
                </a:solidFill>
                <a:latin typeface="Tahoma"/>
                <a:cs typeface="Tahoma"/>
              </a:rPr>
              <a:t>	</a:t>
            </a:r>
            <a:r>
              <a:rPr sz="4300" b="1" spc="500" dirty="0">
                <a:solidFill>
                  <a:srgbClr val="000000"/>
                </a:solidFill>
                <a:latin typeface="Tahoma"/>
                <a:cs typeface="Tahoma"/>
              </a:rPr>
              <a:t>YOU</a:t>
            </a:r>
            <a:endParaRPr sz="4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01387" y="57099"/>
            <a:ext cx="3803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1313</TotalTime>
  <Words>916</Words>
  <Application>Microsoft Office PowerPoint</Application>
  <PresentationFormat>Custom</PresentationFormat>
  <Paragraphs>61</Paragraphs>
  <Slides>11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Lucida Sans Unicode</vt:lpstr>
      <vt:lpstr>Tahoma</vt:lpstr>
      <vt:lpstr>Times New Roman</vt:lpstr>
      <vt:lpstr>Trebuchet MS</vt:lpstr>
      <vt:lpstr>Office Theme</vt:lpstr>
      <vt:lpstr>Binary Worksheet</vt:lpstr>
      <vt:lpstr>Worksheet</vt:lpstr>
      <vt:lpstr>Implementasi Smart Lighting Control System pada Foundry Plant Berbasis Internet of Things (IoT)</vt:lpstr>
      <vt:lpstr>Identifikasi Masalah </vt:lpstr>
      <vt:lpstr>Analisis Masalah</vt:lpstr>
      <vt:lpstr>Cakupan Area dan Status Implementasi</vt:lpstr>
      <vt:lpstr>Komponen Sistem dan Visualisasi Perangkat</vt:lpstr>
      <vt:lpstr>Fitur Monitoring dan Kontrol Aplikasi</vt:lpstr>
      <vt:lpstr>Alur Kerja Sistem</vt:lpstr>
      <vt:lpstr>Diagram Wiring dan Skema Koneksi ESP32</vt:lpstr>
      <vt:lpstr>Kesimpulan</vt:lpstr>
      <vt:lpstr>Demonstrasi Pengoperasian Sistem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</dc:title>
  <dc:creator>Genta Prastanadira</dc:creator>
  <cp:lastModifiedBy>Muhammad Musyaffa</cp:lastModifiedBy>
  <cp:revision>10</cp:revision>
  <dcterms:created xsi:type="dcterms:W3CDTF">2025-10-19T21:54:08Z</dcterms:created>
  <dcterms:modified xsi:type="dcterms:W3CDTF">2025-10-22T05:03:40Z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2024</vt:lpwstr>
  </property>
</Properties>
</file>