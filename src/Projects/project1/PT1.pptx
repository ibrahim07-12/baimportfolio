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8" r:id="rId2"/>
    <p:sldId id="257" r:id="rId3"/>
    <p:sldId id="278" r:id="rId4"/>
    <p:sldId id="279" r:id="rId5"/>
    <p:sldId id="280" r:id="rId6"/>
    <p:sldId id="28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333" autoAdjust="0"/>
  </p:normalViewPr>
  <p:slideViewPr>
    <p:cSldViewPr snapToGrid="0">
      <p:cViewPr>
        <p:scale>
          <a:sx n="60" d="100"/>
          <a:sy n="60" d="100"/>
        </p:scale>
        <p:origin x="908" y="-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EE0BB-5FC5-4C44-A8A6-1567FF17628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F4BDCF-D2F4-4E5F-8CD7-DA62EF4F5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620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06452" y="2417481"/>
            <a:ext cx="8479929" cy="1869640"/>
          </a:xfrm>
        </p:spPr>
        <p:txBody>
          <a:bodyPr anchor="t" anchorCtr="0">
            <a:normAutofit/>
          </a:bodyPr>
          <a:lstStyle>
            <a:lvl1pPr algn="l">
              <a:defRPr sz="32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6452" y="4287123"/>
            <a:ext cx="8479931" cy="796863"/>
          </a:xfrm>
        </p:spPr>
        <p:txBody>
          <a:bodyPr l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24766A-65AA-400C-8EF5-033BEAC2EF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06452" y="5084234"/>
            <a:ext cx="6775485" cy="795867"/>
          </a:xfrm>
        </p:spPr>
        <p:txBody>
          <a:bodyPr lIns="36000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F9A08F-F851-409A-81EC-991EA271E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3694" y="316764"/>
            <a:ext cx="2695953" cy="103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04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26001"/>
            <a:ext cx="11667744" cy="39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032" y="612001"/>
            <a:ext cx="11667744" cy="5804675"/>
          </a:xfrm>
        </p:spPr>
        <p:txBody>
          <a:bodyPr/>
          <a:lstStyle>
            <a:lvl1pPr marL="180000" indent="-180000" defTabSz="90000">
              <a:buFont typeface="Arial" panose="020B0604020202020204" pitchFamily="34" charset="0"/>
              <a:buChar char="●"/>
              <a:defRPr>
                <a:solidFill>
                  <a:schemeClr val="tx1"/>
                </a:solidFill>
              </a:defRPr>
            </a:lvl1pPr>
            <a:lvl2pPr marL="360000" indent="-180000" defTabSz="90000">
              <a:buFont typeface="Calibri" panose="020F0502020204030204" pitchFamily="34" charset="0"/>
              <a:buChar char="○"/>
              <a:defRPr>
                <a:solidFill>
                  <a:schemeClr val="tx1"/>
                </a:solidFill>
              </a:defRPr>
            </a:lvl2pPr>
            <a:lvl3pPr marL="504000" indent="-144000" defTabSz="9000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684000" indent="-144000" defTabSz="90000">
              <a:buFont typeface="Arial" panose="020B0604020202020204" pitchFamily="34" charset="0"/>
              <a:buChar char="›"/>
              <a:defRPr>
                <a:solidFill>
                  <a:schemeClr val="tx1"/>
                </a:solidFill>
              </a:defRPr>
            </a:lvl4pPr>
            <a:lvl5pPr marL="792000" indent="-108000" defTabSz="90000"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963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number li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26001"/>
            <a:ext cx="11667744" cy="39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032" y="611999"/>
            <a:ext cx="11667744" cy="5804676"/>
          </a:xfrm>
        </p:spPr>
        <p:txBody>
          <a:bodyPr/>
          <a:lstStyle>
            <a:lvl1pPr marL="180000" indent="-180000" defTabSz="90000"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360000" indent="-180000" defTabSz="90000">
              <a:buFont typeface="+mj-lt"/>
              <a:buAutoNum type="arabicPeriod"/>
              <a:defRPr>
                <a:solidFill>
                  <a:schemeClr val="tx1"/>
                </a:solidFill>
              </a:defRPr>
            </a:lvl2pPr>
            <a:lvl3pPr marL="504000" indent="-144000" defTabSz="90000">
              <a:buFont typeface="+mj-lt"/>
              <a:buAutoNum type="arabicPeriod"/>
              <a:defRPr>
                <a:solidFill>
                  <a:schemeClr val="tx1"/>
                </a:solidFill>
              </a:defRPr>
            </a:lvl3pPr>
            <a:lvl4pPr marL="684000" indent="-144000" defTabSz="90000">
              <a:buFont typeface="+mj-lt"/>
              <a:buAutoNum type="arabicPeriod"/>
              <a:defRPr>
                <a:solidFill>
                  <a:schemeClr val="tx1"/>
                </a:solidFill>
              </a:defRPr>
            </a:lvl4pPr>
            <a:lvl5pPr marL="792000" indent="-108000" defTabSz="90000">
              <a:buFont typeface="+mj-lt"/>
              <a:buAutoNum type="arabicPeriod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356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CBAC0A-55B6-4BBD-9C8A-0312FD200B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7680" y="1002084"/>
            <a:ext cx="11216640" cy="2426917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2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9D6834-D149-40C7-98C4-9694CB8C3A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7680" y="3718145"/>
            <a:ext cx="11338560" cy="2060356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40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1F54CF-8A67-48CE-83B8-57E84A3612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542926"/>
            <a:ext cx="12192000" cy="5873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47AFF7-DB9F-4565-8DA3-2FC02AFC07A3}"/>
              </a:ext>
            </a:extLst>
          </p:cNvPr>
          <p:cNvSpPr/>
          <p:nvPr/>
        </p:nvSpPr>
        <p:spPr>
          <a:xfrm>
            <a:off x="487680" y="1620035"/>
            <a:ext cx="11338560" cy="3490585"/>
          </a:xfrm>
          <a:prstGeom prst="ellipse">
            <a:avLst/>
          </a:prstGeom>
          <a:gradFill flip="none" rotWithShape="1">
            <a:gsLst>
              <a:gs pos="25000">
                <a:schemeClr val="bg1"/>
              </a:gs>
              <a:gs pos="7500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2BC936-8B3D-4D5C-91BF-60560E3FA9EC}"/>
              </a:ext>
            </a:extLst>
          </p:cNvPr>
          <p:cNvSpPr/>
          <p:nvPr/>
        </p:nvSpPr>
        <p:spPr>
          <a:xfrm>
            <a:off x="487680" y="1620035"/>
            <a:ext cx="11338560" cy="3490585"/>
          </a:xfrm>
          <a:prstGeom prst="ellipse">
            <a:avLst/>
          </a:prstGeom>
          <a:gradFill flip="none" rotWithShape="1">
            <a:gsLst>
              <a:gs pos="25000">
                <a:schemeClr val="bg1"/>
              </a:gs>
              <a:gs pos="7500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CBAC0A-55B6-4BBD-9C8A-0312FD200B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7680" y="1002084"/>
            <a:ext cx="11216640" cy="2426917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2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9D6834-D149-40C7-98C4-9694CB8C3A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7680" y="3718145"/>
            <a:ext cx="11338560" cy="2060356"/>
          </a:xfrm>
        </p:spPr>
        <p:txBody>
          <a:bodyPr>
            <a:normAutofit/>
          </a:bodyPr>
          <a:lstStyle>
            <a:lvl1pPr marL="0" indent="0" algn="ctr">
              <a:buNone/>
              <a:defRPr sz="18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3928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5958" y="611999"/>
            <a:ext cx="5256948" cy="5804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93135" y="611999"/>
            <a:ext cx="6226149" cy="5804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047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- number li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5958" y="612001"/>
            <a:ext cx="5256948" cy="5804675"/>
          </a:xfrm>
        </p:spPr>
        <p:txBody>
          <a:bodyPr/>
          <a:lstStyle>
            <a:lvl1pPr marL="180000" indent="-180000">
              <a:buFont typeface="+mj-lt"/>
              <a:buAutoNum type="arabicPeriod"/>
              <a:defRPr/>
            </a:lvl1pPr>
            <a:lvl2pPr marL="360000" indent="-180000">
              <a:buFont typeface="+mj-lt"/>
              <a:buAutoNum type="arabicPeriod"/>
              <a:defRPr/>
            </a:lvl2pPr>
            <a:lvl3pPr marL="504000" indent="-144000">
              <a:buFont typeface="+mj-lt"/>
              <a:buAutoNum type="arabicPeriod"/>
              <a:defRPr/>
            </a:lvl3pPr>
            <a:lvl4pPr marL="684000" indent="-144000">
              <a:buFont typeface="+mj-lt"/>
              <a:buAutoNum type="arabicPeriod"/>
              <a:defRPr/>
            </a:lvl4pPr>
            <a:lvl5pPr marL="792000" indent="-1080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93135" y="612001"/>
            <a:ext cx="6226149" cy="5804675"/>
          </a:xfrm>
        </p:spPr>
        <p:txBody>
          <a:bodyPr/>
          <a:lstStyle>
            <a:lvl1pPr marL="180000" indent="-180000">
              <a:buFont typeface="+mj-lt"/>
              <a:buAutoNum type="arabicPeriod"/>
              <a:defRPr/>
            </a:lvl1pPr>
            <a:lvl2pPr marL="360000" indent="-180000">
              <a:buFont typeface="+mj-lt"/>
              <a:buAutoNum type="arabicPeriod"/>
              <a:defRPr/>
            </a:lvl2pPr>
            <a:lvl3pPr marL="504000" indent="-144000">
              <a:buFont typeface="+mj-lt"/>
              <a:buAutoNum type="arabicPeriod"/>
              <a:defRPr/>
            </a:lvl3pPr>
            <a:lvl4pPr marL="684000" indent="-144000">
              <a:buFont typeface="+mj-lt"/>
              <a:buAutoNum type="arabicPeriod"/>
              <a:defRPr/>
            </a:lvl4pPr>
            <a:lvl5pPr marL="792000" indent="-1080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099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5958" y="620713"/>
            <a:ext cx="5256948" cy="57959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2EAE3B0-59F3-470A-BF59-64535518C7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83251" y="620713"/>
            <a:ext cx="6508749" cy="57959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330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8AD1B8-CB73-411B-976B-DD79AAFE1599}"/>
              </a:ext>
            </a:extLst>
          </p:cNvPr>
          <p:cNvSpPr/>
          <p:nvPr/>
        </p:nvSpPr>
        <p:spPr>
          <a:xfrm>
            <a:off x="1" y="-1"/>
            <a:ext cx="12192000" cy="937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338F0F-F1E2-452D-B5E1-6CBC1D5B1D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640080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09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19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969252-BDAE-4630-A1E8-28EA88D515E5}"/>
              </a:ext>
            </a:extLst>
          </p:cNvPr>
          <p:cNvCxnSpPr>
            <a:cxnSpLocks/>
          </p:cNvCxnSpPr>
          <p:nvPr/>
        </p:nvCxnSpPr>
        <p:spPr bwMode="black">
          <a:xfrm>
            <a:off x="0" y="511771"/>
            <a:ext cx="12192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00BFE82-E70E-4C1C-B239-7825DC4EB633}"/>
              </a:ext>
            </a:extLst>
          </p:cNvPr>
          <p:cNvSpPr/>
          <p:nvPr userDrawn="1"/>
        </p:nvSpPr>
        <p:spPr bwMode="white">
          <a:xfrm>
            <a:off x="0" y="0"/>
            <a:ext cx="12192000" cy="54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55956" y="126000"/>
            <a:ext cx="11663328" cy="396000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956" y="612001"/>
            <a:ext cx="11663328" cy="5804675"/>
          </a:xfrm>
          <a:prstGeom prst="rect">
            <a:avLst/>
          </a:prstGeom>
        </p:spPr>
        <p:txBody>
          <a:bodyPr vert="horz" lIns="45720" tIns="73152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2FB9A-9000-4AD5-822F-38482757BEA7}"/>
              </a:ext>
            </a:extLst>
          </p:cNvPr>
          <p:cNvSpPr txBox="1"/>
          <p:nvPr/>
        </p:nvSpPr>
        <p:spPr>
          <a:xfrm>
            <a:off x="11190516" y="6566684"/>
            <a:ext cx="72876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8EB92688-8440-4905-ACA0-EACBFA8A49E6}" type="slidenum">
              <a:rPr lang="en-US" sz="1000" smtClean="0">
                <a:solidFill>
                  <a:schemeClr val="tx2"/>
                </a:solidFill>
                <a:latin typeface="+mn-lt"/>
              </a:rPr>
              <a:t>‹#›</a:t>
            </a:fld>
            <a:endParaRPr lang="en-US" sz="1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3C0B7C-648B-4F1E-B40B-5AE0E9FBF7CE}"/>
              </a:ext>
            </a:extLst>
          </p:cNvPr>
          <p:cNvSpPr txBox="1"/>
          <p:nvPr/>
        </p:nvSpPr>
        <p:spPr>
          <a:xfrm>
            <a:off x="5823047" y="6568944"/>
            <a:ext cx="55409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tx2"/>
                </a:solidFill>
                <a:latin typeface="+mn-lt"/>
              </a:rPr>
              <a:t>Spare part Management System by RFID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88F0BF-9B8B-4F62-90CA-78EF6F88689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7" y="6459583"/>
            <a:ext cx="980823" cy="36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964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00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ClrTx/>
        <a:buSzPct val="85000"/>
        <a:buFont typeface="Arial" panose="020B0604020202020204" pitchFamily="34" charset="0"/>
        <a:buChar char="●"/>
        <a:tabLst>
          <a:tab pos="179388" algn="l"/>
        </a:tabLst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0000" rtl="0" eaLnBrk="1" latinLnBrk="0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Calibri" panose="020F0502020204030204" pitchFamily="34" charset="0"/>
        <a:buChar char="○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144000" algn="l" defTabSz="90000" rtl="0" eaLnBrk="1" latinLnBrk="0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Wingdings" panose="05000000000000000000" pitchFamily="2" charset="2"/>
        <a:buChar char="§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44000" algn="l" defTabSz="90000" rtl="0" eaLnBrk="1" latinLnBrk="0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anose="020B0604020202020204" pitchFamily="34" charset="0"/>
        <a:buChar char="›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792000" indent="-108000" algn="l" defTabSz="900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42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39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12" Type="http://schemas.openxmlformats.org/officeDocument/2006/relationships/image" Target="../media/image19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jpg"/><Relationship Id="rId11" Type="http://schemas.openxmlformats.org/officeDocument/2006/relationships/image" Target="../media/image18.png"/><Relationship Id="rId5" Type="http://schemas.openxmlformats.org/officeDocument/2006/relationships/image" Target="../media/image12.jpg"/><Relationship Id="rId10" Type="http://schemas.openxmlformats.org/officeDocument/2006/relationships/image" Target="../media/image17.jpg"/><Relationship Id="rId4" Type="http://schemas.openxmlformats.org/officeDocument/2006/relationships/image" Target="../media/image11.jpg"/><Relationship Id="rId9" Type="http://schemas.openxmlformats.org/officeDocument/2006/relationships/image" Target="../media/image1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8C78-815E-05AF-C5C3-F612362E1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6452" y="2540581"/>
            <a:ext cx="8813800" cy="1011519"/>
          </a:xfrm>
        </p:spPr>
        <p:txBody>
          <a:bodyPr>
            <a:normAutofit fontScale="90000"/>
          </a:bodyPr>
          <a:lstStyle/>
          <a:p>
            <a:r>
              <a:rPr lang="en-ID" b="1" dirty="0"/>
              <a:t>RANCANG BANGUN SISTEM </a:t>
            </a:r>
            <a:r>
              <a:rPr lang="en-ID" b="1" i="1" dirty="0"/>
              <a:t>PREDICTIVE MAINTENANCE</a:t>
            </a:r>
            <a:r>
              <a:rPr lang="en-ID" b="1" dirty="0"/>
              <a:t> BERBASIS </a:t>
            </a:r>
            <a:r>
              <a:rPr lang="en-ID" b="1" i="1" dirty="0"/>
              <a:t>MACHINE LEARNING</a:t>
            </a:r>
            <a:r>
              <a:rPr lang="en-ID" b="1" dirty="0"/>
              <a:t> UNTUK DETEKSI  KERUSAKAN DINI PADA MOTOR </a:t>
            </a:r>
            <a:r>
              <a:rPr lang="en-ID" b="1" i="1" dirty="0"/>
              <a:t>MAINSHAKEOUT</a:t>
            </a:r>
            <a:endParaRPr lang="en-US" b="1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AD6F5E-F4A0-51C3-3E9D-1B3D85EFAA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Maintenance Section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2FFC5-A741-9CB1-8438-A1D6B22568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20</a:t>
            </a:r>
            <a:r>
              <a:rPr lang="en-US" baseline="30000" dirty="0"/>
              <a:t>th</a:t>
            </a:r>
            <a:r>
              <a:rPr lang="en-US" dirty="0"/>
              <a:t>  August 2026</a:t>
            </a:r>
          </a:p>
        </p:txBody>
      </p:sp>
    </p:spTree>
    <p:extLst>
      <p:ext uri="{BB962C8B-B14F-4D97-AF65-F5344CB8AC3E}">
        <p14:creationId xmlns:p14="http://schemas.microsoft.com/office/powerpoint/2010/main" val="1726649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790D77-4871-4D77-B5A0-42A42B13D4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527901"/>
            <a:ext cx="9144000" cy="448501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+mj-lt"/>
              </a:rPr>
              <a:t>1-1 </a:t>
            </a:r>
            <a:r>
              <a:rPr lang="en-ID" b="1" dirty="0" err="1"/>
              <a:t>Kondisi</a:t>
            </a:r>
            <a:r>
              <a:rPr lang="en-ID" b="1" dirty="0"/>
              <a:t> dan </a:t>
            </a:r>
            <a:r>
              <a:rPr lang="en-ID" b="1" dirty="0" err="1"/>
              <a:t>Permasalahan</a:t>
            </a:r>
            <a:r>
              <a:rPr lang="en-ID" b="1" dirty="0"/>
              <a:t> Motor </a:t>
            </a:r>
            <a:r>
              <a:rPr lang="en-ID" b="1" dirty="0" err="1"/>
              <a:t>Mainshakeout</a:t>
            </a:r>
            <a:r>
              <a:rPr lang="en-US" b="1" dirty="0">
                <a:latin typeface="+mj-lt"/>
              </a:rPr>
              <a:t> 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A2E971F6-0C45-F532-9F76-3A665987DFB1}"/>
              </a:ext>
            </a:extLst>
          </p:cNvPr>
          <p:cNvSpPr txBox="1">
            <a:spLocks/>
          </p:cNvSpPr>
          <p:nvPr/>
        </p:nvSpPr>
        <p:spPr>
          <a:xfrm>
            <a:off x="224564" y="1"/>
            <a:ext cx="9049732" cy="527901"/>
          </a:xfrm>
          <a:prstGeom prst="rect">
            <a:avLst/>
          </a:prstGeom>
        </p:spPr>
        <p:txBody>
          <a:bodyPr vert="horz" lIns="45720" tIns="73152" rIns="45720" bIns="45720" rtlCol="0" anchor="b" anchorCtr="0">
            <a:normAutofit lnSpcReduction="10000"/>
          </a:bodyPr>
          <a:lstStyle>
            <a:lvl1pPr marL="0" indent="0" algn="ctr" defTabSz="900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5000"/>
              <a:buFont typeface="Arial" panose="020B0604020202020204" pitchFamily="34" charset="0"/>
              <a:buNone/>
              <a:tabLst>
                <a:tab pos="179388" algn="l"/>
              </a:tabLst>
              <a:defRPr sz="2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00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Calibri" panose="020F0502020204030204" pitchFamily="34" charset="0"/>
              <a:buChar char="○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144000" algn="l" defTabSz="900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000" indent="-144000" algn="l" defTabSz="900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›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108000" algn="l" defTabSz="900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00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5000"/>
              <a:buFont typeface="Arial" panose="020B0604020202020204" pitchFamily="34" charset="0"/>
              <a:buNone/>
              <a:tabLst>
                <a:tab pos="179388" algn="l"/>
              </a:tabLst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1.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Pengenalan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D735FB-8EE9-D428-D322-30E47F908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64" y="1035229"/>
            <a:ext cx="4560983" cy="2565553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6CE9CCF0-D922-1C03-1284-17277BA90302}"/>
              </a:ext>
            </a:extLst>
          </p:cNvPr>
          <p:cNvSpPr/>
          <p:nvPr/>
        </p:nvSpPr>
        <p:spPr>
          <a:xfrm>
            <a:off x="4930325" y="1826949"/>
            <a:ext cx="565532" cy="98210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DBD4B8-3851-875F-D596-205C4C453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81" y="4151755"/>
            <a:ext cx="4794744" cy="2545080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26F9C1DF-039F-F05E-4AD3-56D3473CAE04}"/>
              </a:ext>
            </a:extLst>
          </p:cNvPr>
          <p:cNvSpPr/>
          <p:nvPr/>
        </p:nvSpPr>
        <p:spPr>
          <a:xfrm>
            <a:off x="4930325" y="4831912"/>
            <a:ext cx="565532" cy="98210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A5A2BE3-E6C5-3DD5-0F1E-D1AFE790DCDE}"/>
              </a:ext>
            </a:extLst>
          </p:cNvPr>
          <p:cNvSpPr/>
          <p:nvPr/>
        </p:nvSpPr>
        <p:spPr>
          <a:xfrm>
            <a:off x="5705177" y="976402"/>
            <a:ext cx="6369310" cy="2302882"/>
          </a:xfrm>
          <a:prstGeom prst="rect">
            <a:avLst/>
          </a:prstGeom>
          <a:solidFill>
            <a:srgbClr val="1F497D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600" kern="0" dirty="0">
              <a:solidFill>
                <a:prstClr val="white"/>
              </a:solidFill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D" sz="1600" b="1" dirty="0" err="1"/>
              <a:t>Gangguan</a:t>
            </a:r>
            <a:r>
              <a:rPr lang="en-ID" sz="1600" b="1" dirty="0"/>
              <a:t> motor </a:t>
            </a:r>
            <a:r>
              <a:rPr lang="en-ID" sz="1600" b="1" dirty="0" err="1"/>
              <a:t>dapat</a:t>
            </a:r>
            <a:r>
              <a:rPr lang="en-ID" sz="1600" b="1" dirty="0"/>
              <a:t> </a:t>
            </a:r>
            <a:r>
              <a:rPr lang="en-ID" sz="1600" b="1" dirty="0" err="1"/>
              <a:t>terjadi</a:t>
            </a:r>
            <a:r>
              <a:rPr lang="en-ID" sz="1600" b="1" dirty="0"/>
              <a:t> </a:t>
            </a:r>
            <a:r>
              <a:rPr lang="en-ID" sz="1600" b="1" dirty="0" err="1"/>
              <a:t>secara</a:t>
            </a:r>
            <a:r>
              <a:rPr lang="en-ID" sz="1600" b="1" dirty="0"/>
              <a:t> </a:t>
            </a:r>
            <a:r>
              <a:rPr lang="en-ID" sz="1600" b="1" dirty="0" err="1"/>
              <a:t>tiba-tiba</a:t>
            </a:r>
            <a:r>
              <a:rPr lang="en-ID" sz="1600" b="1" dirty="0"/>
              <a:t> dan </a:t>
            </a:r>
            <a:r>
              <a:rPr lang="en-ID" sz="1600" b="1" dirty="0" err="1"/>
              <a:t>berpotensi</a:t>
            </a:r>
            <a:r>
              <a:rPr lang="en-ID" sz="1600" b="1" dirty="0"/>
              <a:t> </a:t>
            </a:r>
            <a:r>
              <a:rPr lang="en-ID" sz="1600" b="1" dirty="0" err="1"/>
              <a:t>menyebabkan</a:t>
            </a:r>
            <a:r>
              <a:rPr lang="en-ID" sz="1600" b="1" dirty="0"/>
              <a:t> </a:t>
            </a:r>
            <a:r>
              <a:rPr lang="en-ID" sz="1600" b="1" i="1" dirty="0"/>
              <a:t>downtime</a:t>
            </a:r>
            <a:r>
              <a:rPr lang="en-ID" sz="1600" b="1" dirty="0"/>
              <a:t> </a:t>
            </a:r>
            <a:r>
              <a:rPr lang="en-ID" sz="1600" b="1" dirty="0" err="1"/>
              <a:t>serta</a:t>
            </a:r>
            <a:r>
              <a:rPr lang="en-ID" sz="1600" b="1" dirty="0"/>
              <a:t> </a:t>
            </a:r>
            <a:r>
              <a:rPr lang="en-ID" sz="1600" b="1" dirty="0" err="1"/>
              <a:t>mengganggu</a:t>
            </a:r>
            <a:r>
              <a:rPr lang="en-ID" sz="1600" b="1" dirty="0"/>
              <a:t> proses </a:t>
            </a:r>
            <a:r>
              <a:rPr lang="en-ID" sz="1600" b="1" dirty="0" err="1"/>
              <a:t>produksi</a:t>
            </a:r>
            <a:r>
              <a:rPr lang="en-ID" sz="1600" b="1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1600" b="1" dirty="0" err="1"/>
              <a:t>Kondisi</a:t>
            </a:r>
            <a:r>
              <a:rPr lang="en-ID" sz="1600" b="1" dirty="0"/>
              <a:t> motor </a:t>
            </a:r>
            <a:r>
              <a:rPr lang="en-ID" sz="1600" b="1" dirty="0" err="1"/>
              <a:t>belum</a:t>
            </a:r>
            <a:r>
              <a:rPr lang="en-ID" sz="1600" b="1" dirty="0"/>
              <a:t> </a:t>
            </a:r>
            <a:r>
              <a:rPr lang="en-ID" sz="1600" b="1" dirty="0" err="1"/>
              <a:t>dipantau</a:t>
            </a:r>
            <a:r>
              <a:rPr lang="en-ID" sz="1600" b="1" dirty="0"/>
              <a:t> </a:t>
            </a:r>
            <a:r>
              <a:rPr lang="en-ID" sz="1600" b="1" dirty="0" err="1"/>
              <a:t>secara</a:t>
            </a:r>
            <a:r>
              <a:rPr lang="en-ID" sz="1600" b="1" dirty="0"/>
              <a:t> </a:t>
            </a:r>
            <a:r>
              <a:rPr lang="en-ID" sz="1600" b="1" dirty="0" err="1"/>
              <a:t>kontinu</a:t>
            </a:r>
            <a:r>
              <a:rPr lang="en-ID" sz="1600" b="1" dirty="0"/>
              <a:t>, </a:t>
            </a:r>
            <a:r>
              <a:rPr lang="en-ID" sz="1600" b="1" dirty="0" err="1"/>
              <a:t>sehingga</a:t>
            </a:r>
            <a:r>
              <a:rPr lang="en-ID" sz="1600" b="1" dirty="0"/>
              <a:t> </a:t>
            </a:r>
            <a:r>
              <a:rPr lang="en-ID" sz="1600" b="1" dirty="0" err="1"/>
              <a:t>perubahan</a:t>
            </a:r>
            <a:r>
              <a:rPr lang="en-ID" sz="1600" b="1" dirty="0"/>
              <a:t> </a:t>
            </a:r>
            <a:r>
              <a:rPr lang="en-ID" sz="1600" b="1" dirty="0" err="1"/>
              <a:t>kondisi</a:t>
            </a:r>
            <a:r>
              <a:rPr lang="en-ID" sz="1600" b="1" dirty="0"/>
              <a:t> </a:t>
            </a:r>
            <a:r>
              <a:rPr lang="en-ID" sz="1600" b="1" dirty="0" err="1"/>
              <a:t>atau</a:t>
            </a:r>
            <a:r>
              <a:rPr lang="en-ID" sz="1600" b="1" dirty="0"/>
              <a:t> </a:t>
            </a:r>
            <a:r>
              <a:rPr lang="en-ID" sz="1600" b="1" dirty="0" err="1"/>
              <a:t>gejala</a:t>
            </a:r>
            <a:r>
              <a:rPr lang="en-ID" sz="1600" b="1" dirty="0"/>
              <a:t> </a:t>
            </a:r>
            <a:r>
              <a:rPr lang="en-ID" sz="1600" b="1" dirty="0" err="1"/>
              <a:t>awal</a:t>
            </a:r>
            <a:r>
              <a:rPr lang="en-ID" sz="1600" b="1" dirty="0"/>
              <a:t> </a:t>
            </a:r>
            <a:r>
              <a:rPr lang="en-ID" sz="1600" b="1" dirty="0" err="1"/>
              <a:t>kerusakan</a:t>
            </a:r>
            <a:r>
              <a:rPr lang="en-ID" sz="1600" b="1" dirty="0"/>
              <a:t> </a:t>
            </a:r>
            <a:r>
              <a:rPr lang="en-ID" sz="1600" b="1" dirty="0" err="1"/>
              <a:t>sulit</a:t>
            </a:r>
            <a:r>
              <a:rPr lang="en-ID" sz="1600" b="1" dirty="0"/>
              <a:t> </a:t>
            </a:r>
            <a:r>
              <a:rPr lang="en-ID" sz="1600" b="1" dirty="0" err="1"/>
              <a:t>diketahui</a:t>
            </a:r>
            <a:r>
              <a:rPr lang="en-ID" sz="1600" b="1" dirty="0"/>
              <a:t> </a:t>
            </a:r>
            <a:r>
              <a:rPr lang="en-ID" sz="1600" b="1" dirty="0" err="1"/>
              <a:t>lebih</a:t>
            </a:r>
            <a:r>
              <a:rPr lang="en-ID" sz="1600" b="1" dirty="0"/>
              <a:t> </a:t>
            </a:r>
            <a:r>
              <a:rPr lang="en-ID" sz="1600" b="1" dirty="0" err="1"/>
              <a:t>cepat</a:t>
            </a:r>
            <a:r>
              <a:rPr lang="en-ID" sz="1600" b="1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1600" b="1" dirty="0" err="1"/>
              <a:t>Informasi</a:t>
            </a:r>
            <a:r>
              <a:rPr lang="en-ID" sz="1600" b="1" dirty="0"/>
              <a:t> </a:t>
            </a:r>
            <a:r>
              <a:rPr lang="en-ID" sz="1600" b="1" dirty="0" err="1"/>
              <a:t>kondisi</a:t>
            </a:r>
            <a:r>
              <a:rPr lang="en-ID" sz="1600" b="1" dirty="0"/>
              <a:t> motor </a:t>
            </a:r>
            <a:r>
              <a:rPr lang="en-ID" sz="1600" b="1" dirty="0" err="1"/>
              <a:t>belum</a:t>
            </a:r>
            <a:r>
              <a:rPr lang="en-ID" sz="1600" b="1" dirty="0"/>
              <a:t> </a:t>
            </a:r>
            <a:r>
              <a:rPr lang="en-ID" sz="1600" b="1" dirty="0" err="1"/>
              <a:t>tersedia</a:t>
            </a:r>
            <a:r>
              <a:rPr lang="en-ID" sz="1600" b="1" dirty="0"/>
              <a:t> </a:t>
            </a:r>
            <a:r>
              <a:rPr lang="en-ID" sz="1600" b="1" dirty="0" err="1"/>
              <a:t>secara</a:t>
            </a:r>
            <a:r>
              <a:rPr lang="en-ID" sz="1600" b="1" dirty="0"/>
              <a:t> </a:t>
            </a:r>
            <a:r>
              <a:rPr lang="en-ID" sz="1600" b="1" dirty="0" err="1"/>
              <a:t>langsung</a:t>
            </a:r>
            <a:r>
              <a:rPr lang="en-ID" sz="1600" b="1" dirty="0"/>
              <a:t> </a:t>
            </a:r>
            <a:r>
              <a:rPr lang="en-ID" sz="1600" b="1" dirty="0" err="1"/>
              <a:t>kepada</a:t>
            </a:r>
            <a:r>
              <a:rPr lang="en-ID" sz="1600" b="1" dirty="0"/>
              <a:t> </a:t>
            </a:r>
            <a:r>
              <a:rPr lang="en-ID" sz="1600" b="1" dirty="0" err="1"/>
              <a:t>teknisi</a:t>
            </a:r>
            <a:r>
              <a:rPr lang="en-ID" sz="1600" b="1" dirty="0"/>
              <a:t>, </a:t>
            </a:r>
            <a:r>
              <a:rPr lang="en-ID" sz="1600" b="1" dirty="0" err="1"/>
              <a:t>sehingga</a:t>
            </a:r>
            <a:r>
              <a:rPr lang="en-ID" sz="1600" b="1" dirty="0"/>
              <a:t> </a:t>
            </a:r>
            <a:r>
              <a:rPr lang="en-ID" sz="1600" b="1" dirty="0" err="1"/>
              <a:t>pemeriksaan</a:t>
            </a:r>
            <a:r>
              <a:rPr lang="en-ID" sz="1600" b="1" dirty="0"/>
              <a:t> dan </a:t>
            </a:r>
            <a:r>
              <a:rPr lang="en-ID" sz="1600" b="1" dirty="0" err="1"/>
              <a:t>penanganan</a:t>
            </a:r>
            <a:r>
              <a:rPr lang="en-ID" sz="1600" b="1" dirty="0"/>
              <a:t> </a:t>
            </a:r>
            <a:r>
              <a:rPr lang="en-ID" sz="1600" b="1" dirty="0" err="1"/>
              <a:t>masih</a:t>
            </a:r>
            <a:r>
              <a:rPr lang="en-ID" sz="1600" b="1" dirty="0"/>
              <a:t> </a:t>
            </a:r>
            <a:r>
              <a:rPr lang="en-ID" sz="1600" b="1" dirty="0" err="1"/>
              <a:t>dilakukan</a:t>
            </a:r>
            <a:r>
              <a:rPr lang="en-ID" sz="1600" b="1" dirty="0"/>
              <a:t> </a:t>
            </a:r>
            <a:r>
              <a:rPr lang="en-ID" sz="1600" b="1" dirty="0" err="1"/>
              <a:t>setelah</a:t>
            </a:r>
            <a:r>
              <a:rPr lang="en-ID" sz="1600" b="1" dirty="0"/>
              <a:t> </a:t>
            </a:r>
            <a:r>
              <a:rPr lang="en-ID" sz="1600" b="1" dirty="0" err="1"/>
              <a:t>gangguan</a:t>
            </a:r>
            <a:r>
              <a:rPr lang="en-ID" sz="1600" b="1" dirty="0"/>
              <a:t> </a:t>
            </a:r>
            <a:r>
              <a:rPr lang="en-ID" sz="1600" b="1" dirty="0" err="1"/>
              <a:t>diketahui</a:t>
            </a:r>
            <a:r>
              <a:rPr lang="en-ID" sz="1600" b="1" dirty="0"/>
              <a:t>.</a:t>
            </a:r>
            <a:endParaRPr lang="en-US" sz="1600" kern="0" dirty="0">
              <a:solidFill>
                <a:prstClr val="white"/>
              </a:solidFill>
              <a:latin typeface="+mj-lt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600" kern="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39" name="object 47">
            <a:extLst>
              <a:ext uri="{FF2B5EF4-FFF2-40B4-BE49-F238E27FC236}">
                <a16:creationId xmlns:a16="http://schemas.microsoft.com/office/drawing/2014/main" id="{CAE5D65F-DA40-C735-CEEA-C0678E8A2339}"/>
              </a:ext>
            </a:extLst>
          </p:cNvPr>
          <p:cNvSpPr txBox="1"/>
          <p:nvPr/>
        </p:nvSpPr>
        <p:spPr>
          <a:xfrm>
            <a:off x="6261546" y="3508090"/>
            <a:ext cx="5794873" cy="864467"/>
          </a:xfrm>
          <a:prstGeom prst="rect">
            <a:avLst/>
          </a:prstGeom>
          <a:solidFill>
            <a:srgbClr val="F8F88F"/>
          </a:solidFill>
          <a:ln w="38100">
            <a:solidFill>
              <a:srgbClr val="FF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238760" marR="518795">
              <a:lnSpc>
                <a:spcPct val="116599"/>
              </a:lnSpc>
              <a:spcBef>
                <a:spcPts val="190"/>
              </a:spcBef>
            </a:pPr>
            <a:r>
              <a:rPr lang="en-ID" sz="1600" b="1" dirty="0"/>
              <a:t>Solusi yang </a:t>
            </a:r>
            <a:r>
              <a:rPr lang="en-ID" sz="1600" b="1" dirty="0" err="1"/>
              <a:t>Diberikan</a:t>
            </a:r>
            <a:r>
              <a:rPr lang="en-ID" sz="1600" b="1" dirty="0"/>
              <a:t>:</a:t>
            </a:r>
            <a:br>
              <a:rPr lang="en-ID" sz="1600" dirty="0"/>
            </a:br>
            <a:r>
              <a:rPr lang="sv-SE" sz="1600" dirty="0"/>
              <a:t>Dibutuhkan sistem pemantauan kondisi motor yang dapat memberikan peringatan lebih awal</a:t>
            </a:r>
            <a:r>
              <a:rPr lang="en-ID" sz="1600" dirty="0"/>
              <a:t>.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F598F6E-E0F2-403A-FFA0-78432241C81B}"/>
              </a:ext>
            </a:extLst>
          </p:cNvPr>
          <p:cNvSpPr/>
          <p:nvPr/>
        </p:nvSpPr>
        <p:spPr>
          <a:xfrm>
            <a:off x="5705177" y="4601363"/>
            <a:ext cx="6369310" cy="1443209"/>
          </a:xfrm>
          <a:prstGeom prst="rect">
            <a:avLst/>
          </a:prstGeom>
          <a:solidFill>
            <a:srgbClr val="1F497D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/>
            <a:r>
              <a:rPr lang="en-ID" sz="1600" b="1" dirty="0" err="1"/>
              <a:t>Gangguan</a:t>
            </a:r>
            <a:r>
              <a:rPr lang="en-ID" sz="1600" b="1" dirty="0"/>
              <a:t> motor </a:t>
            </a:r>
            <a:r>
              <a:rPr lang="en-ID" sz="1600" b="1" dirty="0" err="1"/>
              <a:t>Mainshakeout</a:t>
            </a:r>
            <a:r>
              <a:rPr lang="en-ID" sz="1600" b="1" dirty="0"/>
              <a:t> </a:t>
            </a:r>
            <a:r>
              <a:rPr lang="en-ID" sz="1600" b="1" dirty="0" err="1"/>
              <a:t>masih</a:t>
            </a:r>
            <a:r>
              <a:rPr lang="en-ID" sz="1600" b="1" dirty="0"/>
              <a:t> </a:t>
            </a:r>
            <a:r>
              <a:rPr lang="en-ID" sz="1600" b="1" dirty="0" err="1"/>
              <a:t>menyebabkan</a:t>
            </a:r>
            <a:r>
              <a:rPr lang="en-ID" sz="1600" b="1" dirty="0"/>
              <a:t> downtime dan </a:t>
            </a:r>
            <a:r>
              <a:rPr lang="en-ID" sz="1600" b="1" dirty="0" err="1"/>
              <a:t>penanganannya</a:t>
            </a:r>
            <a:r>
              <a:rPr lang="en-ID" sz="1600" b="1" dirty="0"/>
              <a:t> </a:t>
            </a:r>
            <a:r>
              <a:rPr lang="en-ID" sz="1600" b="1" dirty="0" err="1"/>
              <a:t>dilakukan</a:t>
            </a:r>
            <a:r>
              <a:rPr lang="en-ID" sz="1600" b="1" dirty="0"/>
              <a:t> </a:t>
            </a:r>
            <a:r>
              <a:rPr lang="en-ID" sz="1600" b="1" dirty="0" err="1"/>
              <a:t>setelah</a:t>
            </a:r>
            <a:r>
              <a:rPr lang="en-ID" sz="1600" b="1" dirty="0"/>
              <a:t> </a:t>
            </a:r>
            <a:r>
              <a:rPr lang="en-ID" sz="1600" b="1" dirty="0" err="1"/>
              <a:t>gangguan</a:t>
            </a:r>
            <a:r>
              <a:rPr lang="en-ID" sz="1600" b="1" dirty="0"/>
              <a:t> </a:t>
            </a:r>
            <a:r>
              <a:rPr lang="en-ID" sz="1600" b="1" dirty="0" err="1"/>
              <a:t>terjadi</a:t>
            </a:r>
            <a:r>
              <a:rPr lang="en-ID" sz="1600" b="1" dirty="0"/>
              <a:t>. </a:t>
            </a:r>
            <a:r>
              <a:rPr lang="en-ID" sz="1600" b="1" dirty="0" err="1"/>
              <a:t>Pemantauan</a:t>
            </a:r>
            <a:r>
              <a:rPr lang="en-ID" sz="1600" b="1" dirty="0"/>
              <a:t> </a:t>
            </a:r>
            <a:r>
              <a:rPr lang="en-ID" sz="1600" b="1" dirty="0" err="1"/>
              <a:t>kondisi</a:t>
            </a:r>
            <a:r>
              <a:rPr lang="en-ID" sz="1600" b="1" dirty="0"/>
              <a:t> </a:t>
            </a:r>
            <a:r>
              <a:rPr lang="en-ID" sz="1600" b="1" dirty="0" err="1"/>
              <a:t>secara</a:t>
            </a:r>
            <a:r>
              <a:rPr lang="en-ID" sz="1600" b="1" dirty="0"/>
              <a:t> </a:t>
            </a:r>
            <a:r>
              <a:rPr lang="en-ID" sz="1600" b="1" dirty="0" err="1"/>
              <a:t>dini</a:t>
            </a:r>
            <a:r>
              <a:rPr lang="en-ID" sz="1600" b="1" dirty="0"/>
              <a:t> </a:t>
            </a:r>
            <a:r>
              <a:rPr lang="en-ID" sz="1600" b="1" dirty="0" err="1"/>
              <a:t>diperlukan</a:t>
            </a:r>
            <a:r>
              <a:rPr lang="en-ID" sz="1600" b="1" dirty="0"/>
              <a:t> </a:t>
            </a:r>
            <a:r>
              <a:rPr lang="en-ID" sz="1600" b="1" dirty="0" err="1"/>
              <a:t>untuk</a:t>
            </a:r>
            <a:r>
              <a:rPr lang="en-ID" sz="1600" b="1" dirty="0"/>
              <a:t> </a:t>
            </a:r>
            <a:r>
              <a:rPr lang="en-ID" sz="1600" b="1" dirty="0" err="1"/>
              <a:t>membantu</a:t>
            </a:r>
            <a:r>
              <a:rPr lang="en-ID" sz="1600" b="1" dirty="0"/>
              <a:t> </a:t>
            </a:r>
            <a:r>
              <a:rPr lang="en-ID" sz="1600" b="1" dirty="0" err="1"/>
              <a:t>mengurangi</a:t>
            </a:r>
            <a:r>
              <a:rPr lang="en-ID" sz="1600" b="1" dirty="0"/>
              <a:t> </a:t>
            </a:r>
            <a:r>
              <a:rPr lang="en-ID" sz="1600" b="1" dirty="0" err="1"/>
              <a:t>dampak</a:t>
            </a:r>
            <a:r>
              <a:rPr lang="en-ID" sz="1600" b="1" dirty="0"/>
              <a:t> </a:t>
            </a:r>
            <a:r>
              <a:rPr lang="en-ID" sz="1600" b="1" dirty="0" err="1"/>
              <a:t>gangguan</a:t>
            </a:r>
            <a:r>
              <a:rPr lang="en-ID" sz="1600" b="1" dirty="0"/>
              <a:t> </a:t>
            </a:r>
            <a:r>
              <a:rPr lang="en-ID" sz="1600" b="1" dirty="0" err="1"/>
              <a:t>terhadap</a:t>
            </a:r>
            <a:r>
              <a:rPr lang="en-ID" sz="1600" b="1" dirty="0"/>
              <a:t> proses </a:t>
            </a:r>
            <a:r>
              <a:rPr lang="en-ID" sz="1600" b="1" dirty="0" err="1"/>
              <a:t>produksi</a:t>
            </a:r>
            <a:r>
              <a:rPr lang="en-ID" sz="1600" b="1" dirty="0"/>
              <a:t>.</a:t>
            </a:r>
            <a:endParaRPr lang="en-US" sz="1600" b="1" kern="0" dirty="0">
              <a:solidFill>
                <a:prstClr val="white"/>
              </a:solidFill>
              <a:latin typeface="+mj-lt"/>
            </a:endParaRP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D22161E5-75CC-881A-4AA5-5FAD29BED43B}"/>
              </a:ext>
            </a:extLst>
          </p:cNvPr>
          <p:cNvCxnSpPr>
            <a:cxnSpLocks/>
            <a:endCxn id="39" idx="1"/>
          </p:cNvCxnSpPr>
          <p:nvPr/>
        </p:nvCxnSpPr>
        <p:spPr>
          <a:xfrm rot="16200000" flipH="1">
            <a:off x="5652841" y="3331619"/>
            <a:ext cx="661040" cy="556370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bject 27">
            <a:extLst>
              <a:ext uri="{FF2B5EF4-FFF2-40B4-BE49-F238E27FC236}">
                <a16:creationId xmlns:a16="http://schemas.microsoft.com/office/drawing/2014/main" id="{F8744B62-FDF1-612A-DB8F-379335123022}"/>
              </a:ext>
            </a:extLst>
          </p:cNvPr>
          <p:cNvSpPr txBox="1"/>
          <p:nvPr/>
        </p:nvSpPr>
        <p:spPr>
          <a:xfrm>
            <a:off x="224564" y="3811441"/>
            <a:ext cx="4897014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ID" sz="1600" b="1" dirty="0">
                <a:latin typeface="+mj-lt"/>
                <a:cs typeface="Times New Roman" panose="02020603050405020304" pitchFamily="18" charset="0"/>
              </a:rPr>
              <a:t>Data </a:t>
            </a:r>
            <a:r>
              <a:rPr lang="en-ID" sz="1600" b="1" dirty="0" err="1">
                <a:latin typeface="+mj-lt"/>
                <a:cs typeface="Times New Roman" panose="02020603050405020304" pitchFamily="18" charset="0"/>
              </a:rPr>
              <a:t>Gangguan</a:t>
            </a:r>
            <a:r>
              <a:rPr lang="en-ID" sz="1600" b="1" dirty="0">
                <a:latin typeface="+mj-lt"/>
                <a:cs typeface="Times New Roman" panose="02020603050405020304" pitchFamily="18" charset="0"/>
              </a:rPr>
              <a:t> Motor </a:t>
            </a:r>
            <a:r>
              <a:rPr lang="en-ID" sz="1600" b="1" dirty="0" err="1">
                <a:latin typeface="+mj-lt"/>
                <a:cs typeface="Times New Roman" panose="02020603050405020304" pitchFamily="18" charset="0"/>
              </a:rPr>
              <a:t>Mainshakeout</a:t>
            </a:r>
            <a:r>
              <a:rPr lang="en-ID" sz="1600" b="1" dirty="0">
                <a:latin typeface="+mj-lt"/>
                <a:cs typeface="Times New Roman" panose="02020603050405020304" pitchFamily="18" charset="0"/>
              </a:rPr>
              <a:t> </a:t>
            </a:r>
            <a:endParaRPr sz="16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6908EF-DE24-B921-CC16-474FA0C533FB}"/>
              </a:ext>
            </a:extLst>
          </p:cNvPr>
          <p:cNvSpPr/>
          <p:nvPr/>
        </p:nvSpPr>
        <p:spPr>
          <a:xfrm>
            <a:off x="6528391" y="6422065"/>
            <a:ext cx="4901609" cy="435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0796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954B6-1643-13FE-C4A8-116FC3F0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BB053-CE84-69CE-0A1A-DC8019418C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527901"/>
            <a:ext cx="9144000" cy="448501"/>
          </a:xfrm>
        </p:spPr>
        <p:txBody>
          <a:bodyPr>
            <a:normAutofit/>
          </a:bodyPr>
          <a:lstStyle/>
          <a:p>
            <a:pPr algn="l"/>
            <a:r>
              <a:rPr lang="fi-FI" b="1" dirty="0"/>
              <a:t>1-2 Konsep Solusi Pemantauan Kondisi Motor</a:t>
            </a:r>
            <a:endParaRPr lang="en-US" b="1" dirty="0">
              <a:latin typeface="+mj-lt"/>
            </a:endParaRP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B641782-E1B1-FA99-7720-EA7296CB3449}"/>
              </a:ext>
            </a:extLst>
          </p:cNvPr>
          <p:cNvSpPr txBox="1">
            <a:spLocks/>
          </p:cNvSpPr>
          <p:nvPr/>
        </p:nvSpPr>
        <p:spPr>
          <a:xfrm>
            <a:off x="224564" y="1"/>
            <a:ext cx="9049732" cy="527901"/>
          </a:xfrm>
          <a:prstGeom prst="rect">
            <a:avLst/>
          </a:prstGeom>
        </p:spPr>
        <p:txBody>
          <a:bodyPr vert="horz" lIns="45720" tIns="73152" rIns="45720" bIns="45720" rtlCol="0" anchor="b" anchorCtr="0">
            <a:normAutofit lnSpcReduction="10000"/>
          </a:bodyPr>
          <a:lstStyle>
            <a:lvl1pPr marL="0" indent="0" algn="ctr" defTabSz="900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5000"/>
              <a:buFont typeface="Arial" panose="020B0604020202020204" pitchFamily="34" charset="0"/>
              <a:buNone/>
              <a:tabLst>
                <a:tab pos="179388" algn="l"/>
              </a:tabLst>
              <a:defRPr sz="2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00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Calibri" panose="020F0502020204030204" pitchFamily="34" charset="0"/>
              <a:buChar char="○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144000" algn="l" defTabSz="900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000" indent="-144000" algn="l" defTabSz="900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›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108000" algn="l" defTabSz="900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r>
              <a:rPr 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</a:rPr>
              <a:t>2. </a:t>
            </a:r>
            <a:r>
              <a:rPr lang="en-ID" b="1" dirty="0" err="1">
                <a:solidFill>
                  <a:schemeClr val="bg1"/>
                </a:solidFill>
              </a:rPr>
              <a:t>Konsep</a:t>
            </a:r>
            <a:r>
              <a:rPr lang="en-ID" b="1" dirty="0">
                <a:solidFill>
                  <a:schemeClr val="bg1"/>
                </a:solidFill>
              </a:rPr>
              <a:t> Solusi yang </a:t>
            </a:r>
            <a:r>
              <a:rPr lang="en-ID" b="1" dirty="0" err="1">
                <a:solidFill>
                  <a:schemeClr val="bg1"/>
                </a:solidFill>
              </a:rPr>
              <a:t>Dibuat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18154D2-4671-F66F-E4DB-F0662A568D91}"/>
              </a:ext>
            </a:extLst>
          </p:cNvPr>
          <p:cNvSpPr/>
          <p:nvPr/>
        </p:nvSpPr>
        <p:spPr>
          <a:xfrm>
            <a:off x="4150893" y="1922047"/>
            <a:ext cx="565532" cy="98210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8E0C44-AF52-2B87-FD51-8F510B74A932}"/>
              </a:ext>
            </a:extLst>
          </p:cNvPr>
          <p:cNvSpPr/>
          <p:nvPr/>
        </p:nvSpPr>
        <p:spPr>
          <a:xfrm>
            <a:off x="4789853" y="1038114"/>
            <a:ext cx="7208272" cy="2651235"/>
          </a:xfrm>
          <a:prstGeom prst="rect">
            <a:avLst/>
          </a:prstGeom>
          <a:solidFill>
            <a:srgbClr val="1F497D">
              <a:lumMod val="40000"/>
              <a:lumOff val="60000"/>
            </a:srgbClr>
          </a:solidFill>
          <a:ln w="25400" cap="flat" cmpd="sng" algn="ctr">
            <a:solidFill>
              <a:srgbClr val="4F81BD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600" kern="0" dirty="0">
              <a:solidFill>
                <a:prstClr val="white"/>
              </a:solidFill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D" sz="1600" b="1" dirty="0"/>
              <a:t>Sensor INMP441 </a:t>
            </a:r>
            <a:r>
              <a:rPr lang="en-ID" sz="1600" b="1" dirty="0" err="1"/>
              <a:t>berfungsi</a:t>
            </a:r>
            <a:r>
              <a:rPr lang="en-ID" sz="1600" b="1" dirty="0"/>
              <a:t> </a:t>
            </a:r>
            <a:r>
              <a:rPr lang="en-ID" sz="1600" b="1" dirty="0" err="1"/>
              <a:t>memantau</a:t>
            </a:r>
            <a:r>
              <a:rPr lang="en-ID" sz="1600" b="1" dirty="0"/>
              <a:t> </a:t>
            </a:r>
            <a:r>
              <a:rPr lang="en-ID" sz="1600" b="1" dirty="0" err="1"/>
              <a:t>perubahan</a:t>
            </a:r>
            <a:r>
              <a:rPr lang="en-ID" sz="1600" b="1" dirty="0"/>
              <a:t> </a:t>
            </a:r>
            <a:r>
              <a:rPr lang="en-ID" sz="1600" b="1" dirty="0" err="1"/>
              <a:t>suara</a:t>
            </a:r>
            <a:r>
              <a:rPr lang="en-ID" sz="1600" b="1" dirty="0"/>
              <a:t> pada motor </a:t>
            </a:r>
            <a:r>
              <a:rPr lang="en-ID" sz="1600" b="1" dirty="0" err="1"/>
              <a:t>dengan</a:t>
            </a:r>
            <a:r>
              <a:rPr lang="en-ID" sz="1600" b="1" dirty="0"/>
              <a:t> </a:t>
            </a:r>
            <a:r>
              <a:rPr lang="en-ID" sz="1600" b="1" dirty="0" err="1"/>
              <a:t>jangkauan</a:t>
            </a:r>
            <a:r>
              <a:rPr lang="en-ID" sz="1600" b="1" dirty="0"/>
              <a:t> </a:t>
            </a:r>
            <a:r>
              <a:rPr lang="en-ID" sz="1600" b="1" dirty="0" err="1"/>
              <a:t>pengukuran</a:t>
            </a:r>
            <a:r>
              <a:rPr lang="en-ID" sz="1600" b="1" dirty="0"/>
              <a:t> 0 – 100 m/s².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1600" b="1" dirty="0"/>
              <a:t>Sensor MAX6675 dan Thermocouple Type K </a:t>
            </a:r>
            <a:r>
              <a:rPr lang="en-ID" sz="1600" b="1" dirty="0" err="1"/>
              <a:t>berfungsi</a:t>
            </a:r>
            <a:r>
              <a:rPr lang="en-ID" sz="1600" b="1" dirty="0"/>
              <a:t> </a:t>
            </a:r>
            <a:r>
              <a:rPr lang="en-ID" sz="1600" b="1" dirty="0" err="1"/>
              <a:t>memantau</a:t>
            </a:r>
            <a:r>
              <a:rPr lang="en-ID" sz="1600" b="1" dirty="0"/>
              <a:t> </a:t>
            </a:r>
            <a:r>
              <a:rPr lang="en-ID" sz="1600" b="1" dirty="0" err="1"/>
              <a:t>kenaikan</a:t>
            </a:r>
            <a:r>
              <a:rPr lang="en-ID" sz="1600" b="1" dirty="0"/>
              <a:t> </a:t>
            </a:r>
            <a:r>
              <a:rPr lang="en-ID" sz="1600" b="1" dirty="0" err="1"/>
              <a:t>suhu</a:t>
            </a:r>
            <a:r>
              <a:rPr lang="en-ID" sz="1600" b="1" dirty="0"/>
              <a:t> pada motor </a:t>
            </a:r>
            <a:r>
              <a:rPr lang="en-ID" sz="1600" b="1" dirty="0" err="1"/>
              <a:t>dengan</a:t>
            </a:r>
            <a:r>
              <a:rPr lang="en-ID" sz="1600" b="1" dirty="0"/>
              <a:t> </a:t>
            </a:r>
            <a:r>
              <a:rPr lang="en-ID" sz="1600" b="1" dirty="0" err="1"/>
              <a:t>jangkauan</a:t>
            </a:r>
            <a:r>
              <a:rPr lang="en-ID" sz="1600" b="1" dirty="0"/>
              <a:t> </a:t>
            </a:r>
            <a:r>
              <a:rPr lang="en-ID" sz="1600" b="1" dirty="0" err="1"/>
              <a:t>pengukuran</a:t>
            </a:r>
            <a:r>
              <a:rPr lang="en-ID" sz="1600" b="1" dirty="0"/>
              <a:t> 0°C – 1024°C .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1600" b="1" dirty="0"/>
              <a:t>Sensor Gravity Piezo film </a:t>
            </a:r>
            <a:r>
              <a:rPr lang="en-ID" sz="1600" b="1" dirty="0" err="1"/>
              <a:t>berfungsi</a:t>
            </a:r>
            <a:r>
              <a:rPr lang="en-ID" sz="1600" b="1" dirty="0"/>
              <a:t> </a:t>
            </a:r>
            <a:r>
              <a:rPr lang="en-ID" sz="1600" b="1" dirty="0" err="1"/>
              <a:t>memantau</a:t>
            </a:r>
            <a:r>
              <a:rPr lang="en-ID" sz="1600" b="1" dirty="0"/>
              <a:t> </a:t>
            </a:r>
            <a:r>
              <a:rPr lang="en-ID" sz="1600" b="1" dirty="0" err="1"/>
              <a:t>perubahan</a:t>
            </a:r>
            <a:r>
              <a:rPr lang="en-ID" sz="1600" b="1" dirty="0"/>
              <a:t> </a:t>
            </a:r>
            <a:r>
              <a:rPr lang="en-ID" sz="1600" b="1" dirty="0" err="1"/>
              <a:t>getaran</a:t>
            </a:r>
            <a:r>
              <a:rPr lang="en-ID" sz="1600" b="1" dirty="0"/>
              <a:t> pada motor </a:t>
            </a:r>
            <a:r>
              <a:rPr lang="en-ID" sz="1600" b="1" dirty="0" err="1"/>
              <a:t>dengan</a:t>
            </a:r>
            <a:r>
              <a:rPr lang="en-ID" sz="1600" b="1" dirty="0"/>
              <a:t> </a:t>
            </a:r>
            <a:r>
              <a:rPr lang="en-ID" sz="1600" b="1" dirty="0" err="1"/>
              <a:t>jangkauan</a:t>
            </a:r>
            <a:r>
              <a:rPr lang="en-ID" sz="1600" b="1" dirty="0"/>
              <a:t> </a:t>
            </a:r>
            <a:r>
              <a:rPr lang="en-ID" sz="1600" b="1" dirty="0" err="1"/>
              <a:t>pengukuran</a:t>
            </a:r>
            <a:r>
              <a:rPr lang="en-ID" sz="1600" b="1" dirty="0"/>
              <a:t> 0 - 160 </a:t>
            </a:r>
            <a:r>
              <a:rPr lang="en-ID" sz="1600" b="1" dirty="0" err="1"/>
              <a:t>dB.</a:t>
            </a:r>
            <a:endParaRPr lang="en-ID" sz="1600" b="1" dirty="0"/>
          </a:p>
          <a:p>
            <a:pPr marL="342900" indent="-342900">
              <a:buFont typeface="+mj-lt"/>
              <a:buAutoNum type="arabicPeriod"/>
            </a:pPr>
            <a:r>
              <a:rPr lang="en-ID" sz="1600" b="1" dirty="0"/>
              <a:t>Sensor PZEM004T dan Current Transformer </a:t>
            </a:r>
            <a:r>
              <a:rPr lang="en-ID" sz="1600" b="1" dirty="0" err="1"/>
              <a:t>berfungsi</a:t>
            </a:r>
            <a:r>
              <a:rPr lang="en-ID" sz="1600" b="1" dirty="0"/>
              <a:t> </a:t>
            </a:r>
            <a:r>
              <a:rPr lang="en-ID" sz="1600" b="1" dirty="0" err="1"/>
              <a:t>memantau</a:t>
            </a:r>
            <a:r>
              <a:rPr lang="en-ID" sz="1600" b="1" dirty="0"/>
              <a:t> </a:t>
            </a:r>
            <a:r>
              <a:rPr lang="en-ID" sz="1600" b="1" dirty="0" err="1"/>
              <a:t>perubahan</a:t>
            </a:r>
            <a:r>
              <a:rPr lang="en-ID" sz="1600" b="1" dirty="0"/>
              <a:t> </a:t>
            </a:r>
            <a:r>
              <a:rPr lang="en-ID" sz="1600" b="1" dirty="0" err="1"/>
              <a:t>penggunaan</a:t>
            </a:r>
            <a:r>
              <a:rPr lang="en-ID" sz="1600" b="1" dirty="0"/>
              <a:t> </a:t>
            </a:r>
            <a:r>
              <a:rPr lang="en-ID" sz="1600" b="1" dirty="0" err="1"/>
              <a:t>daya</a:t>
            </a:r>
            <a:r>
              <a:rPr lang="en-ID" sz="1600" b="1" dirty="0"/>
              <a:t> 3 </a:t>
            </a:r>
            <a:r>
              <a:rPr lang="en-ID" sz="1600" b="1" dirty="0" err="1"/>
              <a:t>fasa</a:t>
            </a:r>
            <a:r>
              <a:rPr lang="en-ID" sz="1600" b="1" dirty="0"/>
              <a:t> pada motor </a:t>
            </a:r>
            <a:r>
              <a:rPr lang="en-ID" sz="1600" b="1" dirty="0" err="1"/>
              <a:t>dengan</a:t>
            </a:r>
            <a:r>
              <a:rPr lang="en-ID" sz="1600" b="1" dirty="0"/>
              <a:t> </a:t>
            </a:r>
            <a:r>
              <a:rPr lang="en-ID" sz="1600" b="1" dirty="0" err="1"/>
              <a:t>jangkauan</a:t>
            </a:r>
            <a:r>
              <a:rPr lang="en-ID" sz="1600" b="1" dirty="0"/>
              <a:t> </a:t>
            </a:r>
            <a:r>
              <a:rPr lang="en-ID" sz="1600" b="1" dirty="0" err="1"/>
              <a:t>pengukuran</a:t>
            </a:r>
            <a:r>
              <a:rPr lang="en-ID" sz="1600" b="1" dirty="0"/>
              <a:t> 0 – 23 kW (per </a:t>
            </a:r>
            <a:r>
              <a:rPr lang="en-ID" sz="1600" b="1" dirty="0" err="1"/>
              <a:t>fasa</a:t>
            </a:r>
            <a:r>
              <a:rPr lang="en-ID" sz="1600" b="1" dirty="0"/>
              <a:t>).</a:t>
            </a:r>
            <a:endParaRPr lang="en-US" sz="1600" kern="0" dirty="0">
              <a:solidFill>
                <a:prstClr val="white"/>
              </a:solidFill>
              <a:latin typeface="+mj-lt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600" kern="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53" name="object 27">
            <a:extLst>
              <a:ext uri="{FF2B5EF4-FFF2-40B4-BE49-F238E27FC236}">
                <a16:creationId xmlns:a16="http://schemas.microsoft.com/office/drawing/2014/main" id="{E7180CB8-A880-4DD8-3287-B5F22D9B9939}"/>
              </a:ext>
            </a:extLst>
          </p:cNvPr>
          <p:cNvSpPr txBox="1"/>
          <p:nvPr/>
        </p:nvSpPr>
        <p:spPr>
          <a:xfrm>
            <a:off x="484744" y="2103326"/>
            <a:ext cx="599269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dirty="0">
                <a:cs typeface="Times New Roman" panose="02020603050405020304" pitchFamily="18" charset="0"/>
              </a:rPr>
              <a:t>INMP441</a:t>
            </a:r>
            <a:endParaRPr sz="1100" b="1" dirty="0"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52AE05C-0C41-7092-9F0B-0E8F8197F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2F7E4F-FC8C-DBAA-F092-B7456DEA8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95" y="1034509"/>
            <a:ext cx="1293358" cy="10165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BD8A99-14DA-561A-9484-A688501863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971" y="1102211"/>
            <a:ext cx="1045940" cy="9762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5F0529-2380-6AEA-D6E1-4DC7A804D8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670" y="2440836"/>
            <a:ext cx="816392" cy="79371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2598289-54A2-EAC8-AD66-F83D4A9E48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49556" y="2440836"/>
            <a:ext cx="976276" cy="97627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E167662-B548-8271-1510-569524982E41}"/>
              </a:ext>
            </a:extLst>
          </p:cNvPr>
          <p:cNvSpPr/>
          <p:nvPr/>
        </p:nvSpPr>
        <p:spPr>
          <a:xfrm>
            <a:off x="69850" y="1104900"/>
            <a:ext cx="3956051" cy="258445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C99F4A56-E679-DBF4-C4DC-EDD1E5D5F9BB}"/>
              </a:ext>
            </a:extLst>
          </p:cNvPr>
          <p:cNvSpPr txBox="1"/>
          <p:nvPr/>
        </p:nvSpPr>
        <p:spPr>
          <a:xfrm>
            <a:off x="1325832" y="2110607"/>
            <a:ext cx="2311554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dirty="0">
                <a:latin typeface="+mj-lt"/>
                <a:cs typeface="Times New Roman" panose="02020603050405020304" pitchFamily="18" charset="0"/>
              </a:rPr>
              <a:t>M</a:t>
            </a:r>
            <a:r>
              <a:rPr lang="en-ID" sz="1100" b="1" dirty="0"/>
              <a:t>AX6675 + Thermocouple Type-K</a:t>
            </a:r>
            <a:endParaRPr sz="11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32A95BA4-0742-FA9B-9B7D-B56CF60A71A6}"/>
              </a:ext>
            </a:extLst>
          </p:cNvPr>
          <p:cNvSpPr txBox="1"/>
          <p:nvPr/>
        </p:nvSpPr>
        <p:spPr>
          <a:xfrm>
            <a:off x="224564" y="3326703"/>
            <a:ext cx="1293358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dirty="0">
                <a:latin typeface="+mj-lt"/>
                <a:cs typeface="Times New Roman" panose="02020603050405020304" pitchFamily="18" charset="0"/>
              </a:rPr>
              <a:t>Gravity Piezo Film</a:t>
            </a:r>
            <a:endParaRPr sz="11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DE3923F8-8F30-C88C-7274-0C4CF1780645}"/>
              </a:ext>
            </a:extLst>
          </p:cNvPr>
          <p:cNvSpPr txBox="1"/>
          <p:nvPr/>
        </p:nvSpPr>
        <p:spPr>
          <a:xfrm>
            <a:off x="1613613" y="3338589"/>
            <a:ext cx="2311553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dirty="0">
                <a:latin typeface="+mj-lt"/>
                <a:cs typeface="Times New Roman" panose="02020603050405020304" pitchFamily="18" charset="0"/>
              </a:rPr>
              <a:t>PZEM004T + Current Transformer</a:t>
            </a:r>
            <a:endParaRPr sz="11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4838A9-C9B3-6DD5-DFE1-692EFFD0266A}"/>
              </a:ext>
            </a:extLst>
          </p:cNvPr>
          <p:cNvSpPr/>
          <p:nvPr/>
        </p:nvSpPr>
        <p:spPr>
          <a:xfrm>
            <a:off x="377980" y="2059892"/>
            <a:ext cx="809138" cy="274284"/>
          </a:xfrm>
          <a:prstGeom prst="rect">
            <a:avLst/>
          </a:prstGeom>
          <a:noFill/>
          <a:ln w="5715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465E8F-8F9D-6557-AECF-AEA70E34C8C5}"/>
              </a:ext>
            </a:extLst>
          </p:cNvPr>
          <p:cNvSpPr/>
          <p:nvPr/>
        </p:nvSpPr>
        <p:spPr>
          <a:xfrm>
            <a:off x="1260832" y="2059892"/>
            <a:ext cx="2376555" cy="274284"/>
          </a:xfrm>
          <a:prstGeom prst="rect">
            <a:avLst/>
          </a:prstGeom>
          <a:noFill/>
          <a:ln w="5715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7D546A-C3C3-5B36-309A-945118BC9969}"/>
              </a:ext>
            </a:extLst>
          </p:cNvPr>
          <p:cNvSpPr/>
          <p:nvPr/>
        </p:nvSpPr>
        <p:spPr>
          <a:xfrm>
            <a:off x="193875" y="3291857"/>
            <a:ext cx="1293357" cy="274284"/>
          </a:xfrm>
          <a:prstGeom prst="rect">
            <a:avLst/>
          </a:prstGeom>
          <a:noFill/>
          <a:ln w="5715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103C8B-02BC-DB1D-EB53-9C68DFBF48E5}"/>
              </a:ext>
            </a:extLst>
          </p:cNvPr>
          <p:cNvSpPr/>
          <p:nvPr/>
        </p:nvSpPr>
        <p:spPr>
          <a:xfrm>
            <a:off x="1548611" y="3291857"/>
            <a:ext cx="2376555" cy="274284"/>
          </a:xfrm>
          <a:prstGeom prst="rect">
            <a:avLst/>
          </a:prstGeom>
          <a:noFill/>
          <a:ln w="5715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7DDF8D5-EDCC-F447-949B-A5DE5D43FD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43" y="3796010"/>
            <a:ext cx="11892182" cy="171165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8A687CEE-8719-972E-B538-8C6F6A2ABFCB}"/>
              </a:ext>
            </a:extLst>
          </p:cNvPr>
          <p:cNvSpPr txBox="1"/>
          <p:nvPr/>
        </p:nvSpPr>
        <p:spPr>
          <a:xfrm>
            <a:off x="105943" y="5539098"/>
            <a:ext cx="11892182" cy="95410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Alur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sistem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dimulai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dari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sensor yang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membaca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kondisi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motor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berupa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getaran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suhu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suara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 dan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daya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listrik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 Data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kemudian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dikirim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melalui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ESP32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ke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Raspberry Pi 4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untuk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diolah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dan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dianalisis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dengan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machine learning. Hasil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analisis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otomatis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digunakan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untuk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menentukan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kondisi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motor,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kemudian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data parameter pada motor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disimpan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pada MongoDB Atlas dan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ditampilkan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melalui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website. Jika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terdeteksi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kondisi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abnormal,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sistem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akan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memberikan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notifikasi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kepada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teknisi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melalui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Telegram dan Gmail yang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didaftarkan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/>
              <a:ea typeface="Meiryo" panose="020B0604030504040204" pitchFamily="34" charset="-128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1499A-7832-76ED-846C-179EAB5C959A}"/>
              </a:ext>
            </a:extLst>
          </p:cNvPr>
          <p:cNvSpPr/>
          <p:nvPr/>
        </p:nvSpPr>
        <p:spPr>
          <a:xfrm>
            <a:off x="6528391" y="6524637"/>
            <a:ext cx="4901609" cy="333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99859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91863-2C3B-9BA6-412E-FF3F9DF3B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7F9220-83C0-A0C5-D05D-6ABA0E3EC2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527901"/>
            <a:ext cx="9144000" cy="448501"/>
          </a:xfrm>
        </p:spPr>
        <p:txBody>
          <a:bodyPr>
            <a:normAutofit/>
          </a:bodyPr>
          <a:lstStyle/>
          <a:p>
            <a:pPr algn="l"/>
            <a:r>
              <a:rPr lang="fi-FI" b="1" dirty="0"/>
              <a:t>1-3 Bentuk Perangkat dan Posisi Pemasangan</a:t>
            </a:r>
            <a:endParaRPr lang="en-US" b="1" dirty="0">
              <a:latin typeface="+mj-lt"/>
            </a:endParaRP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4F1EA7C-A1FB-0643-CE2E-C8BD6539EF11}"/>
              </a:ext>
            </a:extLst>
          </p:cNvPr>
          <p:cNvSpPr txBox="1">
            <a:spLocks/>
          </p:cNvSpPr>
          <p:nvPr/>
        </p:nvSpPr>
        <p:spPr>
          <a:xfrm>
            <a:off x="224564" y="1"/>
            <a:ext cx="9049732" cy="527901"/>
          </a:xfrm>
          <a:prstGeom prst="rect">
            <a:avLst/>
          </a:prstGeom>
        </p:spPr>
        <p:txBody>
          <a:bodyPr vert="horz" lIns="45720" tIns="73152" rIns="45720" bIns="45720" rtlCol="0" anchor="b" anchorCtr="0">
            <a:normAutofit lnSpcReduction="10000"/>
          </a:bodyPr>
          <a:lstStyle>
            <a:lvl1pPr marL="0" indent="0" algn="ctr" defTabSz="900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5000"/>
              <a:buFont typeface="Arial" panose="020B0604020202020204" pitchFamily="34" charset="0"/>
              <a:buNone/>
              <a:tabLst>
                <a:tab pos="179388" algn="l"/>
              </a:tabLst>
              <a:defRPr sz="2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00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Calibri" panose="020F0502020204030204" pitchFamily="34" charset="0"/>
              <a:buChar char="○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144000" algn="l" defTabSz="900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000" indent="-144000" algn="l" defTabSz="900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›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108000" algn="l" defTabSz="900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r>
              <a:rPr lang="en-ID" b="1" dirty="0">
                <a:solidFill>
                  <a:schemeClr val="bg1"/>
                </a:solidFill>
              </a:rPr>
              <a:t>3. </a:t>
            </a:r>
            <a:r>
              <a:rPr lang="en-ID" b="1" dirty="0" err="1">
                <a:solidFill>
                  <a:schemeClr val="bg1"/>
                </a:solidFill>
              </a:rPr>
              <a:t>Bentuk</a:t>
            </a:r>
            <a:r>
              <a:rPr lang="en-ID" b="1" dirty="0">
                <a:solidFill>
                  <a:schemeClr val="bg1"/>
                </a:solidFill>
              </a:rPr>
              <a:t> dan </a:t>
            </a:r>
            <a:r>
              <a:rPr lang="en-ID" b="1" dirty="0" err="1">
                <a:solidFill>
                  <a:schemeClr val="bg1"/>
                </a:solidFill>
              </a:rPr>
              <a:t>Pemasangan</a:t>
            </a:r>
            <a:r>
              <a:rPr lang="en-ID" b="1" dirty="0">
                <a:solidFill>
                  <a:schemeClr val="bg1"/>
                </a:solidFill>
              </a:rPr>
              <a:t> Alat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D8E6E58-29DB-9641-09F0-4A2C61940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D74A4E-E77A-7680-8DEC-B5D16BD8C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052" y="3925456"/>
            <a:ext cx="1531323" cy="11491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C2FA32-CA7D-3E32-F8DE-7382CFE199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2431" y="2735820"/>
            <a:ext cx="4740515" cy="14790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32289F3-7172-1BF7-5199-6BBB6BBFA0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2431" y="1038914"/>
            <a:ext cx="4740515" cy="170351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C4C8D05-3B6E-C33C-E7EA-BC38AEC639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053" y="5244506"/>
            <a:ext cx="1531322" cy="114915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77162F7-11D9-224E-B7FA-462E3C3FCA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826" y="2307237"/>
            <a:ext cx="567400" cy="90016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68F46BE-3FE4-6CB0-1611-AFBED0B355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410" y="1038915"/>
            <a:ext cx="956738" cy="170351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D49C238-1A97-F32E-3AB3-C9178E52BE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901" y="1048939"/>
            <a:ext cx="1017696" cy="169348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C55371A-DFAB-9BC5-5813-0E3A60E3F9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0" y="1038916"/>
            <a:ext cx="1279987" cy="170351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A5E74FB-1039-0910-F2ED-0497071E0FE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22" y="3842670"/>
            <a:ext cx="1664344" cy="1128668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3AA9AAD2-481F-672D-CDE2-9556421C4D5E}"/>
              </a:ext>
            </a:extLst>
          </p:cNvPr>
          <p:cNvSpPr/>
          <p:nvPr/>
        </p:nvSpPr>
        <p:spPr>
          <a:xfrm>
            <a:off x="96602" y="992876"/>
            <a:ext cx="1406433" cy="27462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6B8FCAC-9DAC-EB38-D5BD-4DFC43003EBC}"/>
              </a:ext>
            </a:extLst>
          </p:cNvPr>
          <p:cNvSpPr/>
          <p:nvPr/>
        </p:nvSpPr>
        <p:spPr>
          <a:xfrm>
            <a:off x="1543758" y="992875"/>
            <a:ext cx="1111307" cy="27462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F96D4FC-DE5B-FD3A-E9EE-C3886455D674}"/>
              </a:ext>
            </a:extLst>
          </p:cNvPr>
          <p:cNvSpPr/>
          <p:nvPr/>
        </p:nvSpPr>
        <p:spPr>
          <a:xfrm>
            <a:off x="2707484" y="992874"/>
            <a:ext cx="4427740" cy="27462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4F0A26DE-F532-1BA3-FA17-231F19D9451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7" y="5231998"/>
            <a:ext cx="1746735" cy="1174172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7BB92BE-17EA-E378-3D32-6A39B292ACC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43475" y="1062296"/>
            <a:ext cx="3096874" cy="16567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F0E03A28-4D79-59D6-AEFB-CD31C1ADA822}"/>
              </a:ext>
            </a:extLst>
          </p:cNvPr>
          <p:cNvSpPr/>
          <p:nvPr/>
        </p:nvSpPr>
        <p:spPr>
          <a:xfrm>
            <a:off x="96602" y="3795156"/>
            <a:ext cx="3428796" cy="27066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E948C78B-1087-D2F6-47A0-53983472D091}"/>
              </a:ext>
            </a:extLst>
          </p:cNvPr>
          <p:cNvSpPr/>
          <p:nvPr/>
        </p:nvSpPr>
        <p:spPr>
          <a:xfrm>
            <a:off x="3930838" y="1661873"/>
            <a:ext cx="156702" cy="45759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DCD9E4DE-6C4D-422F-B00A-B186145CD38F}"/>
              </a:ext>
            </a:extLst>
          </p:cNvPr>
          <p:cNvSpPr/>
          <p:nvPr/>
        </p:nvSpPr>
        <p:spPr>
          <a:xfrm rot="5400000">
            <a:off x="715312" y="4896663"/>
            <a:ext cx="156702" cy="45759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B83B2E3-6674-7F2E-37C4-7D13F175BE9B}"/>
              </a:ext>
            </a:extLst>
          </p:cNvPr>
          <p:cNvSpPr/>
          <p:nvPr/>
        </p:nvSpPr>
        <p:spPr>
          <a:xfrm>
            <a:off x="3571219" y="3795155"/>
            <a:ext cx="3564005" cy="27066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DAB120F-A424-D807-3D31-C632079F533C}"/>
              </a:ext>
            </a:extLst>
          </p:cNvPr>
          <p:cNvSpPr/>
          <p:nvPr/>
        </p:nvSpPr>
        <p:spPr>
          <a:xfrm>
            <a:off x="7181045" y="992873"/>
            <a:ext cx="4909727" cy="55089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86090949-6270-08FC-EF5F-8B31A21C6FAE}"/>
              </a:ext>
            </a:extLst>
          </p:cNvPr>
          <p:cNvSpPr/>
          <p:nvPr/>
        </p:nvSpPr>
        <p:spPr>
          <a:xfrm>
            <a:off x="10662703" y="1890670"/>
            <a:ext cx="469039" cy="478517"/>
          </a:xfrm>
          <a:prstGeom prst="flowChartConnector">
            <a:avLst/>
          </a:prstGeom>
          <a:noFill/>
          <a:ln w="19050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480C0BB-1AD6-B0BC-CE07-A860006F404B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9720226" y="2211713"/>
            <a:ext cx="981403" cy="545605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7B34985B-D958-40F1-B7E0-76D19223C6FF}"/>
              </a:ext>
            </a:extLst>
          </p:cNvPr>
          <p:cNvSpPr/>
          <p:nvPr/>
        </p:nvSpPr>
        <p:spPr>
          <a:xfrm>
            <a:off x="4087540" y="4074619"/>
            <a:ext cx="451409" cy="8967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FC55F4C-9CA3-D795-65AF-93EA1279507F}"/>
              </a:ext>
            </a:extLst>
          </p:cNvPr>
          <p:cNvSpPr/>
          <p:nvPr/>
        </p:nvSpPr>
        <p:spPr>
          <a:xfrm>
            <a:off x="8921870" y="2274189"/>
            <a:ext cx="1125290" cy="1527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Box Sensor Suara</a:t>
            </a:r>
            <a:endParaRPr lang="en-ID" sz="900" dirty="0"/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9095F955-88F2-E02A-EA31-2F7E6594462F}"/>
              </a:ext>
            </a:extLst>
          </p:cNvPr>
          <p:cNvSpPr/>
          <p:nvPr/>
        </p:nvSpPr>
        <p:spPr>
          <a:xfrm>
            <a:off x="9720227" y="2834158"/>
            <a:ext cx="1605114" cy="1158435"/>
          </a:xfrm>
          <a:prstGeom prst="flowChartConnector">
            <a:avLst/>
          </a:prstGeom>
          <a:noFill/>
          <a:ln w="28575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903B9FB-3562-873B-E059-1934982E7F55}"/>
              </a:ext>
            </a:extLst>
          </p:cNvPr>
          <p:cNvSpPr/>
          <p:nvPr/>
        </p:nvSpPr>
        <p:spPr>
          <a:xfrm>
            <a:off x="10553700" y="4066093"/>
            <a:ext cx="1432935" cy="16523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Current Transformer</a:t>
            </a:r>
            <a:endParaRPr lang="en-ID" sz="900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0BFC862-EA73-CFA3-6304-5C3FCDA656DA}"/>
              </a:ext>
            </a:extLst>
          </p:cNvPr>
          <p:cNvCxnSpPr>
            <a:cxnSpLocks/>
          </p:cNvCxnSpPr>
          <p:nvPr/>
        </p:nvCxnSpPr>
        <p:spPr>
          <a:xfrm flipH="1" flipV="1">
            <a:off x="11125997" y="3780700"/>
            <a:ext cx="330646" cy="285393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84A0FBA0-6854-8DD7-FE21-59241B46DE4D}"/>
              </a:ext>
            </a:extLst>
          </p:cNvPr>
          <p:cNvSpPr/>
          <p:nvPr/>
        </p:nvSpPr>
        <p:spPr>
          <a:xfrm>
            <a:off x="7766050" y="3098800"/>
            <a:ext cx="1155820" cy="696355"/>
          </a:xfrm>
          <a:prstGeom prst="rect">
            <a:avLst/>
          </a:prstGeom>
          <a:noFill/>
          <a:ln w="19050">
            <a:solidFill>
              <a:srgbClr val="FFFF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1AB32F2-D781-AD64-F09A-850AB9B335AB}"/>
              </a:ext>
            </a:extLst>
          </p:cNvPr>
          <p:cNvCxnSpPr>
            <a:cxnSpLocks/>
          </p:cNvCxnSpPr>
          <p:nvPr/>
        </p:nvCxnSpPr>
        <p:spPr>
          <a:xfrm flipV="1">
            <a:off x="7612279" y="3810722"/>
            <a:ext cx="190484" cy="173964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3471233F-5353-23F6-887A-882899415360}"/>
              </a:ext>
            </a:extLst>
          </p:cNvPr>
          <p:cNvSpPr/>
          <p:nvPr/>
        </p:nvSpPr>
        <p:spPr>
          <a:xfrm>
            <a:off x="7331859" y="3969726"/>
            <a:ext cx="1432935" cy="16523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Box Sensor Daya</a:t>
            </a:r>
            <a:endParaRPr lang="en-ID" sz="9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3F41204-B27D-3F67-FD40-02B192981B99}"/>
              </a:ext>
            </a:extLst>
          </p:cNvPr>
          <p:cNvSpPr/>
          <p:nvPr/>
        </p:nvSpPr>
        <p:spPr>
          <a:xfrm>
            <a:off x="4083973" y="5370724"/>
            <a:ext cx="451409" cy="5609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650AB084-EC12-C13B-A768-B296D6069022}"/>
              </a:ext>
            </a:extLst>
          </p:cNvPr>
          <p:cNvCxnSpPr>
            <a:cxnSpLocks/>
          </p:cNvCxnSpPr>
          <p:nvPr/>
        </p:nvCxnSpPr>
        <p:spPr>
          <a:xfrm>
            <a:off x="4535382" y="4148712"/>
            <a:ext cx="662826" cy="12700"/>
          </a:xfrm>
          <a:prstGeom prst="bent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EEE9CAAF-0899-2749-D03A-17F85888A125}"/>
              </a:ext>
            </a:extLst>
          </p:cNvPr>
          <p:cNvCxnSpPr>
            <a:cxnSpLocks/>
          </p:cNvCxnSpPr>
          <p:nvPr/>
        </p:nvCxnSpPr>
        <p:spPr>
          <a:xfrm>
            <a:off x="4521625" y="5415539"/>
            <a:ext cx="662826" cy="12700"/>
          </a:xfrm>
          <a:prstGeom prst="bent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21403CF1-B502-1E0F-7B7A-7E4E966EAF7C}"/>
              </a:ext>
            </a:extLst>
          </p:cNvPr>
          <p:cNvSpPr txBox="1"/>
          <p:nvPr/>
        </p:nvSpPr>
        <p:spPr>
          <a:xfrm>
            <a:off x="112518" y="2774099"/>
            <a:ext cx="14695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Tampilan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dalam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Box Sensor Suara INMP441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66E034F-953B-2193-D9E6-17B7B62233B4}"/>
              </a:ext>
            </a:extLst>
          </p:cNvPr>
          <p:cNvSpPr txBox="1"/>
          <p:nvPr/>
        </p:nvSpPr>
        <p:spPr>
          <a:xfrm>
            <a:off x="2769452" y="2806921"/>
            <a:ext cx="42708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Tampilan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dalam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Box Node Sensor dan Wiring Diagram</a:t>
            </a:r>
            <a:br>
              <a:rPr lang="en-ID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ID" sz="1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Menunjukkan</a:t>
            </a:r>
            <a:r>
              <a:rPr lang="en-ID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susunan</a:t>
            </a:r>
            <a:r>
              <a:rPr lang="en-ID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perangkat</a:t>
            </a:r>
            <a:r>
              <a:rPr lang="en-ID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dan </a:t>
            </a:r>
            <a:r>
              <a:rPr lang="en-ID" sz="1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koneksi</a:t>
            </a:r>
            <a:r>
              <a:rPr lang="en-ID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sensor pada </a:t>
            </a:r>
            <a:r>
              <a:rPr lang="en-ID" sz="1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sistem</a:t>
            </a:r>
            <a:r>
              <a:rPr lang="en-ID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pemantauan</a:t>
            </a:r>
            <a:r>
              <a:rPr lang="en-ID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motor.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43A5FFE-50A5-5F7F-9791-ECC6FBCAF3A2}"/>
              </a:ext>
            </a:extLst>
          </p:cNvPr>
          <p:cNvSpPr txBox="1"/>
          <p:nvPr/>
        </p:nvSpPr>
        <p:spPr>
          <a:xfrm>
            <a:off x="1577919" y="2770614"/>
            <a:ext cx="11859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Tampilan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dalam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Box Sensor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Suhu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dan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Getaran</a:t>
            </a:r>
            <a:endParaRPr lang="en-ID" sz="12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51FA133-A777-6596-A443-E482E642E35C}"/>
              </a:ext>
            </a:extLst>
          </p:cNvPr>
          <p:cNvSpPr txBox="1"/>
          <p:nvPr/>
        </p:nvSpPr>
        <p:spPr>
          <a:xfrm>
            <a:off x="1858903" y="4002076"/>
            <a:ext cx="161721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Tampilan</a:t>
            </a:r>
            <a:r>
              <a:rPr lang="en-ID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Box Sensor Daya dan Wiring Diagram</a:t>
            </a:r>
            <a:br>
              <a:rPr lang="en-ID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ID" sz="1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Menunjukkan</a:t>
            </a:r>
            <a:r>
              <a:rPr lang="en-ID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rangkaian</a:t>
            </a:r>
            <a:r>
              <a:rPr lang="en-ID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sensor PZEM-004T dan </a:t>
            </a:r>
            <a:r>
              <a:rPr lang="en-ID" sz="1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koneksi</a:t>
            </a:r>
            <a:r>
              <a:rPr lang="en-ID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pengukuran</a:t>
            </a:r>
            <a:r>
              <a:rPr lang="en-ID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daya</a:t>
            </a:r>
            <a:r>
              <a:rPr lang="en-ID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motor.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726F10F-1157-2D32-9012-7A59169D8FE0}"/>
              </a:ext>
            </a:extLst>
          </p:cNvPr>
          <p:cNvSpPr txBox="1"/>
          <p:nvPr/>
        </p:nvSpPr>
        <p:spPr>
          <a:xfrm>
            <a:off x="5244029" y="4015146"/>
            <a:ext cx="18288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200" b="1" dirty="0" err="1">
                <a:highlight>
                  <a:srgbClr val="FFFF00"/>
                </a:highlight>
              </a:rPr>
              <a:t>Pemasangan</a:t>
            </a:r>
            <a:r>
              <a:rPr lang="en-ID" sz="1200" b="1" dirty="0">
                <a:highlight>
                  <a:srgbClr val="FFFF00"/>
                </a:highlight>
              </a:rPr>
              <a:t> Box Node Sensor di </a:t>
            </a:r>
            <a:r>
              <a:rPr lang="en-ID" sz="1200" b="1" dirty="0" err="1">
                <a:highlight>
                  <a:srgbClr val="FFFF00"/>
                </a:highlight>
              </a:rPr>
              <a:t>Samping</a:t>
            </a:r>
            <a:r>
              <a:rPr lang="en-ID" sz="1200" b="1" dirty="0">
                <a:highlight>
                  <a:srgbClr val="FFFF00"/>
                </a:highlight>
              </a:rPr>
              <a:t> Panel Utama Motor Shakeout </a:t>
            </a:r>
            <a:r>
              <a:rPr lang="en-ID" sz="1200" b="1" dirty="0" err="1">
                <a:highlight>
                  <a:srgbClr val="FFFF00"/>
                </a:highlight>
              </a:rPr>
              <a:t>Reguler</a:t>
            </a:r>
            <a:endParaRPr lang="en-ID" sz="1200" b="1" dirty="0">
              <a:highlight>
                <a:srgbClr val="FFFF00"/>
              </a:highlight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8DCBC49-010C-77E1-F200-AF9EC4BDD359}"/>
              </a:ext>
            </a:extLst>
          </p:cNvPr>
          <p:cNvSpPr txBox="1"/>
          <p:nvPr/>
        </p:nvSpPr>
        <p:spPr>
          <a:xfrm>
            <a:off x="5211525" y="5287872"/>
            <a:ext cx="1828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200" b="1" dirty="0" err="1">
                <a:highlight>
                  <a:srgbClr val="FFFF00"/>
                </a:highlight>
              </a:rPr>
              <a:t>Pemasangan</a:t>
            </a:r>
            <a:r>
              <a:rPr lang="en-ID" sz="1200" b="1" dirty="0">
                <a:highlight>
                  <a:srgbClr val="FFFF00"/>
                </a:highlight>
              </a:rPr>
              <a:t> Box Edge Gateway di Meja Ruang Maintenance Foundry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71A45DE-3AC0-1D19-3021-98B46DC62B79}"/>
              </a:ext>
            </a:extLst>
          </p:cNvPr>
          <p:cNvSpPr txBox="1"/>
          <p:nvPr/>
        </p:nvSpPr>
        <p:spPr>
          <a:xfrm>
            <a:off x="7196374" y="4235030"/>
            <a:ext cx="484224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b="1" dirty="0">
                <a:highlight>
                  <a:srgbClr val="FFFF00"/>
                </a:highlight>
              </a:rPr>
              <a:t>Thermocouple Type-K </a:t>
            </a:r>
            <a:r>
              <a:rPr lang="en-ID" sz="1400" b="1" dirty="0" err="1">
                <a:highlight>
                  <a:srgbClr val="FFFF00"/>
                </a:highlight>
              </a:rPr>
              <a:t>dipasang</a:t>
            </a:r>
            <a:r>
              <a:rPr lang="en-ID" sz="1400" b="1" dirty="0">
                <a:highlight>
                  <a:srgbClr val="FFFF00"/>
                </a:highlight>
              </a:rPr>
              <a:t> pada </a:t>
            </a:r>
            <a:r>
              <a:rPr lang="en-ID" sz="1400" b="1" i="1" dirty="0">
                <a:highlight>
                  <a:srgbClr val="FFFF00"/>
                </a:highlight>
              </a:rPr>
              <a:t>bearing housing</a:t>
            </a:r>
            <a:r>
              <a:rPr lang="en-ID" sz="1400" b="1" dirty="0">
                <a:highlight>
                  <a:srgbClr val="FFFF00"/>
                </a:highlight>
              </a:rPr>
              <a:t> </a:t>
            </a:r>
            <a:r>
              <a:rPr lang="en-ID" sz="1400" b="1" dirty="0" err="1">
                <a:highlight>
                  <a:srgbClr val="FFFF00"/>
                </a:highlight>
              </a:rPr>
              <a:t>menggunakan</a:t>
            </a:r>
            <a:r>
              <a:rPr lang="en-ID" sz="1400" b="1" dirty="0">
                <a:highlight>
                  <a:srgbClr val="FFFF00"/>
                </a:highlight>
              </a:rPr>
              <a:t> </a:t>
            </a:r>
            <a:r>
              <a:rPr lang="en-ID" sz="1400" b="1" dirty="0" err="1">
                <a:highlight>
                  <a:srgbClr val="FFFF00"/>
                </a:highlight>
              </a:rPr>
              <a:t>dodol</a:t>
            </a:r>
            <a:r>
              <a:rPr lang="en-ID" sz="1400" b="1" dirty="0">
                <a:highlight>
                  <a:srgbClr val="FFFF00"/>
                </a:highlight>
              </a:rPr>
              <a:t> </a:t>
            </a:r>
            <a:r>
              <a:rPr lang="en-ID" sz="1400" b="1" dirty="0" err="1">
                <a:highlight>
                  <a:srgbClr val="FFFF00"/>
                </a:highlight>
              </a:rPr>
              <a:t>sebagai</a:t>
            </a:r>
            <a:r>
              <a:rPr lang="en-ID" sz="1400" b="1" dirty="0">
                <a:highlight>
                  <a:srgbClr val="FFFF00"/>
                </a:highlight>
              </a:rPr>
              <a:t> </a:t>
            </a:r>
            <a:r>
              <a:rPr lang="en-ID" sz="1400" b="1" dirty="0" err="1">
                <a:highlight>
                  <a:srgbClr val="FFFF00"/>
                </a:highlight>
              </a:rPr>
              <a:t>perekat</a:t>
            </a:r>
            <a:r>
              <a:rPr lang="en-ID" sz="1400" b="1" dirty="0">
                <a:highlight>
                  <a:srgbClr val="FFFF00"/>
                </a:highlight>
              </a:rPr>
              <a:t>, </a:t>
            </a:r>
            <a:r>
              <a:rPr lang="en-ID" sz="1400" b="1" dirty="0" err="1">
                <a:highlight>
                  <a:srgbClr val="FFFF00"/>
                </a:highlight>
              </a:rPr>
              <a:t>sedangkan</a:t>
            </a:r>
            <a:r>
              <a:rPr lang="en-ID" sz="1400" b="1" dirty="0">
                <a:highlight>
                  <a:srgbClr val="FFFF00"/>
                </a:highlight>
              </a:rPr>
              <a:t> Piezo Film </a:t>
            </a:r>
            <a:r>
              <a:rPr lang="en-ID" sz="1400" b="1" dirty="0" err="1">
                <a:highlight>
                  <a:srgbClr val="FFFF00"/>
                </a:highlight>
              </a:rPr>
              <a:t>ditempelkan</a:t>
            </a:r>
            <a:r>
              <a:rPr lang="en-ID" sz="1400" b="1" dirty="0">
                <a:highlight>
                  <a:srgbClr val="FFFF00"/>
                </a:highlight>
              </a:rPr>
              <a:t> pada </a:t>
            </a:r>
            <a:r>
              <a:rPr lang="en-ID" sz="1400" b="1" dirty="0" err="1">
                <a:highlight>
                  <a:srgbClr val="FFFF00"/>
                </a:highlight>
              </a:rPr>
              <a:t>bidang</a:t>
            </a:r>
            <a:r>
              <a:rPr lang="en-ID" sz="1400" b="1" dirty="0">
                <a:highlight>
                  <a:srgbClr val="FFFF00"/>
                </a:highlight>
              </a:rPr>
              <a:t> </a:t>
            </a:r>
            <a:r>
              <a:rPr lang="en-ID" sz="1400" b="1" dirty="0" err="1">
                <a:highlight>
                  <a:srgbClr val="FFFF00"/>
                </a:highlight>
              </a:rPr>
              <a:t>datar</a:t>
            </a:r>
            <a:r>
              <a:rPr lang="en-ID" sz="1400" b="1" dirty="0">
                <a:highlight>
                  <a:srgbClr val="FFFF00"/>
                </a:highlight>
              </a:rPr>
              <a:t> motor </a:t>
            </a:r>
            <a:r>
              <a:rPr lang="en-ID" sz="1400" b="1" dirty="0" err="1">
                <a:highlight>
                  <a:srgbClr val="FFFF00"/>
                </a:highlight>
              </a:rPr>
              <a:t>menggunakan</a:t>
            </a:r>
            <a:r>
              <a:rPr lang="en-ID" sz="1400" b="1" dirty="0">
                <a:highlight>
                  <a:srgbClr val="FFFF00"/>
                </a:highlight>
              </a:rPr>
              <a:t> silent. Sensor </a:t>
            </a:r>
            <a:r>
              <a:rPr lang="en-ID" sz="1400" b="1" dirty="0" err="1">
                <a:highlight>
                  <a:srgbClr val="FFFF00"/>
                </a:highlight>
              </a:rPr>
              <a:t>suara</a:t>
            </a:r>
            <a:r>
              <a:rPr lang="en-ID" sz="1400" b="1" dirty="0">
                <a:highlight>
                  <a:srgbClr val="FFFF00"/>
                </a:highlight>
              </a:rPr>
              <a:t> INMP441 </a:t>
            </a:r>
            <a:r>
              <a:rPr lang="en-ID" sz="1400" b="1" dirty="0" err="1">
                <a:highlight>
                  <a:srgbClr val="FFFF00"/>
                </a:highlight>
              </a:rPr>
              <a:t>dipasang</a:t>
            </a:r>
            <a:r>
              <a:rPr lang="en-ID" sz="1400" b="1" dirty="0">
                <a:highlight>
                  <a:srgbClr val="FFFF00"/>
                </a:highlight>
              </a:rPr>
              <a:t> pada panel </a:t>
            </a:r>
            <a:r>
              <a:rPr lang="en-ID" sz="1400" b="1" dirty="0" err="1">
                <a:highlight>
                  <a:srgbClr val="FFFF00"/>
                </a:highlight>
              </a:rPr>
              <a:t>kecil</a:t>
            </a:r>
            <a:r>
              <a:rPr lang="en-ID" sz="1400" b="1" dirty="0">
                <a:highlight>
                  <a:srgbClr val="FFFF00"/>
                </a:highlight>
              </a:rPr>
              <a:t> di </a:t>
            </a:r>
            <a:r>
              <a:rPr lang="en-ID" sz="1400" b="1" dirty="0" err="1">
                <a:highlight>
                  <a:srgbClr val="FFFF00"/>
                </a:highlight>
              </a:rPr>
              <a:t>samping</a:t>
            </a:r>
            <a:r>
              <a:rPr lang="en-ID" sz="1400" b="1" dirty="0">
                <a:highlight>
                  <a:srgbClr val="FFFF00"/>
                </a:highlight>
              </a:rPr>
              <a:t> motor dan </a:t>
            </a:r>
            <a:r>
              <a:rPr lang="en-ID" sz="1400" b="1" dirty="0" err="1">
                <a:highlight>
                  <a:srgbClr val="FFFF00"/>
                </a:highlight>
              </a:rPr>
              <a:t>diarahkan</a:t>
            </a:r>
            <a:r>
              <a:rPr lang="en-ID" sz="1400" b="1" dirty="0">
                <a:highlight>
                  <a:srgbClr val="FFFF00"/>
                </a:highlight>
              </a:rPr>
              <a:t> </a:t>
            </a:r>
            <a:r>
              <a:rPr lang="en-ID" sz="1400" b="1" dirty="0" err="1">
                <a:highlight>
                  <a:srgbClr val="FFFF00"/>
                </a:highlight>
              </a:rPr>
              <a:t>ke</a:t>
            </a:r>
            <a:r>
              <a:rPr lang="en-ID" sz="1400" b="1" dirty="0">
                <a:highlight>
                  <a:srgbClr val="FFFF00"/>
                </a:highlight>
              </a:rPr>
              <a:t> motor. Box sensor </a:t>
            </a:r>
            <a:r>
              <a:rPr lang="en-ID" sz="1400" b="1" dirty="0" err="1">
                <a:highlight>
                  <a:srgbClr val="FFFF00"/>
                </a:highlight>
              </a:rPr>
              <a:t>daya</a:t>
            </a:r>
            <a:r>
              <a:rPr lang="en-ID" sz="1400" b="1" dirty="0">
                <a:highlight>
                  <a:srgbClr val="FFFF00"/>
                </a:highlight>
              </a:rPr>
              <a:t> </a:t>
            </a:r>
            <a:r>
              <a:rPr lang="en-ID" sz="1400" b="1" dirty="0" err="1">
                <a:highlight>
                  <a:srgbClr val="FFFF00"/>
                </a:highlight>
              </a:rPr>
              <a:t>ditempatkan</a:t>
            </a:r>
            <a:r>
              <a:rPr lang="en-ID" sz="1400" b="1" dirty="0">
                <a:highlight>
                  <a:srgbClr val="FFFF00"/>
                </a:highlight>
              </a:rPr>
              <a:t> di </a:t>
            </a:r>
            <a:r>
              <a:rPr lang="en-ID" sz="1400" b="1" dirty="0" err="1">
                <a:highlight>
                  <a:srgbClr val="FFFF00"/>
                </a:highlight>
              </a:rPr>
              <a:t>dasar</a:t>
            </a:r>
            <a:r>
              <a:rPr lang="en-ID" sz="1400" b="1" dirty="0">
                <a:highlight>
                  <a:srgbClr val="FFFF00"/>
                </a:highlight>
              </a:rPr>
              <a:t> panel </a:t>
            </a:r>
            <a:r>
              <a:rPr lang="en-ID" sz="1400" b="1" dirty="0" err="1">
                <a:highlight>
                  <a:srgbClr val="FFFF00"/>
                </a:highlight>
              </a:rPr>
              <a:t>mesin</a:t>
            </a:r>
            <a:r>
              <a:rPr lang="en-ID" sz="1400" b="1" dirty="0">
                <a:highlight>
                  <a:srgbClr val="FFFF00"/>
                </a:highlight>
              </a:rPr>
              <a:t>, </a:t>
            </a:r>
            <a:r>
              <a:rPr lang="en-ID" sz="1400" b="1" dirty="0" err="1">
                <a:highlight>
                  <a:srgbClr val="FFFF00"/>
                </a:highlight>
              </a:rPr>
              <a:t>dengan</a:t>
            </a:r>
            <a:r>
              <a:rPr lang="en-ID" sz="1400" b="1" dirty="0">
                <a:highlight>
                  <a:srgbClr val="FFFF00"/>
                </a:highlight>
              </a:rPr>
              <a:t> </a:t>
            </a:r>
            <a:r>
              <a:rPr lang="en-ID" sz="1400" b="1" i="1" dirty="0">
                <a:highlight>
                  <a:srgbClr val="FFFF00"/>
                </a:highlight>
              </a:rPr>
              <a:t>Open Current Transformer</a:t>
            </a:r>
            <a:r>
              <a:rPr lang="en-ID" sz="1400" b="1" dirty="0">
                <a:highlight>
                  <a:srgbClr val="FFFF00"/>
                </a:highlight>
              </a:rPr>
              <a:t> (CT) di-</a:t>
            </a:r>
            <a:r>
              <a:rPr lang="en-ID" sz="1400" b="1" i="1" dirty="0">
                <a:highlight>
                  <a:srgbClr val="FFFF00"/>
                </a:highlight>
              </a:rPr>
              <a:t>clamp</a:t>
            </a:r>
            <a:r>
              <a:rPr lang="en-ID" sz="1400" b="1" dirty="0">
                <a:highlight>
                  <a:srgbClr val="FFFF00"/>
                </a:highlight>
              </a:rPr>
              <a:t> pada </a:t>
            </a:r>
            <a:r>
              <a:rPr lang="en-ID" sz="1400" b="1" dirty="0" err="1">
                <a:highlight>
                  <a:srgbClr val="FFFF00"/>
                </a:highlight>
              </a:rPr>
              <a:t>jalur</a:t>
            </a:r>
            <a:r>
              <a:rPr lang="en-ID" sz="1400" b="1" dirty="0">
                <a:highlight>
                  <a:srgbClr val="FFFF00"/>
                </a:highlight>
              </a:rPr>
              <a:t> R, S, dan T, </a:t>
            </a:r>
            <a:r>
              <a:rPr lang="en-ID" sz="1400" b="1" dirty="0" err="1">
                <a:highlight>
                  <a:srgbClr val="FFFF00"/>
                </a:highlight>
              </a:rPr>
              <a:t>sementara</a:t>
            </a:r>
            <a:r>
              <a:rPr lang="en-ID" sz="1400" b="1" dirty="0">
                <a:highlight>
                  <a:srgbClr val="FFFF00"/>
                </a:highlight>
              </a:rPr>
              <a:t> box </a:t>
            </a:r>
            <a:r>
              <a:rPr lang="en-ID" sz="1400" b="1" dirty="0" err="1">
                <a:highlight>
                  <a:srgbClr val="FFFF00"/>
                </a:highlight>
              </a:rPr>
              <a:t>modul</a:t>
            </a:r>
            <a:r>
              <a:rPr lang="en-ID" sz="1400" b="1" dirty="0">
                <a:highlight>
                  <a:srgbClr val="FFFF00"/>
                </a:highlight>
              </a:rPr>
              <a:t> </a:t>
            </a:r>
            <a:r>
              <a:rPr lang="en-ID" sz="1400" b="1" dirty="0" err="1">
                <a:highlight>
                  <a:srgbClr val="FFFF00"/>
                </a:highlight>
              </a:rPr>
              <a:t>suhu</a:t>
            </a:r>
            <a:r>
              <a:rPr lang="en-ID" sz="1400" b="1" dirty="0">
                <a:highlight>
                  <a:srgbClr val="FFFF00"/>
                </a:highlight>
              </a:rPr>
              <a:t> dan </a:t>
            </a:r>
            <a:r>
              <a:rPr lang="en-ID" sz="1400" b="1" dirty="0" err="1">
                <a:highlight>
                  <a:srgbClr val="FFFF00"/>
                </a:highlight>
              </a:rPr>
              <a:t>getaran</a:t>
            </a:r>
            <a:r>
              <a:rPr lang="en-ID" sz="1400" b="1" dirty="0">
                <a:highlight>
                  <a:srgbClr val="FFFF00"/>
                </a:highlight>
              </a:rPr>
              <a:t> </a:t>
            </a:r>
            <a:r>
              <a:rPr lang="en-ID" sz="1400" b="1" dirty="0" err="1">
                <a:highlight>
                  <a:srgbClr val="FFFF00"/>
                </a:highlight>
              </a:rPr>
              <a:t>dipasang</a:t>
            </a:r>
            <a:r>
              <a:rPr lang="en-ID" sz="1400" b="1" dirty="0">
                <a:highlight>
                  <a:srgbClr val="FFFF00"/>
                </a:highlight>
              </a:rPr>
              <a:t> di </a:t>
            </a:r>
            <a:r>
              <a:rPr lang="en-ID" sz="1400" b="1" dirty="0" err="1">
                <a:highlight>
                  <a:srgbClr val="FFFF00"/>
                </a:highlight>
              </a:rPr>
              <a:t>bagian</a:t>
            </a:r>
            <a:r>
              <a:rPr lang="en-ID" sz="1400" b="1" dirty="0">
                <a:highlight>
                  <a:srgbClr val="FFFF00"/>
                </a:highlight>
              </a:rPr>
              <a:t> </a:t>
            </a:r>
            <a:r>
              <a:rPr lang="en-ID" sz="1400" b="1" dirty="0" err="1">
                <a:highlight>
                  <a:srgbClr val="FFFF00"/>
                </a:highlight>
              </a:rPr>
              <a:t>atas</a:t>
            </a:r>
            <a:r>
              <a:rPr lang="en-ID" sz="1400" b="1" dirty="0">
                <a:highlight>
                  <a:srgbClr val="FFFF00"/>
                </a:highlight>
              </a:rPr>
              <a:t> panel di </a:t>
            </a:r>
            <a:r>
              <a:rPr lang="en-ID" sz="1400" b="1" dirty="0" err="1">
                <a:highlight>
                  <a:srgbClr val="FFFF00"/>
                </a:highlight>
              </a:rPr>
              <a:t>samping</a:t>
            </a:r>
            <a:r>
              <a:rPr lang="en-ID" sz="1400" b="1" dirty="0">
                <a:highlight>
                  <a:srgbClr val="FFFF00"/>
                </a:highlight>
              </a:rPr>
              <a:t> motor </a:t>
            </a:r>
            <a:r>
              <a:rPr lang="en-ID" sz="1400" b="1" i="1" dirty="0" err="1">
                <a:highlight>
                  <a:srgbClr val="FFFF00"/>
                </a:highlight>
              </a:rPr>
              <a:t>mainshakeout</a:t>
            </a:r>
            <a:r>
              <a:rPr lang="en-ID" sz="1400" b="1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63F6235-F0E8-36C6-B687-82D03784F79E}"/>
              </a:ext>
            </a:extLst>
          </p:cNvPr>
          <p:cNvSpPr/>
          <p:nvPr/>
        </p:nvSpPr>
        <p:spPr>
          <a:xfrm>
            <a:off x="6528391" y="6571199"/>
            <a:ext cx="4901609" cy="286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72949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60063-2549-A1CA-2BEB-FB80342A0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BA6341-1F20-3303-60C6-1998EA86FC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527901"/>
            <a:ext cx="9144000" cy="448501"/>
          </a:xfrm>
        </p:spPr>
        <p:txBody>
          <a:bodyPr>
            <a:normAutofit/>
          </a:bodyPr>
          <a:lstStyle/>
          <a:p>
            <a:pPr algn="l"/>
            <a:r>
              <a:rPr lang="fi-FI" b="1" dirty="0"/>
              <a:t>1-4 </a:t>
            </a:r>
            <a:r>
              <a:rPr lang="sv-SE" b="1" dirty="0"/>
              <a:t>Monitoring Kondisi Motor dan Peringatan Abnormal</a:t>
            </a:r>
            <a:endParaRPr lang="en-US" b="1" dirty="0">
              <a:latin typeface="+mj-lt"/>
            </a:endParaRP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31011ED-B886-2CBE-C076-1CAE5E5F9391}"/>
              </a:ext>
            </a:extLst>
          </p:cNvPr>
          <p:cNvSpPr txBox="1">
            <a:spLocks/>
          </p:cNvSpPr>
          <p:nvPr/>
        </p:nvSpPr>
        <p:spPr>
          <a:xfrm>
            <a:off x="224564" y="1"/>
            <a:ext cx="9049732" cy="527901"/>
          </a:xfrm>
          <a:prstGeom prst="rect">
            <a:avLst/>
          </a:prstGeom>
        </p:spPr>
        <p:txBody>
          <a:bodyPr vert="horz" lIns="45720" tIns="73152" rIns="45720" bIns="45720" rtlCol="0" anchor="b" anchorCtr="0">
            <a:normAutofit lnSpcReduction="10000"/>
          </a:bodyPr>
          <a:lstStyle>
            <a:lvl1pPr marL="0" indent="0" algn="ctr" defTabSz="900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5000"/>
              <a:buFont typeface="Arial" panose="020B0604020202020204" pitchFamily="34" charset="0"/>
              <a:buNone/>
              <a:tabLst>
                <a:tab pos="179388" algn="l"/>
              </a:tabLst>
              <a:defRPr sz="2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00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Calibri" panose="020F0502020204030204" pitchFamily="34" charset="0"/>
              <a:buChar char="○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144000" algn="l" defTabSz="900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000" indent="-144000" algn="l" defTabSz="900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›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108000" algn="l" defTabSz="900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r>
              <a:rPr lang="en-ID" b="1" dirty="0">
                <a:solidFill>
                  <a:schemeClr val="bg1"/>
                </a:solidFill>
              </a:rPr>
              <a:t>4. Monitoring dan </a:t>
            </a:r>
            <a:r>
              <a:rPr lang="en-ID" b="1" dirty="0" err="1">
                <a:solidFill>
                  <a:schemeClr val="bg1"/>
                </a:solidFill>
              </a:rPr>
              <a:t>Notifikasi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1C076F1-874D-9689-8D9E-FFFE7249A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A90B6D-1F90-5333-54BF-F3E045E99E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548" y="1016101"/>
            <a:ext cx="2254103" cy="25439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E7429C-5AA0-86BD-31EB-DF3880AD70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31" y="976401"/>
            <a:ext cx="4594768" cy="20964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90EA77-0691-F10B-9C78-E6613E4FCE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660"/>
          <a:stretch>
            <a:fillRect/>
          </a:stretch>
        </p:blipFill>
        <p:spPr bwMode="auto">
          <a:xfrm>
            <a:off x="7070651" y="1055802"/>
            <a:ext cx="2133127" cy="2449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BC7565-F4AD-7AC5-ECDD-662D6A235F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8955" y="3678349"/>
            <a:ext cx="4215045" cy="2743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3F83864-EA2E-307C-38E5-781F2609FDC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027"/>
          <a:stretch>
            <a:fillRect/>
          </a:stretch>
        </p:blipFill>
        <p:spPr bwMode="auto">
          <a:xfrm>
            <a:off x="141531" y="3314205"/>
            <a:ext cx="2732071" cy="1624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82367C7-9973-DD69-AEAC-9D57F035020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009" y="3314205"/>
            <a:ext cx="1710984" cy="162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B515F330-C7AA-DFE9-A4E6-55F77923AD8F}"/>
              </a:ext>
            </a:extLst>
          </p:cNvPr>
          <p:cNvSpPr/>
          <p:nvPr/>
        </p:nvSpPr>
        <p:spPr>
          <a:xfrm rot="5400000">
            <a:off x="1413510" y="2961171"/>
            <a:ext cx="156702" cy="45759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1AF3C61-7492-09E9-C586-C4CF261B2573}"/>
              </a:ext>
            </a:extLst>
          </p:cNvPr>
          <p:cNvSpPr/>
          <p:nvPr/>
        </p:nvSpPr>
        <p:spPr>
          <a:xfrm rot="5400000">
            <a:off x="3763150" y="2968650"/>
            <a:ext cx="156702" cy="45759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846D96-AD6F-8906-D7E9-0A1F101683D7}"/>
              </a:ext>
            </a:extLst>
          </p:cNvPr>
          <p:cNvSpPr/>
          <p:nvPr/>
        </p:nvSpPr>
        <p:spPr>
          <a:xfrm>
            <a:off x="29123" y="893135"/>
            <a:ext cx="4787425" cy="5613991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091686-F590-6361-83DB-7CC86DC229C6}"/>
              </a:ext>
            </a:extLst>
          </p:cNvPr>
          <p:cNvSpPr/>
          <p:nvPr/>
        </p:nvSpPr>
        <p:spPr>
          <a:xfrm>
            <a:off x="4892245" y="893135"/>
            <a:ext cx="7158224" cy="2690662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4D7E1E-92E8-14E6-6BB6-C26F0390FAA3}"/>
              </a:ext>
            </a:extLst>
          </p:cNvPr>
          <p:cNvSpPr/>
          <p:nvPr/>
        </p:nvSpPr>
        <p:spPr>
          <a:xfrm>
            <a:off x="4892245" y="3634810"/>
            <a:ext cx="7158224" cy="2872315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13FA3F-9E09-3AB7-0052-25E7F153D2DD}"/>
              </a:ext>
            </a:extLst>
          </p:cNvPr>
          <p:cNvSpPr txBox="1"/>
          <p:nvPr/>
        </p:nvSpPr>
        <p:spPr>
          <a:xfrm>
            <a:off x="40657" y="4984930"/>
            <a:ext cx="478742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Sistem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menyediakan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monitoring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kondisi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motor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secara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real-time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melalui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website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dengan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menampilkan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nilai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getaran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suhu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suara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 dan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daya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dilengkapi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grafik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historis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selama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24 jam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serta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weekly average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dari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Senin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hingga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Jumat. Website juga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menyediakan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fitur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pengaturan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threshold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untuk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setiap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parameter dan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pengaturan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alamat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Gmail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teknisi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yang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berhak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menerima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notifikasi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jika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D" sz="12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terdapat</a:t>
            </a:r>
            <a:r>
              <a:rPr lang="en-ID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abnormal.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0F47E8-ABAA-57BA-E600-1EDAD52846F4}"/>
              </a:ext>
            </a:extLst>
          </p:cNvPr>
          <p:cNvSpPr txBox="1"/>
          <p:nvPr/>
        </p:nvSpPr>
        <p:spPr>
          <a:xfrm>
            <a:off x="9144000" y="3746464"/>
            <a:ext cx="284669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200" b="1" dirty="0">
                <a:highlight>
                  <a:srgbClr val="FFFF00"/>
                </a:highlight>
              </a:rPr>
              <a:t>Pada dashboard monitoring, </a:t>
            </a:r>
            <a:r>
              <a:rPr lang="en-ID" sz="1200" b="1" dirty="0" err="1">
                <a:highlight>
                  <a:srgbClr val="FFFF00"/>
                </a:highlight>
              </a:rPr>
              <a:t>kondisi</a:t>
            </a:r>
            <a:r>
              <a:rPr lang="en-ID" sz="1200" b="1" dirty="0">
                <a:highlight>
                  <a:srgbClr val="FFFF00"/>
                </a:highlight>
              </a:rPr>
              <a:t> abnormal </a:t>
            </a:r>
            <a:r>
              <a:rPr lang="en-ID" sz="1200" b="1" dirty="0" err="1">
                <a:highlight>
                  <a:srgbClr val="FFFF00"/>
                </a:highlight>
              </a:rPr>
              <a:t>ditampilkan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melalui</a:t>
            </a:r>
            <a:r>
              <a:rPr lang="en-ID" sz="1200" b="1" dirty="0">
                <a:highlight>
                  <a:srgbClr val="FFFF00"/>
                </a:highlight>
              </a:rPr>
              <a:t> pop-up </a:t>
            </a:r>
            <a:r>
              <a:rPr lang="en-ID" sz="1200" b="1" dirty="0" err="1">
                <a:highlight>
                  <a:srgbClr val="FFFF00"/>
                </a:highlight>
              </a:rPr>
              <a:t>peringatan</a:t>
            </a:r>
            <a:r>
              <a:rPr lang="en-ID" sz="1200" b="1" dirty="0">
                <a:highlight>
                  <a:srgbClr val="FFFF00"/>
                </a:highlight>
              </a:rPr>
              <a:t> pada </a:t>
            </a:r>
            <a:r>
              <a:rPr lang="en-ID" sz="1200" b="1" dirty="0" err="1">
                <a:highlight>
                  <a:srgbClr val="FFFF00"/>
                </a:highlight>
              </a:rPr>
              <a:t>bagian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kanan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layar</a:t>
            </a:r>
            <a:r>
              <a:rPr lang="en-ID" sz="1200" b="1" dirty="0">
                <a:highlight>
                  <a:srgbClr val="FFFF00"/>
                </a:highlight>
              </a:rPr>
              <a:t>. Pop-up </a:t>
            </a:r>
            <a:r>
              <a:rPr lang="en-ID" sz="1200" b="1" dirty="0" err="1">
                <a:highlight>
                  <a:srgbClr val="FFFF00"/>
                </a:highlight>
              </a:rPr>
              <a:t>akan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muncul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secara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otomatis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ketika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nilai</a:t>
            </a:r>
            <a:r>
              <a:rPr lang="en-ID" sz="1200" b="1" dirty="0">
                <a:highlight>
                  <a:srgbClr val="FFFF00"/>
                </a:highlight>
              </a:rPr>
              <a:t> salah </a:t>
            </a:r>
            <a:r>
              <a:rPr lang="en-ID" sz="1200" b="1" dirty="0" err="1">
                <a:highlight>
                  <a:srgbClr val="FFFF00"/>
                </a:highlight>
              </a:rPr>
              <a:t>satu</a:t>
            </a:r>
            <a:r>
              <a:rPr lang="en-ID" sz="1200" b="1" dirty="0">
                <a:highlight>
                  <a:srgbClr val="FFFF00"/>
                </a:highlight>
              </a:rPr>
              <a:t> parameter, </a:t>
            </a:r>
            <a:r>
              <a:rPr lang="en-ID" sz="1200" b="1" dirty="0" err="1">
                <a:highlight>
                  <a:srgbClr val="FFFF00"/>
                </a:highlight>
              </a:rPr>
              <a:t>seperti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getaran</a:t>
            </a:r>
            <a:r>
              <a:rPr lang="en-ID" sz="1200" b="1" dirty="0">
                <a:highlight>
                  <a:srgbClr val="FFFF00"/>
                </a:highlight>
              </a:rPr>
              <a:t>, </a:t>
            </a:r>
            <a:r>
              <a:rPr lang="en-ID" sz="1200" b="1" dirty="0" err="1">
                <a:highlight>
                  <a:srgbClr val="FFFF00"/>
                </a:highlight>
              </a:rPr>
              <a:t>suhu</a:t>
            </a:r>
            <a:r>
              <a:rPr lang="en-ID" sz="1200" b="1" dirty="0">
                <a:highlight>
                  <a:srgbClr val="FFFF00"/>
                </a:highlight>
              </a:rPr>
              <a:t>, </a:t>
            </a:r>
            <a:r>
              <a:rPr lang="en-ID" sz="1200" b="1" dirty="0" err="1">
                <a:highlight>
                  <a:srgbClr val="FFFF00"/>
                </a:highlight>
              </a:rPr>
              <a:t>suara</a:t>
            </a:r>
            <a:r>
              <a:rPr lang="en-ID" sz="1200" b="1" dirty="0">
                <a:highlight>
                  <a:srgbClr val="FFFF00"/>
                </a:highlight>
              </a:rPr>
              <a:t>, </a:t>
            </a:r>
            <a:r>
              <a:rPr lang="en-ID" sz="1200" b="1" dirty="0" err="1">
                <a:highlight>
                  <a:srgbClr val="FFFF00"/>
                </a:highlight>
              </a:rPr>
              <a:t>atau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daya</a:t>
            </a:r>
            <a:r>
              <a:rPr lang="en-ID" sz="1200" b="1" dirty="0">
                <a:highlight>
                  <a:srgbClr val="FFFF00"/>
                </a:highlight>
              </a:rPr>
              <a:t>, </a:t>
            </a:r>
            <a:r>
              <a:rPr lang="en-ID" sz="1200" b="1" dirty="0" err="1">
                <a:highlight>
                  <a:srgbClr val="FFFF00"/>
                </a:highlight>
              </a:rPr>
              <a:t>melewati</a:t>
            </a:r>
            <a:r>
              <a:rPr lang="en-ID" sz="1200" b="1" dirty="0">
                <a:highlight>
                  <a:srgbClr val="FFFF00"/>
                </a:highlight>
              </a:rPr>
              <a:t> batas yang </a:t>
            </a:r>
            <a:r>
              <a:rPr lang="en-ID" sz="1200" b="1" dirty="0" err="1">
                <a:highlight>
                  <a:srgbClr val="FFFF00"/>
                </a:highlight>
              </a:rPr>
              <a:t>telah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ditentukan</a:t>
            </a:r>
            <a:r>
              <a:rPr lang="en-ID" sz="1200" b="1" dirty="0">
                <a:highlight>
                  <a:srgbClr val="FFFF00"/>
                </a:highlight>
              </a:rPr>
              <a:t>, </a:t>
            </a:r>
            <a:r>
              <a:rPr lang="en-ID" sz="1200" b="1" dirty="0" err="1">
                <a:highlight>
                  <a:srgbClr val="FFFF00"/>
                </a:highlight>
              </a:rPr>
              <a:t>sehingga</a:t>
            </a:r>
            <a:r>
              <a:rPr lang="en-ID" sz="1200" b="1" dirty="0">
                <a:highlight>
                  <a:srgbClr val="FFFF00"/>
                </a:highlight>
              </a:rPr>
              <a:t> parameter yang </a:t>
            </a:r>
            <a:r>
              <a:rPr lang="en-ID" sz="1200" b="1" dirty="0" err="1">
                <a:highlight>
                  <a:srgbClr val="FFFF00"/>
                </a:highlight>
              </a:rPr>
              <a:t>mengalami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penyimpangan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dapat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langsung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diketahui</a:t>
            </a:r>
            <a:r>
              <a:rPr lang="en-ID" sz="1200" b="1" dirty="0">
                <a:highlight>
                  <a:srgbClr val="FFFF00"/>
                </a:highlight>
              </a:rPr>
              <a:t> oleh </a:t>
            </a:r>
            <a:r>
              <a:rPr lang="en-ID" sz="1200" b="1" dirty="0" err="1">
                <a:highlight>
                  <a:srgbClr val="FFFF00"/>
                </a:highlight>
              </a:rPr>
              <a:t>teknisi</a:t>
            </a:r>
            <a:r>
              <a:rPr lang="en-ID" sz="1200" b="1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371706-74B2-97B9-D494-50AE7B451845}"/>
              </a:ext>
            </a:extLst>
          </p:cNvPr>
          <p:cNvSpPr txBox="1"/>
          <p:nvPr/>
        </p:nvSpPr>
        <p:spPr>
          <a:xfrm>
            <a:off x="9180710" y="962776"/>
            <a:ext cx="282362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200" b="1" dirty="0">
                <a:highlight>
                  <a:srgbClr val="FFFF00"/>
                </a:highlight>
              </a:rPr>
              <a:t>Telegram dan Gmail </a:t>
            </a:r>
            <a:r>
              <a:rPr lang="en-ID" sz="1200" b="1" dirty="0" err="1">
                <a:highlight>
                  <a:srgbClr val="FFFF00"/>
                </a:highlight>
              </a:rPr>
              <a:t>digunakan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sebagai</a:t>
            </a:r>
            <a:r>
              <a:rPr lang="en-ID" sz="1200" b="1" dirty="0">
                <a:highlight>
                  <a:srgbClr val="FFFF00"/>
                </a:highlight>
              </a:rPr>
              <a:t> media </a:t>
            </a:r>
            <a:r>
              <a:rPr lang="en-ID" sz="1200" b="1" dirty="0" err="1">
                <a:highlight>
                  <a:srgbClr val="FFFF00"/>
                </a:highlight>
              </a:rPr>
              <a:t>peringatan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otomatis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ketika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sistem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mendeteksi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kondisi</a:t>
            </a:r>
            <a:r>
              <a:rPr lang="en-ID" sz="1200" b="1" dirty="0">
                <a:highlight>
                  <a:srgbClr val="FFFF00"/>
                </a:highlight>
              </a:rPr>
              <a:t> abnormal pada motor. </a:t>
            </a:r>
            <a:r>
              <a:rPr lang="en-ID" sz="1200" b="1" dirty="0" err="1">
                <a:highlight>
                  <a:srgbClr val="FFFF00"/>
                </a:highlight>
              </a:rPr>
              <a:t>Notifikasi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berisi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informasi</a:t>
            </a:r>
            <a:r>
              <a:rPr lang="en-ID" sz="1200" b="1" dirty="0">
                <a:highlight>
                  <a:srgbClr val="FFFF00"/>
                </a:highlight>
              </a:rPr>
              <a:t> parameter yang </a:t>
            </a:r>
            <a:r>
              <a:rPr lang="en-ID" sz="1200" b="1" dirty="0" err="1">
                <a:highlight>
                  <a:srgbClr val="FFFF00"/>
                </a:highlight>
              </a:rPr>
              <a:t>terindikasi</a:t>
            </a:r>
            <a:r>
              <a:rPr lang="en-ID" sz="1200" b="1" dirty="0">
                <a:highlight>
                  <a:srgbClr val="FFFF00"/>
                </a:highlight>
              </a:rPr>
              <a:t> abnormal, </a:t>
            </a:r>
            <a:r>
              <a:rPr lang="en-ID" sz="1200" b="1" dirty="0" err="1">
                <a:highlight>
                  <a:srgbClr val="FFFF00"/>
                </a:highlight>
              </a:rPr>
              <a:t>nilai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pembacaan</a:t>
            </a:r>
            <a:r>
              <a:rPr lang="en-ID" sz="1200" b="1" dirty="0">
                <a:highlight>
                  <a:srgbClr val="FFFF00"/>
                </a:highlight>
              </a:rPr>
              <a:t> sensor, </a:t>
            </a:r>
            <a:r>
              <a:rPr lang="en-ID" sz="1200" b="1" dirty="0" err="1">
                <a:highlight>
                  <a:srgbClr val="FFFF00"/>
                </a:highlight>
              </a:rPr>
              <a:t>serta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waktu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terjadinya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kondisi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tersebut</a:t>
            </a:r>
            <a:r>
              <a:rPr lang="en-ID" sz="1200" b="1" dirty="0">
                <a:highlight>
                  <a:srgbClr val="FFFF00"/>
                </a:highlight>
              </a:rPr>
              <a:t>, </a:t>
            </a:r>
            <a:r>
              <a:rPr lang="en-ID" sz="1200" b="1" dirty="0" err="1">
                <a:highlight>
                  <a:srgbClr val="FFFF00"/>
                </a:highlight>
              </a:rPr>
              <a:t>sehingga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teknisi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dapat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mengetahui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kondisi</a:t>
            </a:r>
            <a:r>
              <a:rPr lang="en-ID" sz="1200" b="1" dirty="0">
                <a:highlight>
                  <a:srgbClr val="FFFF00"/>
                </a:highlight>
              </a:rPr>
              <a:t> motor </a:t>
            </a:r>
            <a:r>
              <a:rPr lang="en-ID" sz="1200" b="1" dirty="0" err="1">
                <a:highlight>
                  <a:srgbClr val="FFFF00"/>
                </a:highlight>
              </a:rPr>
              <a:t>tanpa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harus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selalu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berada</a:t>
            </a:r>
            <a:r>
              <a:rPr lang="en-ID" sz="1200" b="1" dirty="0">
                <a:highlight>
                  <a:srgbClr val="FFFF00"/>
                </a:highlight>
              </a:rPr>
              <a:t> di </a:t>
            </a:r>
            <a:r>
              <a:rPr lang="en-ID" sz="1200" b="1" dirty="0" err="1">
                <a:highlight>
                  <a:srgbClr val="FFFF00"/>
                </a:highlight>
              </a:rPr>
              <a:t>depan</a:t>
            </a:r>
            <a:r>
              <a:rPr lang="en-ID" sz="1200" b="1" dirty="0">
                <a:highlight>
                  <a:srgbClr val="FFFF00"/>
                </a:highlight>
              </a:rPr>
              <a:t> </a:t>
            </a:r>
            <a:r>
              <a:rPr lang="en-ID" sz="1200" b="1" dirty="0" err="1">
                <a:highlight>
                  <a:srgbClr val="FFFF00"/>
                </a:highlight>
              </a:rPr>
              <a:t>mesin</a:t>
            </a:r>
            <a:r>
              <a:rPr lang="en-ID" sz="1200" b="1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EB14C7-5BE0-BA00-7496-4EF2A2A79D61}"/>
              </a:ext>
            </a:extLst>
          </p:cNvPr>
          <p:cNvSpPr txBox="1"/>
          <p:nvPr/>
        </p:nvSpPr>
        <p:spPr>
          <a:xfrm>
            <a:off x="9180710" y="5856311"/>
            <a:ext cx="26773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nb-NO" sz="1200" b="1" dirty="0"/>
              <a:t>Link Dashboard: </a:t>
            </a:r>
            <a:r>
              <a:rPr lang="nb-NO" sz="12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https://motor-foundry-dashboard.vercel.app/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401CA7-8D49-4F86-051E-793E3338F762}"/>
              </a:ext>
            </a:extLst>
          </p:cNvPr>
          <p:cNvSpPr txBox="1"/>
          <p:nvPr/>
        </p:nvSpPr>
        <p:spPr>
          <a:xfrm>
            <a:off x="9240488" y="3064862"/>
            <a:ext cx="26773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nb-NO" sz="1200" b="1" dirty="0"/>
              <a:t>Link Telegram Bot: </a:t>
            </a:r>
            <a:r>
              <a:rPr lang="nb-NO" sz="12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t.me/PdM_AlertBot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6298B3-DE50-BAA7-ACEF-310FAB2E5141}"/>
              </a:ext>
            </a:extLst>
          </p:cNvPr>
          <p:cNvSpPr/>
          <p:nvPr/>
        </p:nvSpPr>
        <p:spPr>
          <a:xfrm>
            <a:off x="6528391" y="6558137"/>
            <a:ext cx="4901609" cy="2998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6432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3AA73-4FB4-2A43-2F98-106C6A301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C2A90-5732-7702-4718-2FA427B19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6452" y="2923240"/>
            <a:ext cx="8813800" cy="1011519"/>
          </a:xfrm>
        </p:spPr>
        <p:txBody>
          <a:bodyPr>
            <a:normAutofit/>
          </a:bodyPr>
          <a:lstStyle/>
          <a:p>
            <a:r>
              <a:rPr lang="en-ID" b="1" dirty="0"/>
              <a:t>TERIMA KASIH</a:t>
            </a:r>
            <a:endParaRPr lang="en-US" b="1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C4A350-5768-98FD-DA0B-600D8C2A4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Maintenance Section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7BA21-1BBC-EAF7-F4CC-742F9FF293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20</a:t>
            </a:r>
            <a:r>
              <a:rPr lang="en-US" baseline="30000" dirty="0"/>
              <a:t>th</a:t>
            </a:r>
            <a:r>
              <a:rPr lang="en-US" dirty="0"/>
              <a:t>  August 2026</a:t>
            </a:r>
          </a:p>
        </p:txBody>
      </p:sp>
    </p:spTree>
    <p:extLst>
      <p:ext uri="{BB962C8B-B14F-4D97-AF65-F5344CB8AC3E}">
        <p14:creationId xmlns:p14="http://schemas.microsoft.com/office/powerpoint/2010/main" val="774754915"/>
      </p:ext>
    </p:extLst>
  </p:cSld>
  <p:clrMapOvr>
    <a:masterClrMapping/>
  </p:clrMapOvr>
</p:sld>
</file>

<file path=ppt/theme/theme1.xml><?xml version="1.0" encoding="utf-8"?>
<a:theme xmlns:a="http://schemas.openxmlformats.org/drawingml/2006/main" name="1_4-3Komatsu">
  <a:themeElements>
    <a:clrScheme name="Komatsu20">
      <a:dk1>
        <a:srgbClr val="1B232A"/>
      </a:dk1>
      <a:lt1>
        <a:sysClr val="window" lastClr="FFFFFF"/>
      </a:lt1>
      <a:dk2>
        <a:srgbClr val="140A9A"/>
      </a:dk2>
      <a:lt2>
        <a:srgbClr val="00A7E1"/>
      </a:lt2>
      <a:accent1>
        <a:srgbClr val="A5ABAF"/>
      </a:accent1>
      <a:accent2>
        <a:srgbClr val="FFC82F"/>
      </a:accent2>
      <a:accent3>
        <a:srgbClr val="99CCFF"/>
      </a:accent3>
      <a:accent4>
        <a:srgbClr val="FF0000"/>
      </a:accent4>
      <a:accent5>
        <a:srgbClr val="2BB673"/>
      </a:accent5>
      <a:accent6>
        <a:srgbClr val="F37021"/>
      </a:accent6>
      <a:hlink>
        <a:srgbClr val="00A7E1"/>
      </a:hlink>
      <a:folHlink>
        <a:srgbClr val="6E757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 defTabSz="90000">
          <a:defRPr sz="1400"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4-3Komatsu" id="{CF2B3199-F315-4E3C-A741-AAE80EBB0009}" vid="{82AF56A0-5F4C-4E59-8164-684284C4D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41715</TotalTime>
  <Words>687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Times New Roman</vt:lpstr>
      <vt:lpstr>Wingdings</vt:lpstr>
      <vt:lpstr>1_4-3Komatsu</vt:lpstr>
      <vt:lpstr>RANCANG BANGUN SISTEM PREDICTIVE MAINTENANCE BERBASIS MACHINE LEARNING UNTUK DETEKSI  KERUSAKAN DINI PADA MOTOR MAINSHAKEOUT</vt:lpstr>
      <vt:lpstr>PowerPoint Presentation</vt:lpstr>
      <vt:lpstr>PowerPoint Presentation</vt:lpstr>
      <vt:lpstr>PowerPoint Presentation</vt:lpstr>
      <vt:lpstr>PowerPoint Presentation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Emirwan Wicaksono</dc:creator>
  <cp:lastModifiedBy>Muhammad Musyaffa</cp:lastModifiedBy>
  <cp:revision>8</cp:revision>
  <dcterms:created xsi:type="dcterms:W3CDTF">2026-07-21T04:01:46Z</dcterms:created>
  <dcterms:modified xsi:type="dcterms:W3CDTF">2026-08-25T07:21:31Z</dcterms:modified>
</cp:coreProperties>
</file>