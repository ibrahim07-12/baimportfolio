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Montserrat Bold" charset="1" panose="00000800000000000000"/>
      <p:regular r:id="rId24"/>
    </p:embeddedFont>
    <p:embeddedFont>
      <p:font typeface="Montserrat" charset="1" panose="00000500000000000000"/>
      <p:regular r:id="rId25"/>
    </p:embeddedFont>
    <p:embeddedFont>
      <p:font typeface="Barlow Condensed" charset="1" panose="00000506000000000000"/>
      <p:regular r:id="rId26"/>
    </p:embeddedFont>
    <p:embeddedFont>
      <p:font typeface="Montserrat Classic" charset="1" panose="00000500000000000000"/>
      <p:regular r:id="rId27"/>
    </p:embeddedFont>
    <p:embeddedFont>
      <p:font typeface="Montserrat Classic Bold" charset="1" panose="00000800000000000000"/>
      <p:regular r:id="rId28"/>
    </p:embeddedFont>
    <p:embeddedFont>
      <p:font typeface="Montserrat Italics" charset="1" panose="00000500000000000000"/>
      <p:regular r:id="rId29"/>
    </p:embeddedFont>
    <p:embeddedFont>
      <p:font typeface="Barlow Condensed Bold" charset="1" panose="00000806000000000000"/>
      <p:regular r:id="rId30"/>
    </p:embeddedFont>
    <p:embeddedFont>
      <p:font typeface="Montserrat Semi-Bold" charset="1" panose="000007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4.png" Type="http://schemas.openxmlformats.org/officeDocument/2006/relationships/image"/><Relationship Id="rId14" Target="../media/image15.png" Type="http://schemas.openxmlformats.org/officeDocument/2006/relationships/image"/><Relationship Id="rId2" Target="../media/image22.jpeg" Type="http://schemas.openxmlformats.org/officeDocument/2006/relationships/image"/><Relationship Id="rId3" Target="../media/image23.jpeg" Type="http://schemas.openxmlformats.org/officeDocument/2006/relationships/image"/><Relationship Id="rId4" Target="../media/image24.jpeg" Type="http://schemas.openxmlformats.org/officeDocument/2006/relationships/image"/><Relationship Id="rId5" Target="../media/image25.jpeg" Type="http://schemas.openxmlformats.org/officeDocument/2006/relationships/image"/><Relationship Id="rId6" Target="../media/image26.jpe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4.png" Type="http://schemas.openxmlformats.org/officeDocument/2006/relationships/image"/><Relationship Id="rId14" Target="../media/image15.png" Type="http://schemas.openxmlformats.org/officeDocument/2006/relationships/image"/><Relationship Id="rId2" Target="../media/image27.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5.sv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14" Target="../media/image6.png" Type="http://schemas.openxmlformats.org/officeDocument/2006/relationships/image"/><Relationship Id="rId15" Target="../media/image7.svg" Type="http://schemas.openxmlformats.org/officeDocument/2006/relationships/image"/><Relationship Id="rId16" Target="../media/image36.png" Type="http://schemas.openxmlformats.org/officeDocument/2006/relationships/image"/><Relationship Id="rId17" Target="../media/image37.svg" Type="http://schemas.openxmlformats.org/officeDocument/2006/relationships/image"/><Relationship Id="rId18" Target="../media/image38.jpeg" Type="http://schemas.openxmlformats.org/officeDocument/2006/relationships/image"/><Relationship Id="rId19" Target="../media/image14.png" Type="http://schemas.openxmlformats.org/officeDocument/2006/relationships/image"/><Relationship Id="rId2" Target="../media/image8.png" Type="http://schemas.openxmlformats.org/officeDocument/2006/relationships/image"/><Relationship Id="rId20" Target="../media/image15.png" Type="http://schemas.openxmlformats.org/officeDocument/2006/relationships/image"/><Relationship Id="rId3" Target="../media/image9.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43.jpeg" Type="http://schemas.openxmlformats.org/officeDocument/2006/relationships/image"/><Relationship Id="rId13" Target="../media/image14.png" Type="http://schemas.openxmlformats.org/officeDocument/2006/relationships/image"/><Relationship Id="rId14" Target="../media/image15.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media/image54.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5.png" Type="http://schemas.openxmlformats.org/officeDocument/2006/relationships/image"/><Relationship Id="rId16" Target="../media/image14.png" Type="http://schemas.openxmlformats.org/officeDocument/2006/relationships/image"/><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5.png" Type="http://schemas.openxmlformats.org/officeDocument/2006/relationships/image"/><Relationship Id="rId13" Target="../media/image14.png" Type="http://schemas.openxmlformats.org/officeDocument/2006/relationships/image"/><Relationship Id="rId2" Target="../media/image55.jpeg" Type="http://schemas.openxmlformats.org/officeDocument/2006/relationships/image"/><Relationship Id="rId3" Target="../media/image56.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media/image57.jpeg" Type="http://schemas.openxmlformats.org/officeDocument/2006/relationships/image"/><Relationship Id="rId3" Target="../media/image58.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5.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5.svg" Type="http://schemas.openxmlformats.org/officeDocument/2006/relationships/image"/><Relationship Id="rId12" Target="../media/image15.png" Type="http://schemas.openxmlformats.org/officeDocument/2006/relationships/image"/><Relationship Id="rId13" Target="../media/image14.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59.jpeg" Type="http://schemas.openxmlformats.org/officeDocument/2006/relationships/image"/><Relationship Id="rId9" Target="../media/image6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5.png" Type="http://schemas.openxmlformats.org/officeDocument/2006/relationships/image"/><Relationship Id="rId15" Target="../media/image14.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4.png" Type="http://schemas.openxmlformats.org/officeDocument/2006/relationships/image"/><Relationship Id="rId2" Target="../media/image61.jpeg" Type="http://schemas.openxmlformats.org/officeDocument/2006/relationships/image"/><Relationship Id="rId3" Target="../media/image62.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 Id="rId4" Target="../media/image15.png" Type="http://schemas.openxmlformats.org/officeDocument/2006/relationships/image"/><Relationship Id="rId5"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jpeg" Type="http://schemas.openxmlformats.org/officeDocument/2006/relationships/image"/><Relationship Id="rId11" Target="../media/image67.jpeg" Type="http://schemas.openxmlformats.org/officeDocument/2006/relationships/image"/><Relationship Id="rId12" Target="../media/image15.png" Type="http://schemas.openxmlformats.org/officeDocument/2006/relationships/image"/><Relationship Id="rId13" Target="../media/image14.png" Type="http://schemas.openxmlformats.org/officeDocument/2006/relationships/image"/><Relationship Id="rId2" Target="../media/image29.jpeg" Type="http://schemas.openxmlformats.org/officeDocument/2006/relationships/image"/><Relationship Id="rId3" Target="../media/image65.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5.png" Type="http://schemas.openxmlformats.org/officeDocument/2006/relationships/image"/><Relationship Id="rId9"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5.png" Type="http://schemas.openxmlformats.org/officeDocument/2006/relationships/image"/><Relationship Id="rId13" Target="../media/image14.png" Type="http://schemas.openxmlformats.org/officeDocument/2006/relationships/image"/><Relationship Id="rId2" Target="../media/image68.jpeg" Type="http://schemas.openxmlformats.org/officeDocument/2006/relationships/image"/><Relationship Id="rId3" Target="../media/image69.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5.png" Type="http://schemas.openxmlformats.org/officeDocument/2006/relationships/image"/><Relationship Id="rId12" Target="../media/image14.pn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2" Target="../media/image7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grpSp>
        <p:nvGrpSpPr>
          <p:cNvPr name="Group 2" id="2"/>
          <p:cNvGrpSpPr/>
          <p:nvPr/>
        </p:nvGrpSpPr>
        <p:grpSpPr>
          <a:xfrm rot="0">
            <a:off x="65396" y="5278578"/>
            <a:ext cx="4929839" cy="4269018"/>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27067" t="0" r="-27067" b="0"/>
              </a:stretch>
            </a:blipFill>
            <a:ln cap="sq">
              <a:noFill/>
              <a:prstDash val="solid"/>
              <a:miter/>
            </a:ln>
          </p:spPr>
        </p:sp>
      </p:grpSp>
      <p:grpSp>
        <p:nvGrpSpPr>
          <p:cNvPr name="Group 4" id="4"/>
          <p:cNvGrpSpPr/>
          <p:nvPr/>
        </p:nvGrpSpPr>
        <p:grpSpPr>
          <a:xfrm rot="0">
            <a:off x="132592" y="794195"/>
            <a:ext cx="4929839" cy="4269018"/>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0" t="-7483" r="0" b="-7483"/>
              </a:stretch>
            </a:blipFill>
            <a:ln cap="sq">
              <a:noFill/>
              <a:prstDash val="solid"/>
              <a:miter/>
            </a:ln>
          </p:spPr>
        </p:sp>
      </p:grpSp>
      <p:grpSp>
        <p:nvGrpSpPr>
          <p:cNvPr name="Group 6" id="6"/>
          <p:cNvGrpSpPr/>
          <p:nvPr/>
        </p:nvGrpSpPr>
        <p:grpSpPr>
          <a:xfrm rot="0">
            <a:off x="4027219" y="3144069"/>
            <a:ext cx="4929839" cy="4269018"/>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27317" t="0" r="-27317" b="0"/>
              </a:stretch>
            </a:blipFill>
            <a:ln cap="sq">
              <a:noFill/>
              <a:prstDash val="solid"/>
              <a:miter/>
            </a:ln>
          </p:spPr>
        </p:sp>
      </p:grpSp>
      <p:sp>
        <p:nvSpPr>
          <p:cNvPr name="Freeform 8" id="8"/>
          <p:cNvSpPr/>
          <p:nvPr/>
        </p:nvSpPr>
        <p:spPr>
          <a:xfrm flipH="false" flipV="false" rot="7221679">
            <a:off x="4184500" y="8794280"/>
            <a:ext cx="2884378" cy="2496298"/>
          </a:xfrm>
          <a:custGeom>
            <a:avLst/>
            <a:gdLst/>
            <a:ahLst/>
            <a:cxnLst/>
            <a:rect r="r" b="b" t="t" l="l"/>
            <a:pathLst>
              <a:path h="2496298" w="2884378">
                <a:moveTo>
                  <a:pt x="0" y="0"/>
                </a:moveTo>
                <a:lnTo>
                  <a:pt x="2884378" y="0"/>
                </a:lnTo>
                <a:lnTo>
                  <a:pt x="2884378" y="2496298"/>
                </a:lnTo>
                <a:lnTo>
                  <a:pt x="0" y="2496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221679">
            <a:off x="6444380" y="7496865"/>
            <a:ext cx="2884378" cy="2496298"/>
          </a:xfrm>
          <a:custGeom>
            <a:avLst/>
            <a:gdLst/>
            <a:ahLst/>
            <a:cxnLst/>
            <a:rect r="r" b="b" t="t" l="l"/>
            <a:pathLst>
              <a:path h="2496298" w="2884378">
                <a:moveTo>
                  <a:pt x="0" y="0"/>
                </a:moveTo>
                <a:lnTo>
                  <a:pt x="2884378" y="0"/>
                </a:lnTo>
                <a:lnTo>
                  <a:pt x="2884378" y="2496298"/>
                </a:lnTo>
                <a:lnTo>
                  <a:pt x="0" y="24962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3578320">
            <a:off x="4185254" y="6220470"/>
            <a:ext cx="2890352" cy="2501469"/>
          </a:xfrm>
          <a:custGeom>
            <a:avLst/>
            <a:gdLst/>
            <a:ahLst/>
            <a:cxnLst/>
            <a:rect r="r" b="b" t="t" l="l"/>
            <a:pathLst>
              <a:path h="2501469" w="2890352">
                <a:moveTo>
                  <a:pt x="0" y="0"/>
                </a:moveTo>
                <a:lnTo>
                  <a:pt x="2890352" y="0"/>
                </a:lnTo>
                <a:lnTo>
                  <a:pt x="2890352" y="2501468"/>
                </a:lnTo>
                <a:lnTo>
                  <a:pt x="0" y="25014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3578320">
            <a:off x="1930898" y="7480870"/>
            <a:ext cx="2890352" cy="2501469"/>
          </a:xfrm>
          <a:custGeom>
            <a:avLst/>
            <a:gdLst/>
            <a:ahLst/>
            <a:cxnLst/>
            <a:rect r="r" b="b" t="t" l="l"/>
            <a:pathLst>
              <a:path h="2501469" w="2890352">
                <a:moveTo>
                  <a:pt x="0" y="0"/>
                </a:moveTo>
                <a:lnTo>
                  <a:pt x="2890353" y="0"/>
                </a:lnTo>
                <a:lnTo>
                  <a:pt x="2890353" y="2501469"/>
                </a:lnTo>
                <a:lnTo>
                  <a:pt x="0" y="25014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7221679">
            <a:off x="4392747" y="283548"/>
            <a:ext cx="2898563" cy="2508574"/>
          </a:xfrm>
          <a:custGeom>
            <a:avLst/>
            <a:gdLst/>
            <a:ahLst/>
            <a:cxnLst/>
            <a:rect r="r" b="b" t="t" l="l"/>
            <a:pathLst>
              <a:path h="2508574" w="2898563">
                <a:moveTo>
                  <a:pt x="0" y="0"/>
                </a:moveTo>
                <a:lnTo>
                  <a:pt x="2898562" y="0"/>
                </a:lnTo>
                <a:lnTo>
                  <a:pt x="2898562" y="2508574"/>
                </a:lnTo>
                <a:lnTo>
                  <a:pt x="0" y="2508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7221679">
            <a:off x="-1697685" y="3878866"/>
            <a:ext cx="2898563" cy="2508574"/>
          </a:xfrm>
          <a:custGeom>
            <a:avLst/>
            <a:gdLst/>
            <a:ahLst/>
            <a:cxnLst/>
            <a:rect r="r" b="b" t="t" l="l"/>
            <a:pathLst>
              <a:path h="2508574" w="2898563">
                <a:moveTo>
                  <a:pt x="0" y="0"/>
                </a:moveTo>
                <a:lnTo>
                  <a:pt x="2898562" y="0"/>
                </a:lnTo>
                <a:lnTo>
                  <a:pt x="2898562" y="2508574"/>
                </a:lnTo>
                <a:lnTo>
                  <a:pt x="0" y="2508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3578320">
            <a:off x="6858423" y="-999188"/>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3578320">
            <a:off x="6642768" y="1656839"/>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3578320">
            <a:off x="-1704447" y="1185051"/>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6750565" y="279369"/>
            <a:ext cx="1048730" cy="1068254"/>
          </a:xfrm>
          <a:custGeom>
            <a:avLst/>
            <a:gdLst/>
            <a:ahLst/>
            <a:cxnLst/>
            <a:rect r="r" b="b" t="t" l="l"/>
            <a:pathLst>
              <a:path h="1068254" w="1048730">
                <a:moveTo>
                  <a:pt x="0" y="0"/>
                </a:moveTo>
                <a:lnTo>
                  <a:pt x="1048730" y="0"/>
                </a:lnTo>
                <a:lnTo>
                  <a:pt x="1048730" y="1068254"/>
                </a:lnTo>
                <a:lnTo>
                  <a:pt x="0" y="1068254"/>
                </a:lnTo>
                <a:lnTo>
                  <a:pt x="0" y="0"/>
                </a:lnTo>
                <a:close/>
              </a:path>
            </a:pathLst>
          </a:custGeom>
          <a:blipFill>
            <a:blip r:embed="rId15"/>
            <a:stretch>
              <a:fillRect l="0" t="0" r="0" b="0"/>
            </a:stretch>
          </a:blipFill>
        </p:spPr>
      </p:sp>
      <p:sp>
        <p:nvSpPr>
          <p:cNvPr name="Freeform 18" id="18"/>
          <p:cNvSpPr/>
          <p:nvPr/>
        </p:nvSpPr>
        <p:spPr>
          <a:xfrm flipH="false" flipV="false" rot="0">
            <a:off x="14834625" y="201071"/>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6"/>
            <a:stretch>
              <a:fillRect l="0" t="0" r="0" b="0"/>
            </a:stretch>
          </a:blipFill>
        </p:spPr>
      </p:sp>
      <p:sp>
        <p:nvSpPr>
          <p:cNvPr name="TextBox 19" id="19"/>
          <p:cNvSpPr txBox="true"/>
          <p:nvPr/>
        </p:nvSpPr>
        <p:spPr>
          <a:xfrm rot="0">
            <a:off x="9692497" y="1792373"/>
            <a:ext cx="8471262" cy="5228336"/>
          </a:xfrm>
          <a:prstGeom prst="rect">
            <a:avLst/>
          </a:prstGeom>
        </p:spPr>
        <p:txBody>
          <a:bodyPr anchor="t" rtlCol="false" tIns="0" lIns="0" bIns="0" rIns="0">
            <a:spAutoFit/>
          </a:bodyPr>
          <a:lstStyle/>
          <a:p>
            <a:pPr algn="l" marL="0" indent="0" lvl="1">
              <a:lnSpc>
                <a:spcPts val="5152"/>
              </a:lnSpc>
            </a:pPr>
            <a:r>
              <a:rPr lang="en-US" b="true" sz="5600" spc="156">
                <a:solidFill>
                  <a:srgbClr val="FFFFFF"/>
                </a:solidFill>
                <a:latin typeface="Montserrat Bold"/>
                <a:ea typeface="Montserrat Bold"/>
                <a:cs typeface="Montserrat Bold"/>
                <a:sym typeface="Montserrat Bold"/>
              </a:rPr>
              <a:t>PENGEMBANGAN SISTEM LAMPU LALU LINTAS CERDAS BERBASIS YOLO UNTUK MENINGKATKAN EFISIENSI DAN EFEKTIVITAS JALAN</a:t>
            </a:r>
          </a:p>
        </p:txBody>
      </p:sp>
      <p:sp>
        <p:nvSpPr>
          <p:cNvPr name="TextBox 20" id="20"/>
          <p:cNvSpPr txBox="true"/>
          <p:nvPr/>
        </p:nvSpPr>
        <p:spPr>
          <a:xfrm rot="0">
            <a:off x="9692497" y="7268607"/>
            <a:ext cx="4681163" cy="443294"/>
          </a:xfrm>
          <a:prstGeom prst="rect">
            <a:avLst/>
          </a:prstGeom>
        </p:spPr>
        <p:txBody>
          <a:bodyPr anchor="t" rtlCol="false" tIns="0" lIns="0" bIns="0" rIns="0">
            <a:spAutoFit/>
          </a:bodyPr>
          <a:lstStyle/>
          <a:p>
            <a:pPr algn="l" marL="0" indent="0" lvl="1">
              <a:lnSpc>
                <a:spcPts val="3419"/>
              </a:lnSpc>
              <a:spcBef>
                <a:spcPct val="0"/>
              </a:spcBef>
            </a:pPr>
            <a:r>
              <a:rPr lang="en-US" sz="3196" spc="89">
                <a:solidFill>
                  <a:srgbClr val="FFFFFF"/>
                </a:solidFill>
                <a:latin typeface="Montserrat"/>
                <a:ea typeface="Montserrat"/>
                <a:cs typeface="Montserrat"/>
                <a:sym typeface="Montserrat"/>
              </a:rPr>
              <a:t>Oleh TrafficSpark</a:t>
            </a:r>
          </a:p>
        </p:txBody>
      </p:sp>
      <p:sp>
        <p:nvSpPr>
          <p:cNvPr name="TextBox 21" id="21"/>
          <p:cNvSpPr txBox="true"/>
          <p:nvPr/>
        </p:nvSpPr>
        <p:spPr>
          <a:xfrm rot="0">
            <a:off x="13996253" y="9382322"/>
            <a:ext cx="4681163" cy="452819"/>
          </a:xfrm>
          <a:prstGeom prst="rect">
            <a:avLst/>
          </a:prstGeom>
        </p:spPr>
        <p:txBody>
          <a:bodyPr anchor="t" rtlCol="false" tIns="0" lIns="0" bIns="0" rIns="0">
            <a:spAutoFit/>
          </a:bodyPr>
          <a:lstStyle/>
          <a:p>
            <a:pPr algn="ctr" marL="0" indent="0" lvl="1">
              <a:lnSpc>
                <a:spcPts val="3419"/>
              </a:lnSpc>
              <a:spcBef>
                <a:spcPct val="0"/>
              </a:spcBef>
            </a:pPr>
            <a:r>
              <a:rPr lang="en-US" sz="3196" spc="89">
                <a:solidFill>
                  <a:srgbClr val="FFFFFF"/>
                </a:solidFill>
                <a:latin typeface="Barlow Condensed"/>
                <a:ea typeface="Barlow Condensed"/>
                <a:cs typeface="Barlow Condensed"/>
                <a:sym typeface="Barlow Condensed"/>
              </a:rPr>
              <a:t>28 NOVEMBER 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01494" y="8323039"/>
            <a:ext cx="4723978" cy="47239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4F6A92"/>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340361" y="-1055766"/>
            <a:ext cx="4837174" cy="483717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549293" y="1076697"/>
            <a:ext cx="628242" cy="620246"/>
          </a:xfrm>
          <a:custGeom>
            <a:avLst/>
            <a:gdLst/>
            <a:ahLst/>
            <a:cxnLst/>
            <a:rect r="r" b="b" t="t" l="l"/>
            <a:pathLst>
              <a:path h="620246" w="628242">
                <a:moveTo>
                  <a:pt x="0" y="0"/>
                </a:moveTo>
                <a:lnTo>
                  <a:pt x="628242" y="0"/>
                </a:lnTo>
                <a:lnTo>
                  <a:pt x="628242" y="620246"/>
                </a:lnTo>
                <a:lnTo>
                  <a:pt x="0" y="6202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287926" y="1038225"/>
            <a:ext cx="1714156" cy="658718"/>
          </a:xfrm>
          <a:prstGeom prst="rect">
            <a:avLst/>
          </a:prstGeom>
        </p:spPr>
        <p:txBody>
          <a:bodyPr anchor="t" rtlCol="false" tIns="0" lIns="0" bIns="0" rIns="0">
            <a:spAutoFit/>
          </a:bodyPr>
          <a:lstStyle/>
          <a:p>
            <a:pPr algn="l">
              <a:lnSpc>
                <a:spcPts val="2591"/>
              </a:lnSpc>
            </a:pPr>
            <a:r>
              <a:rPr lang="en-US" sz="2234" spc="87">
                <a:solidFill>
                  <a:srgbClr val="2A2E3A"/>
                </a:solidFill>
                <a:latin typeface="Montserrat Classic"/>
                <a:ea typeface="Montserrat Classic"/>
                <a:cs typeface="Montserrat Classic"/>
                <a:sym typeface="Montserrat Classic"/>
              </a:rPr>
              <a:t>Borcelle Company</a:t>
            </a:r>
          </a:p>
        </p:txBody>
      </p:sp>
      <p:grpSp>
        <p:nvGrpSpPr>
          <p:cNvPr name="Group 10" id="10"/>
          <p:cNvGrpSpPr/>
          <p:nvPr/>
        </p:nvGrpSpPr>
        <p:grpSpPr>
          <a:xfrm rot="0">
            <a:off x="11239713" y="-4634360"/>
            <a:ext cx="11212168" cy="11212123"/>
            <a:chOff x="0" y="0"/>
            <a:chExt cx="6350000" cy="6349975"/>
          </a:xfrm>
        </p:grpSpPr>
        <p:sp>
          <p:nvSpPr>
            <p:cNvPr name="Freeform 11" id="11"/>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solidFill>
              <a:srgbClr val="08377C"/>
            </a:solidFill>
            <a:ln w="12700">
              <a:solidFill>
                <a:srgbClr val="000000"/>
              </a:solidFill>
            </a:ln>
          </p:spPr>
        </p:sp>
      </p:grpSp>
      <p:grpSp>
        <p:nvGrpSpPr>
          <p:cNvPr name="Group 12" id="12"/>
          <p:cNvGrpSpPr/>
          <p:nvPr/>
        </p:nvGrpSpPr>
        <p:grpSpPr>
          <a:xfrm rot="0">
            <a:off x="11239713" y="-4520363"/>
            <a:ext cx="11565442" cy="11098125"/>
            <a:chOff x="0" y="0"/>
            <a:chExt cx="6958985" cy="6677798"/>
          </a:xfrm>
        </p:grpSpPr>
        <p:sp>
          <p:nvSpPr>
            <p:cNvPr name="Freeform 13" id="13"/>
            <p:cNvSpPr/>
            <p:nvPr/>
          </p:nvSpPr>
          <p:spPr>
            <a:xfrm flipH="false" flipV="false" rot="0">
              <a:off x="0" y="0"/>
              <a:ext cx="6958985" cy="6677799"/>
            </a:xfrm>
            <a:custGeom>
              <a:avLst/>
              <a:gdLst/>
              <a:ahLst/>
              <a:cxnLst/>
              <a:rect r="r" b="b" t="t" l="l"/>
              <a:pathLst>
                <a:path h="6677799" w="6958985">
                  <a:moveTo>
                    <a:pt x="6958985" y="3338939"/>
                  </a:moveTo>
                  <a:cubicBezTo>
                    <a:pt x="6958985" y="5182887"/>
                    <a:pt x="5401133" y="6677799"/>
                    <a:pt x="3479493" y="6677799"/>
                  </a:cubicBezTo>
                  <a:cubicBezTo>
                    <a:pt x="1557824" y="6677799"/>
                    <a:pt x="0" y="5182887"/>
                    <a:pt x="0" y="3338939"/>
                  </a:cubicBezTo>
                  <a:cubicBezTo>
                    <a:pt x="0" y="1494898"/>
                    <a:pt x="1557824" y="0"/>
                    <a:pt x="3479493" y="0"/>
                  </a:cubicBezTo>
                  <a:cubicBezTo>
                    <a:pt x="5401161" y="0"/>
                    <a:pt x="6958985" y="1494898"/>
                    <a:pt x="6958985" y="3338939"/>
                  </a:cubicBezTo>
                  <a:close/>
                </a:path>
              </a:pathLst>
            </a:custGeom>
            <a:blipFill>
              <a:blip r:embed="rId4">
                <a:alphaModFix amt="49000"/>
              </a:blip>
              <a:stretch>
                <a:fillRect l="0" t="-8531" r="0" b="-8531"/>
              </a:stretch>
            </a:blipFill>
          </p:spPr>
        </p:sp>
      </p:grpSp>
      <p:grpSp>
        <p:nvGrpSpPr>
          <p:cNvPr name="Group 14" id="14"/>
          <p:cNvGrpSpPr/>
          <p:nvPr/>
        </p:nvGrpSpPr>
        <p:grpSpPr>
          <a:xfrm rot="0">
            <a:off x="15496482" y="-1622972"/>
            <a:ext cx="4837174" cy="483717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874570" y="1275442"/>
            <a:ext cx="843002" cy="8430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6A92"/>
            </a:solidFill>
            <a:ln cap="sq">
              <a:no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20" id="20"/>
          <p:cNvGrpSpPr/>
          <p:nvPr/>
        </p:nvGrpSpPr>
        <p:grpSpPr>
          <a:xfrm rot="0">
            <a:off x="17259300" y="8845202"/>
            <a:ext cx="1839825" cy="183982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6A92"/>
            </a:solidFill>
            <a:ln cap="sq">
              <a:no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23" id="23"/>
          <p:cNvGrpSpPr/>
          <p:nvPr/>
        </p:nvGrpSpPr>
        <p:grpSpPr>
          <a:xfrm rot="0">
            <a:off x="1179352" y="2988597"/>
            <a:ext cx="2680097" cy="7641549"/>
            <a:chOff x="0" y="0"/>
            <a:chExt cx="3573462" cy="10188732"/>
          </a:xfrm>
        </p:grpSpPr>
        <p:grpSp>
          <p:nvGrpSpPr>
            <p:cNvPr name="Group 24" id="24"/>
            <p:cNvGrpSpPr/>
            <p:nvPr/>
          </p:nvGrpSpPr>
          <p:grpSpPr>
            <a:xfrm rot="0">
              <a:off x="0" y="0"/>
              <a:ext cx="3573462" cy="10188732"/>
              <a:chOff x="0" y="0"/>
              <a:chExt cx="660400" cy="1882947"/>
            </a:xfrm>
          </p:grpSpPr>
          <p:sp>
            <p:nvSpPr>
              <p:cNvPr name="Freeform 25" id="25"/>
              <p:cNvSpPr/>
              <p:nvPr/>
            </p:nvSpPr>
            <p:spPr>
              <a:xfrm flipH="false" flipV="false" rot="0">
                <a:off x="0" y="0"/>
                <a:ext cx="660400" cy="1882947"/>
              </a:xfrm>
              <a:custGeom>
                <a:avLst/>
                <a:gdLst/>
                <a:ahLst/>
                <a:cxnLst/>
                <a:rect r="r" b="b" t="t" l="l"/>
                <a:pathLst>
                  <a:path h="1882947"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52273"/>
                    </a:cubicBezTo>
                    <a:lnTo>
                      <a:pt x="660400" y="1882947"/>
                    </a:lnTo>
                    <a:lnTo>
                      <a:pt x="0" y="1882947"/>
                    </a:lnTo>
                    <a:lnTo>
                      <a:pt x="0" y="353409"/>
                    </a:lnTo>
                    <a:cubicBezTo>
                      <a:pt x="1782" y="185660"/>
                      <a:pt x="93019" y="64045"/>
                      <a:pt x="220252" y="19070"/>
                    </a:cubicBezTo>
                    <a:close/>
                  </a:path>
                </a:pathLst>
              </a:custGeom>
              <a:solidFill>
                <a:srgbClr val="08377C"/>
              </a:solidFill>
            </p:spPr>
          </p:sp>
          <p:sp>
            <p:nvSpPr>
              <p:cNvPr name="TextBox 26" id="26"/>
              <p:cNvSpPr txBox="true"/>
              <p:nvPr/>
            </p:nvSpPr>
            <p:spPr>
              <a:xfrm>
                <a:off x="0" y="79375"/>
                <a:ext cx="660400" cy="1803572"/>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86341" y="261204"/>
              <a:ext cx="3200780" cy="4308128"/>
              <a:chOff x="0" y="0"/>
              <a:chExt cx="660400" cy="888873"/>
            </a:xfrm>
          </p:grpSpPr>
          <p:sp>
            <p:nvSpPr>
              <p:cNvPr name="Freeform 28" id="28"/>
              <p:cNvSpPr/>
              <p:nvPr/>
            </p:nvSpPr>
            <p:spPr>
              <a:xfrm flipH="false" flipV="false" rot="0">
                <a:off x="0" y="0"/>
                <a:ext cx="660400" cy="888873"/>
              </a:xfrm>
              <a:custGeom>
                <a:avLst/>
                <a:gdLst/>
                <a:ahLst/>
                <a:cxnLst/>
                <a:rect r="r" b="b" t="t" l="l"/>
                <a:pathLst>
                  <a:path h="888873"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0192"/>
                    </a:cubicBezTo>
                    <a:lnTo>
                      <a:pt x="660400" y="888873"/>
                    </a:lnTo>
                    <a:lnTo>
                      <a:pt x="0" y="888873"/>
                    </a:lnTo>
                    <a:lnTo>
                      <a:pt x="0" y="330606"/>
                    </a:lnTo>
                    <a:cubicBezTo>
                      <a:pt x="1782" y="185660"/>
                      <a:pt x="93019" y="64045"/>
                      <a:pt x="220252" y="19070"/>
                    </a:cubicBezTo>
                    <a:close/>
                  </a:path>
                </a:pathLst>
              </a:custGeom>
              <a:solidFill>
                <a:srgbClr val="AECCE7"/>
              </a:solidFill>
            </p:spPr>
          </p:sp>
          <p:sp>
            <p:nvSpPr>
              <p:cNvPr name="TextBox 29" id="29"/>
              <p:cNvSpPr txBox="true"/>
              <p:nvPr/>
            </p:nvSpPr>
            <p:spPr>
              <a:xfrm>
                <a:off x="0" y="79375"/>
                <a:ext cx="660400" cy="809498"/>
              </a:xfrm>
              <a:prstGeom prst="rect">
                <a:avLst/>
              </a:prstGeom>
            </p:spPr>
            <p:txBody>
              <a:bodyPr anchor="ctr" rtlCol="false" tIns="50800" lIns="50800" bIns="50800" rIns="50800"/>
              <a:lstStyle/>
              <a:p>
                <a:pPr algn="ctr">
                  <a:lnSpc>
                    <a:spcPts val="2659"/>
                  </a:lnSpc>
                </a:pPr>
              </a:p>
            </p:txBody>
          </p:sp>
        </p:grpSp>
      </p:grpSp>
      <p:grpSp>
        <p:nvGrpSpPr>
          <p:cNvPr name="Group 30" id="30"/>
          <p:cNvGrpSpPr/>
          <p:nvPr/>
        </p:nvGrpSpPr>
        <p:grpSpPr>
          <a:xfrm rot="0">
            <a:off x="1096913" y="3043478"/>
            <a:ext cx="2844974" cy="3380756"/>
            <a:chOff x="0" y="0"/>
            <a:chExt cx="812800" cy="965871"/>
          </a:xfrm>
        </p:grpSpPr>
        <p:sp>
          <p:nvSpPr>
            <p:cNvPr name="Freeform 31" id="31"/>
            <p:cNvSpPr/>
            <p:nvPr/>
          </p:nvSpPr>
          <p:spPr>
            <a:xfrm flipH="false" flipV="false" rot="0">
              <a:off x="0" y="0"/>
              <a:ext cx="812800" cy="965871"/>
            </a:xfrm>
            <a:custGeom>
              <a:avLst/>
              <a:gdLst/>
              <a:ahLst/>
              <a:cxnLst/>
              <a:rect r="r" b="b" t="t" l="l"/>
              <a:pathLst>
                <a:path h="965871" w="812800">
                  <a:moveTo>
                    <a:pt x="0" y="0"/>
                  </a:moveTo>
                  <a:lnTo>
                    <a:pt x="812800" y="0"/>
                  </a:lnTo>
                  <a:lnTo>
                    <a:pt x="812800" y="965871"/>
                  </a:lnTo>
                  <a:lnTo>
                    <a:pt x="0" y="965871"/>
                  </a:lnTo>
                  <a:close/>
                </a:path>
              </a:pathLst>
            </a:custGeom>
            <a:blipFill>
              <a:blip r:embed="rId5"/>
              <a:stretch>
                <a:fillRect l="0" t="-24892" r="0" b="-24892"/>
              </a:stretch>
            </a:blipFill>
          </p:spPr>
        </p:sp>
      </p:grpSp>
      <p:grpSp>
        <p:nvGrpSpPr>
          <p:cNvPr name="Group 32" id="32"/>
          <p:cNvGrpSpPr/>
          <p:nvPr/>
        </p:nvGrpSpPr>
        <p:grpSpPr>
          <a:xfrm rot="0">
            <a:off x="4625269" y="5024427"/>
            <a:ext cx="2680097" cy="7641549"/>
            <a:chOff x="0" y="0"/>
            <a:chExt cx="3573462" cy="10188732"/>
          </a:xfrm>
        </p:grpSpPr>
        <p:grpSp>
          <p:nvGrpSpPr>
            <p:cNvPr name="Group 33" id="33"/>
            <p:cNvGrpSpPr/>
            <p:nvPr/>
          </p:nvGrpSpPr>
          <p:grpSpPr>
            <a:xfrm rot="0">
              <a:off x="0" y="0"/>
              <a:ext cx="3573462" cy="10188732"/>
              <a:chOff x="0" y="0"/>
              <a:chExt cx="660400" cy="1882947"/>
            </a:xfrm>
          </p:grpSpPr>
          <p:sp>
            <p:nvSpPr>
              <p:cNvPr name="Freeform 34" id="34"/>
              <p:cNvSpPr/>
              <p:nvPr/>
            </p:nvSpPr>
            <p:spPr>
              <a:xfrm flipH="false" flipV="false" rot="0">
                <a:off x="0" y="0"/>
                <a:ext cx="660400" cy="1882947"/>
              </a:xfrm>
              <a:custGeom>
                <a:avLst/>
                <a:gdLst/>
                <a:ahLst/>
                <a:cxnLst/>
                <a:rect r="r" b="b" t="t" l="l"/>
                <a:pathLst>
                  <a:path h="1882947"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52273"/>
                    </a:cubicBezTo>
                    <a:lnTo>
                      <a:pt x="660400" y="1882947"/>
                    </a:lnTo>
                    <a:lnTo>
                      <a:pt x="0" y="1882947"/>
                    </a:lnTo>
                    <a:lnTo>
                      <a:pt x="0" y="353409"/>
                    </a:lnTo>
                    <a:cubicBezTo>
                      <a:pt x="1782" y="185660"/>
                      <a:pt x="93019" y="64045"/>
                      <a:pt x="220252" y="19070"/>
                    </a:cubicBezTo>
                    <a:close/>
                  </a:path>
                </a:pathLst>
              </a:custGeom>
              <a:solidFill>
                <a:srgbClr val="08377C"/>
              </a:solidFill>
            </p:spPr>
          </p:sp>
          <p:sp>
            <p:nvSpPr>
              <p:cNvPr name="TextBox 35" id="35"/>
              <p:cNvSpPr txBox="true"/>
              <p:nvPr/>
            </p:nvSpPr>
            <p:spPr>
              <a:xfrm>
                <a:off x="0" y="79375"/>
                <a:ext cx="660400" cy="1803572"/>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86341" y="261204"/>
              <a:ext cx="3200780" cy="4308128"/>
              <a:chOff x="0" y="0"/>
              <a:chExt cx="660400" cy="888873"/>
            </a:xfrm>
          </p:grpSpPr>
          <p:sp>
            <p:nvSpPr>
              <p:cNvPr name="Freeform 37" id="37"/>
              <p:cNvSpPr/>
              <p:nvPr/>
            </p:nvSpPr>
            <p:spPr>
              <a:xfrm flipH="false" flipV="false" rot="0">
                <a:off x="0" y="0"/>
                <a:ext cx="660400" cy="888873"/>
              </a:xfrm>
              <a:custGeom>
                <a:avLst/>
                <a:gdLst/>
                <a:ahLst/>
                <a:cxnLst/>
                <a:rect r="r" b="b" t="t" l="l"/>
                <a:pathLst>
                  <a:path h="888873"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0192"/>
                    </a:cubicBezTo>
                    <a:lnTo>
                      <a:pt x="660400" y="888873"/>
                    </a:lnTo>
                    <a:lnTo>
                      <a:pt x="0" y="888873"/>
                    </a:lnTo>
                    <a:lnTo>
                      <a:pt x="0" y="330606"/>
                    </a:lnTo>
                    <a:cubicBezTo>
                      <a:pt x="1782" y="185660"/>
                      <a:pt x="93019" y="64045"/>
                      <a:pt x="220252" y="19070"/>
                    </a:cubicBezTo>
                    <a:close/>
                  </a:path>
                </a:pathLst>
              </a:custGeom>
              <a:solidFill>
                <a:srgbClr val="AECCE7"/>
              </a:solidFill>
            </p:spPr>
          </p:sp>
          <p:sp>
            <p:nvSpPr>
              <p:cNvPr name="TextBox 38" id="38"/>
              <p:cNvSpPr txBox="true"/>
              <p:nvPr/>
            </p:nvSpPr>
            <p:spPr>
              <a:xfrm>
                <a:off x="0" y="79375"/>
                <a:ext cx="660400" cy="809498"/>
              </a:xfrm>
              <a:prstGeom prst="rect">
                <a:avLst/>
              </a:prstGeom>
            </p:spPr>
            <p:txBody>
              <a:bodyPr anchor="ctr" rtlCol="false" tIns="50800" lIns="50800" bIns="50800" rIns="50800"/>
              <a:lstStyle/>
              <a:p>
                <a:pPr algn="ctr">
                  <a:lnSpc>
                    <a:spcPts val="2659"/>
                  </a:lnSpc>
                </a:pPr>
              </a:p>
            </p:txBody>
          </p:sp>
        </p:grpSp>
      </p:grpSp>
      <p:grpSp>
        <p:nvGrpSpPr>
          <p:cNvPr name="Group 39" id="39"/>
          <p:cNvGrpSpPr/>
          <p:nvPr/>
        </p:nvGrpSpPr>
        <p:grpSpPr>
          <a:xfrm rot="0">
            <a:off x="4625269" y="5143500"/>
            <a:ext cx="2844974" cy="3331743"/>
            <a:chOff x="0" y="0"/>
            <a:chExt cx="812800" cy="951869"/>
          </a:xfrm>
        </p:grpSpPr>
        <p:sp>
          <p:nvSpPr>
            <p:cNvPr name="Freeform 40" id="40"/>
            <p:cNvSpPr/>
            <p:nvPr/>
          </p:nvSpPr>
          <p:spPr>
            <a:xfrm flipH="false" flipV="false" rot="0">
              <a:off x="0" y="0"/>
              <a:ext cx="812800" cy="951869"/>
            </a:xfrm>
            <a:custGeom>
              <a:avLst/>
              <a:gdLst/>
              <a:ahLst/>
              <a:cxnLst/>
              <a:rect r="r" b="b" t="t" l="l"/>
              <a:pathLst>
                <a:path h="951869" w="812800">
                  <a:moveTo>
                    <a:pt x="0" y="0"/>
                  </a:moveTo>
                  <a:lnTo>
                    <a:pt x="812800" y="0"/>
                  </a:lnTo>
                  <a:lnTo>
                    <a:pt x="812800" y="951869"/>
                  </a:lnTo>
                  <a:lnTo>
                    <a:pt x="0" y="951869"/>
                  </a:lnTo>
                  <a:close/>
                </a:path>
              </a:pathLst>
            </a:custGeom>
            <a:blipFill>
              <a:blip r:embed="rId6"/>
              <a:stretch>
                <a:fillRect l="-37992" t="0" r="-37992" b="0"/>
              </a:stretch>
            </a:blipFill>
          </p:spPr>
        </p:sp>
      </p:grpSp>
      <p:grpSp>
        <p:nvGrpSpPr>
          <p:cNvPr name="Group 41" id="41"/>
          <p:cNvGrpSpPr/>
          <p:nvPr/>
        </p:nvGrpSpPr>
        <p:grpSpPr>
          <a:xfrm rot="0">
            <a:off x="8232242" y="6680929"/>
            <a:ext cx="2680097" cy="7641549"/>
            <a:chOff x="0" y="0"/>
            <a:chExt cx="3573462" cy="10188732"/>
          </a:xfrm>
        </p:grpSpPr>
        <p:grpSp>
          <p:nvGrpSpPr>
            <p:cNvPr name="Group 42" id="42"/>
            <p:cNvGrpSpPr/>
            <p:nvPr/>
          </p:nvGrpSpPr>
          <p:grpSpPr>
            <a:xfrm rot="0">
              <a:off x="0" y="0"/>
              <a:ext cx="3573462" cy="10188732"/>
              <a:chOff x="0" y="0"/>
              <a:chExt cx="660400" cy="1882947"/>
            </a:xfrm>
          </p:grpSpPr>
          <p:sp>
            <p:nvSpPr>
              <p:cNvPr name="Freeform 43" id="43"/>
              <p:cNvSpPr/>
              <p:nvPr/>
            </p:nvSpPr>
            <p:spPr>
              <a:xfrm flipH="false" flipV="false" rot="0">
                <a:off x="0" y="0"/>
                <a:ext cx="660400" cy="1882947"/>
              </a:xfrm>
              <a:custGeom>
                <a:avLst/>
                <a:gdLst/>
                <a:ahLst/>
                <a:cxnLst/>
                <a:rect r="r" b="b" t="t" l="l"/>
                <a:pathLst>
                  <a:path h="1882947"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52273"/>
                    </a:cubicBezTo>
                    <a:lnTo>
                      <a:pt x="660400" y="1882947"/>
                    </a:lnTo>
                    <a:lnTo>
                      <a:pt x="0" y="1882947"/>
                    </a:lnTo>
                    <a:lnTo>
                      <a:pt x="0" y="353409"/>
                    </a:lnTo>
                    <a:cubicBezTo>
                      <a:pt x="1782" y="185660"/>
                      <a:pt x="93019" y="64045"/>
                      <a:pt x="220252" y="19070"/>
                    </a:cubicBezTo>
                    <a:close/>
                  </a:path>
                </a:pathLst>
              </a:custGeom>
              <a:solidFill>
                <a:srgbClr val="08377C"/>
              </a:solidFill>
            </p:spPr>
          </p:sp>
          <p:sp>
            <p:nvSpPr>
              <p:cNvPr name="TextBox 44" id="44"/>
              <p:cNvSpPr txBox="true"/>
              <p:nvPr/>
            </p:nvSpPr>
            <p:spPr>
              <a:xfrm>
                <a:off x="0" y="79375"/>
                <a:ext cx="660400" cy="1803572"/>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86341" y="261204"/>
              <a:ext cx="3200780" cy="4308128"/>
              <a:chOff x="0" y="0"/>
              <a:chExt cx="660400" cy="888873"/>
            </a:xfrm>
          </p:grpSpPr>
          <p:sp>
            <p:nvSpPr>
              <p:cNvPr name="Freeform 46" id="46"/>
              <p:cNvSpPr/>
              <p:nvPr/>
            </p:nvSpPr>
            <p:spPr>
              <a:xfrm flipH="false" flipV="false" rot="0">
                <a:off x="0" y="0"/>
                <a:ext cx="660400" cy="888873"/>
              </a:xfrm>
              <a:custGeom>
                <a:avLst/>
                <a:gdLst/>
                <a:ahLst/>
                <a:cxnLst/>
                <a:rect r="r" b="b" t="t" l="l"/>
                <a:pathLst>
                  <a:path h="888873"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0192"/>
                    </a:cubicBezTo>
                    <a:lnTo>
                      <a:pt x="660400" y="888873"/>
                    </a:lnTo>
                    <a:lnTo>
                      <a:pt x="0" y="888873"/>
                    </a:lnTo>
                    <a:lnTo>
                      <a:pt x="0" y="330606"/>
                    </a:lnTo>
                    <a:cubicBezTo>
                      <a:pt x="1782" y="185660"/>
                      <a:pt x="93019" y="64045"/>
                      <a:pt x="220252" y="19070"/>
                    </a:cubicBezTo>
                    <a:close/>
                  </a:path>
                </a:pathLst>
              </a:custGeom>
              <a:solidFill>
                <a:srgbClr val="AECCE7"/>
              </a:solidFill>
            </p:spPr>
          </p:sp>
          <p:sp>
            <p:nvSpPr>
              <p:cNvPr name="TextBox 47" id="47"/>
              <p:cNvSpPr txBox="true"/>
              <p:nvPr/>
            </p:nvSpPr>
            <p:spPr>
              <a:xfrm>
                <a:off x="0" y="79375"/>
                <a:ext cx="660400" cy="809498"/>
              </a:xfrm>
              <a:prstGeom prst="rect">
                <a:avLst/>
              </a:prstGeom>
            </p:spPr>
            <p:txBody>
              <a:bodyPr anchor="ctr" rtlCol="false" tIns="50800" lIns="50800" bIns="50800" rIns="50800"/>
              <a:lstStyle/>
              <a:p>
                <a:pPr algn="ctr">
                  <a:lnSpc>
                    <a:spcPts val="2659"/>
                  </a:lnSpc>
                </a:pPr>
              </a:p>
            </p:txBody>
          </p:sp>
        </p:grpSp>
      </p:grpSp>
      <p:grpSp>
        <p:nvGrpSpPr>
          <p:cNvPr name="Group 48" id="48"/>
          <p:cNvGrpSpPr/>
          <p:nvPr/>
        </p:nvGrpSpPr>
        <p:grpSpPr>
          <a:xfrm rot="0">
            <a:off x="8149804" y="6864253"/>
            <a:ext cx="2844974" cy="3255613"/>
            <a:chOff x="0" y="0"/>
            <a:chExt cx="812800" cy="930118"/>
          </a:xfrm>
        </p:grpSpPr>
        <p:sp>
          <p:nvSpPr>
            <p:cNvPr name="Freeform 49" id="49"/>
            <p:cNvSpPr/>
            <p:nvPr/>
          </p:nvSpPr>
          <p:spPr>
            <a:xfrm flipH="false" flipV="false" rot="0">
              <a:off x="0" y="0"/>
              <a:ext cx="812800" cy="930118"/>
            </a:xfrm>
            <a:custGeom>
              <a:avLst/>
              <a:gdLst/>
              <a:ahLst/>
              <a:cxnLst/>
              <a:rect r="r" b="b" t="t" l="l"/>
              <a:pathLst>
                <a:path h="930118" w="812800">
                  <a:moveTo>
                    <a:pt x="0" y="0"/>
                  </a:moveTo>
                  <a:lnTo>
                    <a:pt x="812800" y="0"/>
                  </a:lnTo>
                  <a:lnTo>
                    <a:pt x="812800" y="930118"/>
                  </a:lnTo>
                  <a:lnTo>
                    <a:pt x="0" y="930118"/>
                  </a:lnTo>
                  <a:close/>
                </a:path>
              </a:pathLst>
            </a:custGeom>
            <a:blipFill>
              <a:blip r:embed="rId7"/>
              <a:stretch>
                <a:fillRect l="-35825" t="0" r="-35825" b="0"/>
              </a:stretch>
            </a:blipFill>
          </p:spPr>
        </p:sp>
      </p:grpSp>
      <p:sp>
        <p:nvSpPr>
          <p:cNvPr name="Freeform 50" id="50"/>
          <p:cNvSpPr/>
          <p:nvPr/>
        </p:nvSpPr>
        <p:spPr>
          <a:xfrm flipH="false" flipV="false" rot="0">
            <a:off x="360495" y="261488"/>
            <a:ext cx="1048730" cy="1068254"/>
          </a:xfrm>
          <a:custGeom>
            <a:avLst/>
            <a:gdLst/>
            <a:ahLst/>
            <a:cxnLst/>
            <a:rect r="r" b="b" t="t" l="l"/>
            <a:pathLst>
              <a:path h="1068254" w="1048730">
                <a:moveTo>
                  <a:pt x="0" y="0"/>
                </a:moveTo>
                <a:lnTo>
                  <a:pt x="1048730" y="0"/>
                </a:lnTo>
                <a:lnTo>
                  <a:pt x="1048730" y="1068254"/>
                </a:lnTo>
                <a:lnTo>
                  <a:pt x="0" y="1068254"/>
                </a:lnTo>
                <a:lnTo>
                  <a:pt x="0" y="0"/>
                </a:lnTo>
                <a:close/>
              </a:path>
            </a:pathLst>
          </a:custGeom>
          <a:blipFill>
            <a:blip r:embed="rId8"/>
            <a:stretch>
              <a:fillRect l="0" t="0" r="0" b="0"/>
            </a:stretch>
          </a:blipFill>
        </p:spPr>
      </p:sp>
      <p:sp>
        <p:nvSpPr>
          <p:cNvPr name="Freeform 51" id="51"/>
          <p:cNvSpPr/>
          <p:nvPr/>
        </p:nvSpPr>
        <p:spPr>
          <a:xfrm flipH="false" flipV="false" rot="0">
            <a:off x="1639293" y="161971"/>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9"/>
            <a:stretch>
              <a:fillRect l="0" t="0" r="0" b="0"/>
            </a:stretch>
          </a:blipFill>
        </p:spPr>
      </p:sp>
      <p:sp>
        <p:nvSpPr>
          <p:cNvPr name="TextBox 52" id="52"/>
          <p:cNvSpPr txBox="true"/>
          <p:nvPr/>
        </p:nvSpPr>
        <p:spPr>
          <a:xfrm rot="0">
            <a:off x="11239713" y="7520509"/>
            <a:ext cx="6675356" cy="971550"/>
          </a:xfrm>
          <a:prstGeom prst="rect">
            <a:avLst/>
          </a:prstGeom>
        </p:spPr>
        <p:txBody>
          <a:bodyPr anchor="t" rtlCol="false" tIns="0" lIns="0" bIns="0" rIns="0">
            <a:spAutoFit/>
          </a:bodyPr>
          <a:lstStyle/>
          <a:p>
            <a:pPr algn="ctr">
              <a:lnSpc>
                <a:spcPts val="3840"/>
              </a:lnSpc>
            </a:pPr>
            <a:r>
              <a:rPr lang="en-US" b="true" sz="3200" spc="115">
                <a:solidFill>
                  <a:srgbClr val="000B5D"/>
                </a:solidFill>
                <a:latin typeface="Montserrat Classic Bold"/>
                <a:ea typeface="Montserrat Classic Bold"/>
                <a:cs typeface="Montserrat Classic Bold"/>
                <a:sym typeface="Montserrat Classic Bold"/>
              </a:rPr>
              <a:t>Muhammad Ibrahim Musyaffa </a:t>
            </a:r>
          </a:p>
          <a:p>
            <a:pPr algn="ctr" marL="0" indent="0" lvl="0">
              <a:lnSpc>
                <a:spcPts val="3840"/>
              </a:lnSpc>
              <a:spcBef>
                <a:spcPct val="0"/>
              </a:spcBef>
            </a:pPr>
            <a:r>
              <a:rPr lang="en-US" b="true" sz="3200" spc="115">
                <a:solidFill>
                  <a:srgbClr val="000B5D"/>
                </a:solidFill>
                <a:latin typeface="Montserrat Classic Bold"/>
                <a:ea typeface="Montserrat Classic Bold"/>
                <a:cs typeface="Montserrat Classic Bold"/>
                <a:sym typeface="Montserrat Classic Bold"/>
              </a:rPr>
              <a:t>(Anggota 2)</a:t>
            </a:r>
          </a:p>
        </p:txBody>
      </p:sp>
      <p:sp>
        <p:nvSpPr>
          <p:cNvPr name="TextBox 53" id="53"/>
          <p:cNvSpPr txBox="true"/>
          <p:nvPr/>
        </p:nvSpPr>
        <p:spPr>
          <a:xfrm rot="0">
            <a:off x="1028700" y="1967153"/>
            <a:ext cx="7028260" cy="847725"/>
          </a:xfrm>
          <a:prstGeom prst="rect">
            <a:avLst/>
          </a:prstGeom>
        </p:spPr>
        <p:txBody>
          <a:bodyPr anchor="t" rtlCol="false" tIns="0" lIns="0" bIns="0" rIns="0">
            <a:spAutoFit/>
          </a:bodyPr>
          <a:lstStyle/>
          <a:p>
            <a:pPr algn="l" marL="0" indent="0" lvl="0">
              <a:lnSpc>
                <a:spcPts val="6720"/>
              </a:lnSpc>
              <a:spcBef>
                <a:spcPct val="0"/>
              </a:spcBef>
            </a:pPr>
            <a:r>
              <a:rPr lang="en-US" b="true" sz="5600" spc="201">
                <a:solidFill>
                  <a:srgbClr val="000B5D"/>
                </a:solidFill>
                <a:latin typeface="Montserrat Bold"/>
                <a:ea typeface="Montserrat Bold"/>
                <a:cs typeface="Montserrat Bold"/>
                <a:sym typeface="Montserrat Bold"/>
              </a:rPr>
              <a:t>ANGGOTA TIM</a:t>
            </a:r>
          </a:p>
        </p:txBody>
      </p:sp>
      <p:sp>
        <p:nvSpPr>
          <p:cNvPr name="TextBox 54" id="54"/>
          <p:cNvSpPr txBox="true"/>
          <p:nvPr/>
        </p:nvSpPr>
        <p:spPr>
          <a:xfrm rot="0">
            <a:off x="4219092" y="3567102"/>
            <a:ext cx="6775686" cy="971550"/>
          </a:xfrm>
          <a:prstGeom prst="rect">
            <a:avLst/>
          </a:prstGeom>
        </p:spPr>
        <p:txBody>
          <a:bodyPr anchor="t" rtlCol="false" tIns="0" lIns="0" bIns="0" rIns="0">
            <a:spAutoFit/>
          </a:bodyPr>
          <a:lstStyle/>
          <a:p>
            <a:pPr algn="ctr">
              <a:lnSpc>
                <a:spcPts val="3840"/>
              </a:lnSpc>
            </a:pPr>
            <a:r>
              <a:rPr lang="en-US" b="true" sz="3200" spc="115">
                <a:solidFill>
                  <a:srgbClr val="000B5D"/>
                </a:solidFill>
                <a:latin typeface="Montserrat Classic Bold"/>
                <a:ea typeface="Montserrat Classic Bold"/>
                <a:cs typeface="Montserrat Classic Bold"/>
                <a:sym typeface="Montserrat Classic Bold"/>
              </a:rPr>
              <a:t>Destama Rohman Nuswantoro</a:t>
            </a:r>
          </a:p>
          <a:p>
            <a:pPr algn="ctr" marL="0" indent="0" lvl="0">
              <a:lnSpc>
                <a:spcPts val="3840"/>
              </a:lnSpc>
              <a:spcBef>
                <a:spcPct val="0"/>
              </a:spcBef>
            </a:pPr>
            <a:r>
              <a:rPr lang="en-US" b="true" sz="3200" spc="115">
                <a:solidFill>
                  <a:srgbClr val="000B5D"/>
                </a:solidFill>
                <a:latin typeface="Montserrat Classic Bold"/>
                <a:ea typeface="Montserrat Classic Bold"/>
                <a:cs typeface="Montserrat Classic Bold"/>
                <a:sym typeface="Montserrat Classic Bold"/>
              </a:rPr>
              <a:t>(Ketua) </a:t>
            </a:r>
          </a:p>
        </p:txBody>
      </p:sp>
      <p:sp>
        <p:nvSpPr>
          <p:cNvPr name="TextBox 55" id="55"/>
          <p:cNvSpPr txBox="true"/>
          <p:nvPr/>
        </p:nvSpPr>
        <p:spPr>
          <a:xfrm rot="0">
            <a:off x="7577690" y="5452684"/>
            <a:ext cx="5436762" cy="971550"/>
          </a:xfrm>
          <a:prstGeom prst="rect">
            <a:avLst/>
          </a:prstGeom>
        </p:spPr>
        <p:txBody>
          <a:bodyPr anchor="t" rtlCol="false" tIns="0" lIns="0" bIns="0" rIns="0">
            <a:spAutoFit/>
          </a:bodyPr>
          <a:lstStyle/>
          <a:p>
            <a:pPr algn="ctr">
              <a:lnSpc>
                <a:spcPts val="3840"/>
              </a:lnSpc>
            </a:pPr>
            <a:r>
              <a:rPr lang="en-US" b="true" sz="3200" spc="115">
                <a:solidFill>
                  <a:srgbClr val="000B5D"/>
                </a:solidFill>
                <a:latin typeface="Montserrat Classic Bold"/>
                <a:ea typeface="Montserrat Classic Bold"/>
                <a:cs typeface="Montserrat Classic Bold"/>
                <a:sym typeface="Montserrat Classic Bold"/>
              </a:rPr>
              <a:t>Syahrijal Aulia Rasyidin </a:t>
            </a:r>
          </a:p>
          <a:p>
            <a:pPr algn="ctr" marL="0" indent="0" lvl="0">
              <a:lnSpc>
                <a:spcPts val="3840"/>
              </a:lnSpc>
              <a:spcBef>
                <a:spcPct val="0"/>
              </a:spcBef>
            </a:pPr>
            <a:r>
              <a:rPr lang="en-US" b="true" sz="3200" spc="115">
                <a:solidFill>
                  <a:srgbClr val="000B5D"/>
                </a:solidFill>
                <a:latin typeface="Montserrat Classic Bold"/>
                <a:ea typeface="Montserrat Classic Bold"/>
                <a:cs typeface="Montserrat Classic Bold"/>
                <a:sym typeface="Montserrat Classic Bold"/>
              </a:rPr>
              <a:t>(Anggota 1)</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grpSp>
        <p:nvGrpSpPr>
          <p:cNvPr name="Group 2" id="2"/>
          <p:cNvGrpSpPr/>
          <p:nvPr/>
        </p:nvGrpSpPr>
        <p:grpSpPr>
          <a:xfrm rot="0">
            <a:off x="17069618" y="432142"/>
            <a:ext cx="4929839" cy="4269018"/>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cap="sq">
              <a:noFill/>
              <a:prstDash val="solid"/>
              <a:miter/>
            </a:ln>
          </p:spPr>
        </p:sp>
      </p:grpSp>
      <p:grpSp>
        <p:nvGrpSpPr>
          <p:cNvPr name="Group 4" id="4"/>
          <p:cNvGrpSpPr/>
          <p:nvPr/>
        </p:nvGrpSpPr>
        <p:grpSpPr>
          <a:xfrm rot="0">
            <a:off x="13141837" y="-1702367"/>
            <a:ext cx="4929839" cy="4269018"/>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26" t="0" r="-14926" b="0"/>
              </a:stretch>
            </a:blipFill>
            <a:ln cap="sq">
              <a:noFill/>
              <a:prstDash val="solid"/>
              <a:miter/>
            </a:ln>
          </p:spPr>
        </p:sp>
      </p:grpSp>
      <p:grpSp>
        <p:nvGrpSpPr>
          <p:cNvPr name="Group 6" id="6"/>
          <p:cNvGrpSpPr/>
          <p:nvPr/>
        </p:nvGrpSpPr>
        <p:grpSpPr>
          <a:xfrm rot="0">
            <a:off x="13141837" y="2739766"/>
            <a:ext cx="4929839" cy="4269018"/>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0" t="-29413" r="0" b="-43913"/>
              </a:stretch>
            </a:blipFill>
            <a:ln cap="sq">
              <a:noFill/>
              <a:prstDash val="solid"/>
              <a:miter/>
            </a:ln>
          </p:spPr>
        </p:sp>
      </p:grpSp>
      <p:grpSp>
        <p:nvGrpSpPr>
          <p:cNvPr name="Group 8" id="8"/>
          <p:cNvGrpSpPr/>
          <p:nvPr/>
        </p:nvGrpSpPr>
        <p:grpSpPr>
          <a:xfrm rot="0">
            <a:off x="17069618" y="4974544"/>
            <a:ext cx="4929839" cy="4269018"/>
            <a:chOff x="0" y="0"/>
            <a:chExt cx="4282440" cy="3708400"/>
          </a:xfrm>
        </p:grpSpPr>
        <p:sp>
          <p:nvSpPr>
            <p:cNvPr name="Freeform 9" id="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5"/>
              <a:stretch>
                <a:fillRect l="-14906" t="0" r="-14906" b="0"/>
              </a:stretch>
            </a:blipFill>
            <a:ln cap="sq">
              <a:noFill/>
              <a:prstDash val="solid"/>
              <a:miter/>
            </a:ln>
          </p:spPr>
        </p:sp>
      </p:grpSp>
      <p:grpSp>
        <p:nvGrpSpPr>
          <p:cNvPr name="Group 10" id="10"/>
          <p:cNvGrpSpPr/>
          <p:nvPr/>
        </p:nvGrpSpPr>
        <p:grpSpPr>
          <a:xfrm rot="0">
            <a:off x="13141837" y="7180235"/>
            <a:ext cx="4929839" cy="4269018"/>
            <a:chOff x="0" y="0"/>
            <a:chExt cx="4282440" cy="3708400"/>
          </a:xfrm>
        </p:grpSpPr>
        <p:sp>
          <p:nvSpPr>
            <p:cNvPr name="Freeform 11" id="11"/>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6"/>
              <a:stretch>
                <a:fillRect l="-14946" t="0" r="-14946" b="0"/>
              </a:stretch>
            </a:blipFill>
            <a:ln cap="sq">
              <a:noFill/>
              <a:prstDash val="solid"/>
              <a:miter/>
            </a:ln>
          </p:spPr>
        </p:sp>
      </p:grpSp>
      <p:sp>
        <p:nvSpPr>
          <p:cNvPr name="Freeform 12" id="12"/>
          <p:cNvSpPr/>
          <p:nvPr/>
        </p:nvSpPr>
        <p:spPr>
          <a:xfrm flipH="false" flipV="false" rot="-3578320">
            <a:off x="17912909" y="8854077"/>
            <a:ext cx="2606369" cy="2255694"/>
          </a:xfrm>
          <a:custGeom>
            <a:avLst/>
            <a:gdLst/>
            <a:ahLst/>
            <a:cxnLst/>
            <a:rect r="r" b="b" t="t" l="l"/>
            <a:pathLst>
              <a:path h="2255694" w="2606369">
                <a:moveTo>
                  <a:pt x="0" y="0"/>
                </a:moveTo>
                <a:lnTo>
                  <a:pt x="2606369" y="0"/>
                </a:lnTo>
                <a:lnTo>
                  <a:pt x="2606369" y="2255694"/>
                </a:lnTo>
                <a:lnTo>
                  <a:pt x="0" y="22556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7221679">
            <a:off x="10555925" y="401501"/>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3578320">
            <a:off x="12808009" y="-906227"/>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3578320">
            <a:off x="12822424" y="1728986"/>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360495" y="261488"/>
            <a:ext cx="1048730" cy="1068254"/>
          </a:xfrm>
          <a:custGeom>
            <a:avLst/>
            <a:gdLst/>
            <a:ahLst/>
            <a:cxnLst/>
            <a:rect r="r" b="b" t="t" l="l"/>
            <a:pathLst>
              <a:path h="1068254" w="1048730">
                <a:moveTo>
                  <a:pt x="0" y="0"/>
                </a:moveTo>
                <a:lnTo>
                  <a:pt x="1048730" y="0"/>
                </a:lnTo>
                <a:lnTo>
                  <a:pt x="1048730" y="1068254"/>
                </a:lnTo>
                <a:lnTo>
                  <a:pt x="0" y="1068254"/>
                </a:lnTo>
                <a:lnTo>
                  <a:pt x="0" y="0"/>
                </a:lnTo>
                <a:close/>
              </a:path>
            </a:pathLst>
          </a:custGeom>
          <a:blipFill>
            <a:blip r:embed="rId13"/>
            <a:stretch>
              <a:fillRect l="0" t="0" r="0" b="0"/>
            </a:stretch>
          </a:blipFill>
        </p:spPr>
      </p:sp>
      <p:sp>
        <p:nvSpPr>
          <p:cNvPr name="Freeform 17" id="17"/>
          <p:cNvSpPr/>
          <p:nvPr/>
        </p:nvSpPr>
        <p:spPr>
          <a:xfrm flipH="false" flipV="false" rot="0">
            <a:off x="1639293" y="161971"/>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4"/>
            <a:stretch>
              <a:fillRect l="0" t="0" r="0" b="0"/>
            </a:stretch>
          </a:blipFill>
        </p:spPr>
      </p:sp>
      <p:grpSp>
        <p:nvGrpSpPr>
          <p:cNvPr name="Group 18" id="18"/>
          <p:cNvGrpSpPr/>
          <p:nvPr/>
        </p:nvGrpSpPr>
        <p:grpSpPr>
          <a:xfrm rot="0">
            <a:off x="1028700" y="2487930"/>
            <a:ext cx="12081902" cy="5980091"/>
            <a:chOff x="0" y="0"/>
            <a:chExt cx="16109202" cy="7973455"/>
          </a:xfrm>
        </p:grpSpPr>
        <p:sp>
          <p:nvSpPr>
            <p:cNvPr name="TextBox 19" id="19"/>
            <p:cNvSpPr txBox="true"/>
            <p:nvPr/>
          </p:nvSpPr>
          <p:spPr>
            <a:xfrm rot="0">
              <a:off x="0" y="-104775"/>
              <a:ext cx="11980235" cy="2556655"/>
            </a:xfrm>
            <a:prstGeom prst="rect">
              <a:avLst/>
            </a:prstGeom>
          </p:spPr>
          <p:txBody>
            <a:bodyPr anchor="t" rtlCol="false" tIns="0" lIns="0" bIns="0" rIns="0">
              <a:spAutoFit/>
            </a:bodyPr>
            <a:lstStyle/>
            <a:p>
              <a:pPr algn="l">
                <a:lnSpc>
                  <a:spcPts val="7840"/>
                </a:lnSpc>
              </a:pPr>
              <a:r>
                <a:rPr lang="en-US" sz="5600" b="true">
                  <a:solidFill>
                    <a:srgbClr val="FFFFFF"/>
                  </a:solidFill>
                  <a:latin typeface="Montserrat Bold"/>
                  <a:ea typeface="Montserrat Bold"/>
                  <a:cs typeface="Montserrat Bold"/>
                  <a:sym typeface="Montserrat Bold"/>
                </a:rPr>
                <a:t>Latar Belakang Penelitian</a:t>
              </a:r>
            </a:p>
          </p:txBody>
        </p:sp>
        <p:sp>
          <p:nvSpPr>
            <p:cNvPr name="TextBox 20" id="20"/>
            <p:cNvSpPr txBox="true"/>
            <p:nvPr/>
          </p:nvSpPr>
          <p:spPr>
            <a:xfrm rot="0">
              <a:off x="0" y="2731280"/>
              <a:ext cx="16109202" cy="2750655"/>
            </a:xfrm>
            <a:prstGeom prst="rect">
              <a:avLst/>
            </a:prstGeom>
          </p:spPr>
          <p:txBody>
            <a:bodyPr anchor="t" rtlCol="false" tIns="0" lIns="0" bIns="0" rIns="0">
              <a:spAutoFit/>
            </a:bodyPr>
            <a:lstStyle/>
            <a:p>
              <a:pPr algn="l">
                <a:lnSpc>
                  <a:spcPts val="3359"/>
                </a:lnSpc>
              </a:pPr>
              <a:r>
                <a:rPr lang="en-US" sz="2400">
                  <a:solidFill>
                    <a:srgbClr val="AECCE7"/>
                  </a:solidFill>
                  <a:latin typeface="Montserrat"/>
                  <a:ea typeface="Montserrat"/>
                  <a:cs typeface="Montserrat"/>
                  <a:sym typeface="Montserrat"/>
                </a:rPr>
                <a:t>Lampu Lalu Lintas konvensional memiliki durasi fase waktu yang tidak dapat menyesuaikan tingkat antrian kendaraan secara fluktuatif, dan mengakibatkan durasi waktu isyarat lampu yang kaku. Sedangkan pada jam sibuk, kondisi persimpangan tidak selalu ramai, terdapat beberapa kondisi kaki simpang berada dalam kondisi kosong. </a:t>
              </a:r>
            </a:p>
          </p:txBody>
        </p:sp>
        <p:sp>
          <p:nvSpPr>
            <p:cNvPr name="TextBox 21" id="21"/>
            <p:cNvSpPr txBox="true"/>
            <p:nvPr/>
          </p:nvSpPr>
          <p:spPr>
            <a:xfrm rot="0">
              <a:off x="0" y="5781435"/>
              <a:ext cx="15794792" cy="2192020"/>
            </a:xfrm>
            <a:prstGeom prst="rect">
              <a:avLst/>
            </a:prstGeom>
          </p:spPr>
          <p:txBody>
            <a:bodyPr anchor="t" rtlCol="false" tIns="0" lIns="0" bIns="0" rIns="0">
              <a:spAutoFit/>
            </a:bodyPr>
            <a:lstStyle/>
            <a:p>
              <a:pPr algn="l">
                <a:lnSpc>
                  <a:spcPts val="3359"/>
                </a:lnSpc>
                <a:spcBef>
                  <a:spcPct val="0"/>
                </a:spcBef>
              </a:pPr>
              <a:r>
                <a:rPr lang="en-US" sz="2400">
                  <a:solidFill>
                    <a:srgbClr val="AECCE7"/>
                  </a:solidFill>
                  <a:latin typeface="Montserrat"/>
                  <a:ea typeface="Montserrat"/>
                  <a:cs typeface="Montserrat"/>
                  <a:sym typeface="Montserrat"/>
                </a:rPr>
                <a:t>Kaki simpang yang kosong akan tetap mendapatkan isyarat lampu hijau, sedangkan pada kaki simpang lain memiliki antrian kendaraan. Pengendara yang merasa kelelahan dan merasa kesal dapat mengambil keputusan dengan melanggar lalu lintas, seperti menerobos lampu merah.</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grpSp>
        <p:nvGrpSpPr>
          <p:cNvPr name="Group 2" id="2"/>
          <p:cNvGrpSpPr/>
          <p:nvPr/>
        </p:nvGrpSpPr>
        <p:grpSpPr>
          <a:xfrm rot="0">
            <a:off x="17069618" y="432142"/>
            <a:ext cx="4929839" cy="4269018"/>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29974" t="0" r="0" b="0"/>
              </a:stretch>
            </a:blipFill>
            <a:ln cap="sq">
              <a:noFill/>
              <a:prstDash val="solid"/>
              <a:miter/>
            </a:ln>
          </p:spPr>
        </p:sp>
      </p:grpSp>
      <p:grpSp>
        <p:nvGrpSpPr>
          <p:cNvPr name="Group 4" id="4"/>
          <p:cNvGrpSpPr/>
          <p:nvPr/>
        </p:nvGrpSpPr>
        <p:grpSpPr>
          <a:xfrm rot="0">
            <a:off x="13141837" y="-1702367"/>
            <a:ext cx="4929839" cy="4269018"/>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cap="sq">
              <a:noFill/>
              <a:prstDash val="solid"/>
              <a:miter/>
            </a:ln>
          </p:spPr>
        </p:sp>
      </p:grpSp>
      <p:grpSp>
        <p:nvGrpSpPr>
          <p:cNvPr name="Group 6" id="6"/>
          <p:cNvGrpSpPr/>
          <p:nvPr/>
        </p:nvGrpSpPr>
        <p:grpSpPr>
          <a:xfrm rot="0">
            <a:off x="13141837" y="2739766"/>
            <a:ext cx="4929839" cy="4269018"/>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29974" t="0" r="0" b="0"/>
              </a:stretch>
            </a:blipFill>
            <a:ln cap="sq">
              <a:noFill/>
              <a:prstDash val="solid"/>
              <a:miter/>
            </a:ln>
          </p:spPr>
        </p:sp>
      </p:grpSp>
      <p:grpSp>
        <p:nvGrpSpPr>
          <p:cNvPr name="Group 8" id="8"/>
          <p:cNvGrpSpPr/>
          <p:nvPr/>
        </p:nvGrpSpPr>
        <p:grpSpPr>
          <a:xfrm rot="0">
            <a:off x="17069618" y="4974544"/>
            <a:ext cx="4929839" cy="4269018"/>
            <a:chOff x="0" y="0"/>
            <a:chExt cx="4282440" cy="3708400"/>
          </a:xfrm>
        </p:grpSpPr>
        <p:sp>
          <p:nvSpPr>
            <p:cNvPr name="Freeform 9" id="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5"/>
              <a:stretch>
                <a:fillRect l="-14987" t="0" r="-14987" b="0"/>
              </a:stretch>
            </a:blipFill>
            <a:ln cap="sq">
              <a:noFill/>
              <a:prstDash val="solid"/>
              <a:miter/>
            </a:ln>
          </p:spPr>
        </p:sp>
      </p:grpSp>
      <p:grpSp>
        <p:nvGrpSpPr>
          <p:cNvPr name="Group 10" id="10"/>
          <p:cNvGrpSpPr/>
          <p:nvPr/>
        </p:nvGrpSpPr>
        <p:grpSpPr>
          <a:xfrm rot="0">
            <a:off x="13141837" y="7180235"/>
            <a:ext cx="4929839" cy="4269018"/>
            <a:chOff x="0" y="0"/>
            <a:chExt cx="4282440" cy="3708400"/>
          </a:xfrm>
        </p:grpSpPr>
        <p:sp>
          <p:nvSpPr>
            <p:cNvPr name="Freeform 11" id="11"/>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6"/>
              <a:stretch>
                <a:fillRect l="-37691" t="0" r="-37691" b="0"/>
              </a:stretch>
            </a:blipFill>
            <a:ln cap="sq">
              <a:noFill/>
              <a:prstDash val="solid"/>
              <a:miter/>
            </a:ln>
          </p:spPr>
        </p:sp>
      </p:grpSp>
      <p:sp>
        <p:nvSpPr>
          <p:cNvPr name="Freeform 12" id="12"/>
          <p:cNvSpPr/>
          <p:nvPr/>
        </p:nvSpPr>
        <p:spPr>
          <a:xfrm flipH="false" flipV="false" rot="-3578320">
            <a:off x="17912909" y="8854077"/>
            <a:ext cx="2606369" cy="2255694"/>
          </a:xfrm>
          <a:custGeom>
            <a:avLst/>
            <a:gdLst/>
            <a:ahLst/>
            <a:cxnLst/>
            <a:rect r="r" b="b" t="t" l="l"/>
            <a:pathLst>
              <a:path h="2255694" w="2606369">
                <a:moveTo>
                  <a:pt x="0" y="0"/>
                </a:moveTo>
                <a:lnTo>
                  <a:pt x="2606369" y="0"/>
                </a:lnTo>
                <a:lnTo>
                  <a:pt x="2606369" y="2255694"/>
                </a:lnTo>
                <a:lnTo>
                  <a:pt x="0" y="22556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7221679">
            <a:off x="10555925" y="401501"/>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3578320">
            <a:off x="12808009" y="-906227"/>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3578320">
            <a:off x="12822424" y="1728986"/>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1028700" y="2383155"/>
            <a:ext cx="8985176" cy="1943685"/>
          </a:xfrm>
          <a:prstGeom prst="rect">
            <a:avLst/>
          </a:prstGeom>
        </p:spPr>
        <p:txBody>
          <a:bodyPr anchor="t" rtlCol="false" tIns="0" lIns="0" bIns="0" rIns="0">
            <a:spAutoFit/>
          </a:bodyPr>
          <a:lstStyle/>
          <a:p>
            <a:pPr algn="l">
              <a:lnSpc>
                <a:spcPts val="7840"/>
              </a:lnSpc>
            </a:pPr>
            <a:r>
              <a:rPr lang="en-US" sz="5600" b="true">
                <a:solidFill>
                  <a:srgbClr val="FFFFFF"/>
                </a:solidFill>
                <a:latin typeface="Montserrat Bold"/>
                <a:ea typeface="Montserrat Bold"/>
                <a:cs typeface="Montserrat Bold"/>
                <a:sym typeface="Montserrat Bold"/>
              </a:rPr>
              <a:t>Latar Belakang Penelitian</a:t>
            </a:r>
          </a:p>
        </p:txBody>
      </p:sp>
      <p:sp>
        <p:nvSpPr>
          <p:cNvPr name="TextBox 17" id="17"/>
          <p:cNvSpPr txBox="true"/>
          <p:nvPr/>
        </p:nvSpPr>
        <p:spPr>
          <a:xfrm rot="0">
            <a:off x="1082149" y="4605882"/>
            <a:ext cx="11934522" cy="1842135"/>
          </a:xfrm>
          <a:prstGeom prst="rect">
            <a:avLst/>
          </a:prstGeom>
        </p:spPr>
        <p:txBody>
          <a:bodyPr anchor="t" rtlCol="false" tIns="0" lIns="0" bIns="0" rIns="0">
            <a:spAutoFit/>
          </a:bodyPr>
          <a:lstStyle/>
          <a:p>
            <a:pPr algn="l">
              <a:lnSpc>
                <a:spcPts val="2940"/>
              </a:lnSpc>
              <a:spcBef>
                <a:spcPct val="0"/>
              </a:spcBef>
            </a:pPr>
            <a:r>
              <a:rPr lang="en-US" sz="2100">
                <a:solidFill>
                  <a:srgbClr val="AECCE7"/>
                </a:solidFill>
                <a:latin typeface="Montserrat"/>
                <a:ea typeface="Montserrat"/>
                <a:cs typeface="Montserrat"/>
                <a:sym typeface="Montserrat"/>
              </a:rPr>
              <a:t>Sedangkan secara logika, menunggu kaki simpang yang kosong akan menambah waktu tunggu pengendara dan akan meningkatkan penumpukan antrian kendaraan pada kaki simpang lain. Oleh karena itu, kami mengembangkan Lampu Lalu Lintas Cerdas Berbasis YOLO untuk meningkatkan efisiensi dan efektifitas jalan sehingga meminimalkan waktu yang terbuang selama perjalanan.</a:t>
            </a:r>
          </a:p>
        </p:txBody>
      </p:sp>
      <p:sp>
        <p:nvSpPr>
          <p:cNvPr name="Freeform 18" id="18"/>
          <p:cNvSpPr/>
          <p:nvPr/>
        </p:nvSpPr>
        <p:spPr>
          <a:xfrm flipH="false" flipV="false" rot="0">
            <a:off x="360495" y="261488"/>
            <a:ext cx="1048730" cy="1068254"/>
          </a:xfrm>
          <a:custGeom>
            <a:avLst/>
            <a:gdLst/>
            <a:ahLst/>
            <a:cxnLst/>
            <a:rect r="r" b="b" t="t" l="l"/>
            <a:pathLst>
              <a:path h="1068254" w="1048730">
                <a:moveTo>
                  <a:pt x="0" y="0"/>
                </a:moveTo>
                <a:lnTo>
                  <a:pt x="1048730" y="0"/>
                </a:lnTo>
                <a:lnTo>
                  <a:pt x="1048730" y="1068254"/>
                </a:lnTo>
                <a:lnTo>
                  <a:pt x="0" y="1068254"/>
                </a:lnTo>
                <a:lnTo>
                  <a:pt x="0" y="0"/>
                </a:lnTo>
                <a:close/>
              </a:path>
            </a:pathLst>
          </a:custGeom>
          <a:blipFill>
            <a:blip r:embed="rId13"/>
            <a:stretch>
              <a:fillRect l="0" t="0" r="0" b="0"/>
            </a:stretch>
          </a:blipFill>
        </p:spPr>
      </p:sp>
      <p:sp>
        <p:nvSpPr>
          <p:cNvPr name="Freeform 19" id="19"/>
          <p:cNvSpPr/>
          <p:nvPr/>
        </p:nvSpPr>
        <p:spPr>
          <a:xfrm flipH="false" flipV="false" rot="0">
            <a:off x="1639293" y="161971"/>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4"/>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578320">
            <a:off x="3485782" y="-44173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78320">
            <a:off x="4032230" y="8839982"/>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578320">
            <a:off x="3485782" y="2217599"/>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578320">
            <a:off x="1638790" y="7571539"/>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7221679">
            <a:off x="1186674" y="887106"/>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7221679">
            <a:off x="4038991" y="6187105"/>
            <a:ext cx="2898563" cy="2508574"/>
          </a:xfrm>
          <a:custGeom>
            <a:avLst/>
            <a:gdLst/>
            <a:ahLst/>
            <a:cxnLst/>
            <a:rect r="r" b="b" t="t" l="l"/>
            <a:pathLst>
              <a:path h="2508574" w="2898563">
                <a:moveTo>
                  <a:pt x="0" y="0"/>
                </a:moveTo>
                <a:lnTo>
                  <a:pt x="2898563" y="0"/>
                </a:lnTo>
                <a:lnTo>
                  <a:pt x="2898563" y="2508575"/>
                </a:lnTo>
                <a:lnTo>
                  <a:pt x="0" y="25085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221679">
            <a:off x="3492543" y="-435237"/>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9" id="9"/>
          <p:cNvSpPr txBox="true"/>
          <p:nvPr/>
        </p:nvSpPr>
        <p:spPr>
          <a:xfrm rot="0">
            <a:off x="6936656" y="2036618"/>
            <a:ext cx="10668597" cy="2934335"/>
          </a:xfrm>
          <a:prstGeom prst="rect">
            <a:avLst/>
          </a:prstGeom>
        </p:spPr>
        <p:txBody>
          <a:bodyPr anchor="t" rtlCol="false" tIns="0" lIns="0" bIns="0" rIns="0">
            <a:spAutoFit/>
          </a:bodyPr>
          <a:lstStyle/>
          <a:p>
            <a:pPr algn="ctr">
              <a:lnSpc>
                <a:spcPts val="7840"/>
              </a:lnSpc>
            </a:pPr>
            <a:r>
              <a:rPr lang="en-US" sz="5600" b="true">
                <a:solidFill>
                  <a:srgbClr val="4F6A92"/>
                </a:solidFill>
                <a:latin typeface="Montserrat Bold"/>
                <a:ea typeface="Montserrat Bold"/>
                <a:cs typeface="Montserrat Bold"/>
                <a:sym typeface="Montserrat Bold"/>
              </a:rPr>
              <a:t>Hubungan Waktu tunggu dengan Efisiensi dan Efektivitas</a:t>
            </a:r>
          </a:p>
        </p:txBody>
      </p:sp>
      <p:sp>
        <p:nvSpPr>
          <p:cNvPr name="TextBox 10" id="10"/>
          <p:cNvSpPr txBox="true"/>
          <p:nvPr/>
        </p:nvSpPr>
        <p:spPr>
          <a:xfrm rot="0">
            <a:off x="7312523" y="5518792"/>
            <a:ext cx="10292730" cy="3329940"/>
          </a:xfrm>
          <a:prstGeom prst="rect">
            <a:avLst/>
          </a:prstGeom>
        </p:spPr>
        <p:txBody>
          <a:bodyPr anchor="t" rtlCol="false" tIns="0" lIns="0" bIns="0" rIns="0">
            <a:spAutoFit/>
          </a:bodyPr>
          <a:lstStyle/>
          <a:p>
            <a:pPr algn="l">
              <a:lnSpc>
                <a:spcPts val="3359"/>
              </a:lnSpc>
            </a:pPr>
            <a:r>
              <a:rPr lang="en-US" sz="2400" b="true">
                <a:solidFill>
                  <a:srgbClr val="4F6A92"/>
                </a:solidFill>
                <a:latin typeface="Montserrat Bold"/>
                <a:ea typeface="Montserrat Bold"/>
                <a:cs typeface="Montserrat Bold"/>
                <a:sym typeface="Montserrat Bold"/>
              </a:rPr>
              <a:t>Waktu tunggu pengendara terjadi Ketika pengendara terkena isyarat lampu merah, yang berarti memberikan Sebagian ruas jalan untuk pengendara lain dari arah berlawanan untuk meminimalkan konflik. Ketika kaki simpang dari arah berlawanan berada dalam kondisi kosong, efisiensi waktu pengendara akan berkurang karena waktu tunggu pengendara akan terbuang dan efektivitas jalan tidak dapat bekerja secara maksimal. </a:t>
            </a:r>
          </a:p>
        </p:txBody>
      </p:sp>
      <p:sp>
        <p:nvSpPr>
          <p:cNvPr name="Freeform 11" id="11"/>
          <p:cNvSpPr/>
          <p:nvPr/>
        </p:nvSpPr>
        <p:spPr>
          <a:xfrm flipH="false" flipV="false" rot="5826478">
            <a:off x="-4070563" y="2299434"/>
            <a:ext cx="14236019" cy="7411593"/>
          </a:xfrm>
          <a:custGeom>
            <a:avLst/>
            <a:gdLst/>
            <a:ahLst/>
            <a:cxnLst/>
            <a:rect r="r" b="b" t="t" l="l"/>
            <a:pathLst>
              <a:path h="7411593" w="14236019">
                <a:moveTo>
                  <a:pt x="0" y="0"/>
                </a:moveTo>
                <a:lnTo>
                  <a:pt x="14236019" y="0"/>
                </a:lnTo>
                <a:lnTo>
                  <a:pt x="14236019" y="7411593"/>
                </a:lnTo>
                <a:lnTo>
                  <a:pt x="0" y="741159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2" id="12"/>
          <p:cNvGrpSpPr/>
          <p:nvPr/>
        </p:nvGrpSpPr>
        <p:grpSpPr>
          <a:xfrm rot="0">
            <a:off x="-7605542" y="-1399136"/>
            <a:ext cx="13623274" cy="13623220"/>
            <a:chOff x="0" y="0"/>
            <a:chExt cx="6350000" cy="6349975"/>
          </a:xfrm>
        </p:grpSpPr>
        <p:sp>
          <p:nvSpPr>
            <p:cNvPr name="Freeform 13" id="1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18"/>
              <a:stretch>
                <a:fillRect l="-25136" t="0" r="-25136" b="0"/>
              </a:stretch>
            </a:blipFill>
          </p:spPr>
        </p:sp>
      </p:grpSp>
      <p:sp>
        <p:nvSpPr>
          <p:cNvPr name="Freeform 14" id="14"/>
          <p:cNvSpPr/>
          <p:nvPr/>
        </p:nvSpPr>
        <p:spPr>
          <a:xfrm flipH="false" flipV="false" rot="0">
            <a:off x="14725115" y="380537"/>
            <a:ext cx="1048730" cy="1068254"/>
          </a:xfrm>
          <a:custGeom>
            <a:avLst/>
            <a:gdLst/>
            <a:ahLst/>
            <a:cxnLst/>
            <a:rect r="r" b="b" t="t" l="l"/>
            <a:pathLst>
              <a:path h="1068254" w="1048730">
                <a:moveTo>
                  <a:pt x="0" y="0"/>
                </a:moveTo>
                <a:lnTo>
                  <a:pt x="1048731" y="0"/>
                </a:lnTo>
                <a:lnTo>
                  <a:pt x="1048731" y="1068254"/>
                </a:lnTo>
                <a:lnTo>
                  <a:pt x="0" y="1068254"/>
                </a:lnTo>
                <a:lnTo>
                  <a:pt x="0" y="0"/>
                </a:lnTo>
                <a:close/>
              </a:path>
            </a:pathLst>
          </a:custGeom>
          <a:blipFill>
            <a:blip r:embed="rId19"/>
            <a:stretch>
              <a:fillRect l="0" t="0" r="0" b="0"/>
            </a:stretch>
          </a:blipFill>
        </p:spPr>
      </p:sp>
      <p:sp>
        <p:nvSpPr>
          <p:cNvPr name="Freeform 15" id="15"/>
          <p:cNvSpPr/>
          <p:nvPr/>
        </p:nvSpPr>
        <p:spPr>
          <a:xfrm flipH="false" flipV="false" rot="0">
            <a:off x="16050759" y="302239"/>
            <a:ext cx="1760213" cy="1224849"/>
          </a:xfrm>
          <a:custGeom>
            <a:avLst/>
            <a:gdLst/>
            <a:ahLst/>
            <a:cxnLst/>
            <a:rect r="r" b="b" t="t" l="l"/>
            <a:pathLst>
              <a:path h="1224849" w="1760213">
                <a:moveTo>
                  <a:pt x="0" y="0"/>
                </a:moveTo>
                <a:lnTo>
                  <a:pt x="1760213" y="0"/>
                </a:lnTo>
                <a:lnTo>
                  <a:pt x="1760213" y="1224849"/>
                </a:lnTo>
                <a:lnTo>
                  <a:pt x="0" y="1224849"/>
                </a:lnTo>
                <a:lnTo>
                  <a:pt x="0" y="0"/>
                </a:lnTo>
                <a:close/>
              </a:path>
            </a:pathLst>
          </a:custGeom>
          <a:blipFill>
            <a:blip r:embed="rId20"/>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578320">
            <a:off x="15013794" y="8893253"/>
            <a:ext cx="2736405" cy="2368234"/>
          </a:xfrm>
          <a:custGeom>
            <a:avLst/>
            <a:gdLst/>
            <a:ahLst/>
            <a:cxnLst/>
            <a:rect r="r" b="b" t="t" l="l"/>
            <a:pathLst>
              <a:path h="2368234" w="2736405">
                <a:moveTo>
                  <a:pt x="0" y="0"/>
                </a:moveTo>
                <a:lnTo>
                  <a:pt x="2736405" y="0"/>
                </a:lnTo>
                <a:lnTo>
                  <a:pt x="2736405" y="2368234"/>
                </a:lnTo>
                <a:lnTo>
                  <a:pt x="0" y="2368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78320">
            <a:off x="17555316" y="5904658"/>
            <a:ext cx="2736405" cy="2368234"/>
          </a:xfrm>
          <a:custGeom>
            <a:avLst/>
            <a:gdLst/>
            <a:ahLst/>
            <a:cxnLst/>
            <a:rect r="r" b="b" t="t" l="l"/>
            <a:pathLst>
              <a:path h="2368234" w="2736405">
                <a:moveTo>
                  <a:pt x="0" y="0"/>
                </a:moveTo>
                <a:lnTo>
                  <a:pt x="2736405" y="0"/>
                </a:lnTo>
                <a:lnTo>
                  <a:pt x="2736405" y="2368234"/>
                </a:lnTo>
                <a:lnTo>
                  <a:pt x="0" y="2368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221679">
            <a:off x="14954771" y="6434527"/>
            <a:ext cx="2736150" cy="2368013"/>
          </a:xfrm>
          <a:custGeom>
            <a:avLst/>
            <a:gdLst/>
            <a:ahLst/>
            <a:cxnLst/>
            <a:rect r="r" b="b" t="t" l="l"/>
            <a:pathLst>
              <a:path h="2368013" w="2736150">
                <a:moveTo>
                  <a:pt x="0" y="0"/>
                </a:moveTo>
                <a:lnTo>
                  <a:pt x="2736149" y="0"/>
                </a:lnTo>
                <a:lnTo>
                  <a:pt x="2736149" y="2368013"/>
                </a:lnTo>
                <a:lnTo>
                  <a:pt x="0" y="23680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221679">
            <a:off x="17555284" y="8384962"/>
            <a:ext cx="2736150" cy="2368013"/>
          </a:xfrm>
          <a:custGeom>
            <a:avLst/>
            <a:gdLst/>
            <a:ahLst/>
            <a:cxnLst/>
            <a:rect r="r" b="b" t="t" l="l"/>
            <a:pathLst>
              <a:path h="2368013" w="2736150">
                <a:moveTo>
                  <a:pt x="0" y="0"/>
                </a:moveTo>
                <a:lnTo>
                  <a:pt x="2736149" y="0"/>
                </a:lnTo>
                <a:lnTo>
                  <a:pt x="2736149" y="2368013"/>
                </a:lnTo>
                <a:lnTo>
                  <a:pt x="0" y="23680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578320">
            <a:off x="-1813305" y="1205043"/>
            <a:ext cx="2736405" cy="2368234"/>
          </a:xfrm>
          <a:custGeom>
            <a:avLst/>
            <a:gdLst/>
            <a:ahLst/>
            <a:cxnLst/>
            <a:rect r="r" b="b" t="t" l="l"/>
            <a:pathLst>
              <a:path h="2368234" w="2736405">
                <a:moveTo>
                  <a:pt x="0" y="0"/>
                </a:moveTo>
                <a:lnTo>
                  <a:pt x="2736405" y="0"/>
                </a:lnTo>
                <a:lnTo>
                  <a:pt x="2736405" y="2368235"/>
                </a:lnTo>
                <a:lnTo>
                  <a:pt x="0" y="23682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3578320">
            <a:off x="728217" y="-1783552"/>
            <a:ext cx="2736405" cy="2368234"/>
          </a:xfrm>
          <a:custGeom>
            <a:avLst/>
            <a:gdLst/>
            <a:ahLst/>
            <a:cxnLst/>
            <a:rect r="r" b="b" t="t" l="l"/>
            <a:pathLst>
              <a:path h="2368234" w="2736405">
                <a:moveTo>
                  <a:pt x="0" y="0"/>
                </a:moveTo>
                <a:lnTo>
                  <a:pt x="2736406" y="0"/>
                </a:lnTo>
                <a:lnTo>
                  <a:pt x="2736406" y="2368235"/>
                </a:lnTo>
                <a:lnTo>
                  <a:pt x="0" y="23682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221679">
            <a:off x="-1872328" y="-1253682"/>
            <a:ext cx="2736150" cy="2368013"/>
          </a:xfrm>
          <a:custGeom>
            <a:avLst/>
            <a:gdLst/>
            <a:ahLst/>
            <a:cxnLst/>
            <a:rect r="r" b="b" t="t" l="l"/>
            <a:pathLst>
              <a:path h="2368013" w="2736150">
                <a:moveTo>
                  <a:pt x="0" y="0"/>
                </a:moveTo>
                <a:lnTo>
                  <a:pt x="2736150" y="0"/>
                </a:lnTo>
                <a:lnTo>
                  <a:pt x="2736150" y="2368013"/>
                </a:lnTo>
                <a:lnTo>
                  <a:pt x="0" y="23680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7221679">
            <a:off x="728185" y="696752"/>
            <a:ext cx="2736150" cy="2368013"/>
          </a:xfrm>
          <a:custGeom>
            <a:avLst/>
            <a:gdLst/>
            <a:ahLst/>
            <a:cxnLst/>
            <a:rect r="r" b="b" t="t" l="l"/>
            <a:pathLst>
              <a:path h="2368013" w="2736150">
                <a:moveTo>
                  <a:pt x="0" y="0"/>
                </a:moveTo>
                <a:lnTo>
                  <a:pt x="2736150" y="0"/>
                </a:lnTo>
                <a:lnTo>
                  <a:pt x="2736150" y="2368013"/>
                </a:lnTo>
                <a:lnTo>
                  <a:pt x="0" y="23680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3427560">
            <a:off x="9975073" y="1916084"/>
            <a:ext cx="2840008" cy="1373531"/>
          </a:xfrm>
          <a:custGeom>
            <a:avLst/>
            <a:gdLst/>
            <a:ahLst/>
            <a:cxnLst/>
            <a:rect r="r" b="b" t="t" l="l"/>
            <a:pathLst>
              <a:path h="1373531" w="2840008">
                <a:moveTo>
                  <a:pt x="0" y="0"/>
                </a:moveTo>
                <a:lnTo>
                  <a:pt x="2840008" y="0"/>
                </a:lnTo>
                <a:lnTo>
                  <a:pt x="2840008" y="1373531"/>
                </a:lnTo>
                <a:lnTo>
                  <a:pt x="0" y="13735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0124045">
            <a:off x="5785169" y="1443823"/>
            <a:ext cx="2840008" cy="1373531"/>
          </a:xfrm>
          <a:custGeom>
            <a:avLst/>
            <a:gdLst/>
            <a:ahLst/>
            <a:cxnLst/>
            <a:rect r="r" b="b" t="t" l="l"/>
            <a:pathLst>
              <a:path h="1373531" w="2840008">
                <a:moveTo>
                  <a:pt x="0" y="0"/>
                </a:moveTo>
                <a:lnTo>
                  <a:pt x="2840008" y="0"/>
                </a:lnTo>
                <a:lnTo>
                  <a:pt x="2840008" y="1373531"/>
                </a:lnTo>
                <a:lnTo>
                  <a:pt x="0" y="13735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a:grpSpLocks noChangeAspect="true"/>
          </p:cNvGrpSpPr>
          <p:nvPr/>
        </p:nvGrpSpPr>
        <p:grpSpPr>
          <a:xfrm rot="0">
            <a:off x="6221891" y="1709233"/>
            <a:ext cx="5844217" cy="4802931"/>
            <a:chOff x="0" y="0"/>
            <a:chExt cx="5702300" cy="4686300"/>
          </a:xfrm>
        </p:grpSpPr>
        <p:sp>
          <p:nvSpPr>
            <p:cNvPr name="Freeform 13" id="13"/>
            <p:cNvSpPr/>
            <p:nvPr/>
          </p:nvSpPr>
          <p:spPr>
            <a:xfrm flipH="false" flipV="false" rot="0">
              <a:off x="0" y="3797300"/>
              <a:ext cx="5702300" cy="889000"/>
            </a:xfrm>
            <a:custGeom>
              <a:avLst/>
              <a:gdLst/>
              <a:ahLst/>
              <a:cxnLst/>
              <a:rect r="r" b="b" t="t" l="l"/>
              <a:pathLst>
                <a:path h="889000" w="5702300">
                  <a:moveTo>
                    <a:pt x="0" y="0"/>
                  </a:moveTo>
                  <a:lnTo>
                    <a:pt x="0" y="774700"/>
                  </a:lnTo>
                  <a:cubicBezTo>
                    <a:pt x="0" y="838200"/>
                    <a:pt x="50800" y="889000"/>
                    <a:pt x="114300" y="889000"/>
                  </a:cubicBezTo>
                  <a:lnTo>
                    <a:pt x="5588000" y="889000"/>
                  </a:lnTo>
                  <a:cubicBezTo>
                    <a:pt x="5651500" y="889000"/>
                    <a:pt x="5702300" y="838200"/>
                    <a:pt x="5702300" y="774700"/>
                  </a:cubicBezTo>
                  <a:lnTo>
                    <a:pt x="5702300" y="0"/>
                  </a:lnTo>
                  <a:lnTo>
                    <a:pt x="0" y="0"/>
                  </a:lnTo>
                  <a:close/>
                </a:path>
              </a:pathLst>
            </a:custGeom>
            <a:solidFill>
              <a:srgbClr val="052A47"/>
            </a:solidFill>
          </p:spPr>
        </p:sp>
        <p:sp>
          <p:nvSpPr>
            <p:cNvPr name="Freeform 14" id="14"/>
            <p:cNvSpPr/>
            <p:nvPr/>
          </p:nvSpPr>
          <p:spPr>
            <a:xfrm flipH="false" flipV="false" rot="0">
              <a:off x="0" y="0"/>
              <a:ext cx="5702300" cy="3797300"/>
            </a:xfrm>
            <a:custGeom>
              <a:avLst/>
              <a:gdLst/>
              <a:ahLst/>
              <a:cxnLst/>
              <a:rect r="r" b="b" t="t" l="l"/>
              <a:pathLst>
                <a:path h="3797300" w="5702300">
                  <a:moveTo>
                    <a:pt x="5588000" y="0"/>
                  </a:moveTo>
                  <a:lnTo>
                    <a:pt x="114300" y="0"/>
                  </a:lnTo>
                  <a:cubicBezTo>
                    <a:pt x="50800" y="0"/>
                    <a:pt x="0" y="50800"/>
                    <a:pt x="0" y="114300"/>
                  </a:cubicBezTo>
                  <a:lnTo>
                    <a:pt x="0" y="3797300"/>
                  </a:lnTo>
                  <a:lnTo>
                    <a:pt x="5702300" y="3797300"/>
                  </a:lnTo>
                  <a:lnTo>
                    <a:pt x="5702300" y="114300"/>
                  </a:lnTo>
                  <a:cubicBezTo>
                    <a:pt x="5702300" y="50800"/>
                    <a:pt x="5651500" y="0"/>
                    <a:pt x="5588000" y="0"/>
                  </a:cubicBezTo>
                  <a:close/>
                </a:path>
              </a:pathLst>
            </a:custGeom>
            <a:blipFill>
              <a:blip r:embed="rId12"/>
              <a:stretch>
                <a:fillRect l="0" t="-24" r="0" b="-24"/>
              </a:stretch>
            </a:blipFill>
          </p:spPr>
        </p:sp>
      </p:grpSp>
      <p:grpSp>
        <p:nvGrpSpPr>
          <p:cNvPr name="Group 15" id="15"/>
          <p:cNvGrpSpPr/>
          <p:nvPr/>
        </p:nvGrpSpPr>
        <p:grpSpPr>
          <a:xfrm rot="0">
            <a:off x="3697753" y="5549553"/>
            <a:ext cx="10911971" cy="3322124"/>
            <a:chOff x="0" y="0"/>
            <a:chExt cx="2873935" cy="874963"/>
          </a:xfrm>
        </p:grpSpPr>
        <p:sp>
          <p:nvSpPr>
            <p:cNvPr name="Freeform 16" id="16"/>
            <p:cNvSpPr/>
            <p:nvPr/>
          </p:nvSpPr>
          <p:spPr>
            <a:xfrm flipH="false" flipV="false" rot="0">
              <a:off x="0" y="0"/>
              <a:ext cx="2873935" cy="874963"/>
            </a:xfrm>
            <a:custGeom>
              <a:avLst/>
              <a:gdLst/>
              <a:ahLst/>
              <a:cxnLst/>
              <a:rect r="r" b="b" t="t" l="l"/>
              <a:pathLst>
                <a:path h="874963" w="2873935">
                  <a:moveTo>
                    <a:pt x="36184" y="0"/>
                  </a:moveTo>
                  <a:lnTo>
                    <a:pt x="2837751" y="0"/>
                  </a:lnTo>
                  <a:cubicBezTo>
                    <a:pt x="2857735" y="0"/>
                    <a:pt x="2873935" y="16200"/>
                    <a:pt x="2873935" y="36184"/>
                  </a:cubicBezTo>
                  <a:lnTo>
                    <a:pt x="2873935" y="838779"/>
                  </a:lnTo>
                  <a:cubicBezTo>
                    <a:pt x="2873935" y="848375"/>
                    <a:pt x="2870123" y="857579"/>
                    <a:pt x="2863337" y="864365"/>
                  </a:cubicBezTo>
                  <a:cubicBezTo>
                    <a:pt x="2856551" y="871151"/>
                    <a:pt x="2847348" y="874963"/>
                    <a:pt x="2837751" y="874963"/>
                  </a:cubicBezTo>
                  <a:lnTo>
                    <a:pt x="36184" y="874963"/>
                  </a:lnTo>
                  <a:cubicBezTo>
                    <a:pt x="16200" y="874963"/>
                    <a:pt x="0" y="858763"/>
                    <a:pt x="0" y="838779"/>
                  </a:cubicBezTo>
                  <a:lnTo>
                    <a:pt x="0" y="36184"/>
                  </a:lnTo>
                  <a:cubicBezTo>
                    <a:pt x="0" y="16200"/>
                    <a:pt x="16200" y="0"/>
                    <a:pt x="36184" y="0"/>
                  </a:cubicBezTo>
                  <a:close/>
                </a:path>
              </a:pathLst>
            </a:custGeom>
            <a:solidFill>
              <a:srgbClr val="AECCE7"/>
            </a:solidFill>
          </p:spPr>
        </p:sp>
        <p:sp>
          <p:nvSpPr>
            <p:cNvPr name="TextBox 17" id="17"/>
            <p:cNvSpPr txBox="true"/>
            <p:nvPr/>
          </p:nvSpPr>
          <p:spPr>
            <a:xfrm>
              <a:off x="0" y="-47625"/>
              <a:ext cx="2873935" cy="922588"/>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3903668" y="6084834"/>
            <a:ext cx="10480663" cy="2213461"/>
          </a:xfrm>
          <a:prstGeom prst="rect">
            <a:avLst/>
          </a:prstGeom>
        </p:spPr>
        <p:txBody>
          <a:bodyPr anchor="t" rtlCol="false" tIns="0" lIns="0" bIns="0" rIns="0">
            <a:spAutoFit/>
          </a:bodyPr>
          <a:lstStyle/>
          <a:p>
            <a:pPr algn="ctr">
              <a:lnSpc>
                <a:spcPts val="2940"/>
              </a:lnSpc>
              <a:spcBef>
                <a:spcPct val="0"/>
              </a:spcBef>
            </a:pPr>
            <a:r>
              <a:rPr lang="en-US" sz="2100">
                <a:solidFill>
                  <a:srgbClr val="000B5D"/>
                </a:solidFill>
                <a:latin typeface="Montserrat"/>
                <a:ea typeface="Montserrat"/>
                <a:cs typeface="Montserrat"/>
                <a:sym typeface="Montserrat"/>
              </a:rPr>
              <a:t>Pengendara yang merasa dirugikan dapat mengalami kelelahan dan memicu terjadinya pelanggaran lalu lintas. Efisiensi dan efektivitas dapat digunakan secara maksimal jika mengoptimalkan waktu tunggu pengendara pada lampu merah. Pengendara tidak akan merasa dirugikan dengan waktu tunggu yang terbuang, dan antrean kendaraan dapat diatasi walaupun terjadi antrian kendaraan secara fluktuatif</a:t>
            </a:r>
          </a:p>
        </p:txBody>
      </p:sp>
      <p:sp>
        <p:nvSpPr>
          <p:cNvPr name="Freeform 19" id="19"/>
          <p:cNvSpPr/>
          <p:nvPr/>
        </p:nvSpPr>
        <p:spPr>
          <a:xfrm flipH="false" flipV="false" rot="0">
            <a:off x="14725115" y="380537"/>
            <a:ext cx="1048730" cy="1068254"/>
          </a:xfrm>
          <a:custGeom>
            <a:avLst/>
            <a:gdLst/>
            <a:ahLst/>
            <a:cxnLst/>
            <a:rect r="r" b="b" t="t" l="l"/>
            <a:pathLst>
              <a:path h="1068254" w="1048730">
                <a:moveTo>
                  <a:pt x="0" y="0"/>
                </a:moveTo>
                <a:lnTo>
                  <a:pt x="1048731" y="0"/>
                </a:lnTo>
                <a:lnTo>
                  <a:pt x="1048731" y="1068254"/>
                </a:lnTo>
                <a:lnTo>
                  <a:pt x="0" y="1068254"/>
                </a:lnTo>
                <a:lnTo>
                  <a:pt x="0" y="0"/>
                </a:lnTo>
                <a:close/>
              </a:path>
            </a:pathLst>
          </a:custGeom>
          <a:blipFill>
            <a:blip r:embed="rId13"/>
            <a:stretch>
              <a:fillRect l="0" t="0" r="0" b="0"/>
            </a:stretch>
          </a:blipFill>
        </p:spPr>
      </p:sp>
      <p:sp>
        <p:nvSpPr>
          <p:cNvPr name="Freeform 20" id="20"/>
          <p:cNvSpPr/>
          <p:nvPr/>
        </p:nvSpPr>
        <p:spPr>
          <a:xfrm flipH="false" flipV="false" rot="0">
            <a:off x="16050759" y="302239"/>
            <a:ext cx="1760213" cy="1224849"/>
          </a:xfrm>
          <a:custGeom>
            <a:avLst/>
            <a:gdLst/>
            <a:ahLst/>
            <a:cxnLst/>
            <a:rect r="r" b="b" t="t" l="l"/>
            <a:pathLst>
              <a:path h="1224849" w="1760213">
                <a:moveTo>
                  <a:pt x="0" y="0"/>
                </a:moveTo>
                <a:lnTo>
                  <a:pt x="1760213" y="0"/>
                </a:lnTo>
                <a:lnTo>
                  <a:pt x="1760213" y="1224849"/>
                </a:lnTo>
                <a:lnTo>
                  <a:pt x="0" y="1224849"/>
                </a:lnTo>
                <a:lnTo>
                  <a:pt x="0" y="0"/>
                </a:lnTo>
                <a:close/>
              </a:path>
            </a:pathLst>
          </a:custGeom>
          <a:blipFill>
            <a:blip r:embed="rId14"/>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sp>
        <p:nvSpPr>
          <p:cNvPr name="TextBox 2" id="2"/>
          <p:cNvSpPr txBox="true"/>
          <p:nvPr/>
        </p:nvSpPr>
        <p:spPr>
          <a:xfrm rot="0">
            <a:off x="4651412" y="923925"/>
            <a:ext cx="8985176" cy="953135"/>
          </a:xfrm>
          <a:prstGeom prst="rect">
            <a:avLst/>
          </a:prstGeom>
        </p:spPr>
        <p:txBody>
          <a:bodyPr anchor="t" rtlCol="false" tIns="0" lIns="0" bIns="0" rIns="0">
            <a:spAutoFit/>
          </a:bodyPr>
          <a:lstStyle/>
          <a:p>
            <a:pPr algn="ctr">
              <a:lnSpc>
                <a:spcPts val="7840"/>
              </a:lnSpc>
            </a:pPr>
            <a:r>
              <a:rPr lang="en-US" sz="5600" b="true">
                <a:solidFill>
                  <a:srgbClr val="FFFFFF"/>
                </a:solidFill>
                <a:latin typeface="Montserrat Bold"/>
                <a:ea typeface="Montserrat Bold"/>
                <a:cs typeface="Montserrat Bold"/>
                <a:sym typeface="Montserrat Bold"/>
              </a:rPr>
              <a:t>Purwarupa Sistem</a:t>
            </a:r>
          </a:p>
        </p:txBody>
      </p:sp>
      <p:grpSp>
        <p:nvGrpSpPr>
          <p:cNvPr name="Group 3" id="3"/>
          <p:cNvGrpSpPr/>
          <p:nvPr/>
        </p:nvGrpSpPr>
        <p:grpSpPr>
          <a:xfrm rot="0">
            <a:off x="1679825" y="2814039"/>
            <a:ext cx="14928349" cy="6867903"/>
            <a:chOff x="0" y="0"/>
            <a:chExt cx="19904466" cy="9157204"/>
          </a:xfrm>
        </p:grpSpPr>
        <p:sp>
          <p:nvSpPr>
            <p:cNvPr name="Freeform 4" id="4"/>
            <p:cNvSpPr/>
            <p:nvPr/>
          </p:nvSpPr>
          <p:spPr>
            <a:xfrm flipH="false" flipV="false" rot="0">
              <a:off x="567805" y="188210"/>
              <a:ext cx="3170798" cy="2231449"/>
            </a:xfrm>
            <a:custGeom>
              <a:avLst/>
              <a:gdLst/>
              <a:ahLst/>
              <a:cxnLst/>
              <a:rect r="r" b="b" t="t" l="l"/>
              <a:pathLst>
                <a:path h="2231449" w="3170798">
                  <a:moveTo>
                    <a:pt x="0" y="0"/>
                  </a:moveTo>
                  <a:lnTo>
                    <a:pt x="3170798" y="0"/>
                  </a:lnTo>
                  <a:lnTo>
                    <a:pt x="3170798" y="2231449"/>
                  </a:lnTo>
                  <a:lnTo>
                    <a:pt x="0" y="22314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0" y="2786035"/>
              <a:ext cx="4306408" cy="14528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Kamera mendeteksi berapa banyak kendaraan</a:t>
              </a:r>
            </a:p>
          </p:txBody>
        </p:sp>
        <p:sp>
          <p:nvSpPr>
            <p:cNvPr name="Freeform 6" id="6"/>
            <p:cNvSpPr/>
            <p:nvPr/>
          </p:nvSpPr>
          <p:spPr>
            <a:xfrm flipH="false" flipV="false" rot="0">
              <a:off x="4779189" y="4661686"/>
              <a:ext cx="2661145" cy="2750538"/>
            </a:xfrm>
            <a:custGeom>
              <a:avLst/>
              <a:gdLst/>
              <a:ahLst/>
              <a:cxnLst/>
              <a:rect r="r" b="b" t="t" l="l"/>
              <a:pathLst>
                <a:path h="2750538" w="2661145">
                  <a:moveTo>
                    <a:pt x="0" y="0"/>
                  </a:moveTo>
                  <a:lnTo>
                    <a:pt x="2661145" y="0"/>
                  </a:lnTo>
                  <a:lnTo>
                    <a:pt x="2661145" y="2750538"/>
                  </a:lnTo>
                  <a:lnTo>
                    <a:pt x="0" y="27505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990158">
              <a:off x="2431459" y="5182551"/>
              <a:ext cx="2047042" cy="1514811"/>
            </a:xfrm>
            <a:custGeom>
              <a:avLst/>
              <a:gdLst/>
              <a:ahLst/>
              <a:cxnLst/>
              <a:rect r="r" b="b" t="t" l="l"/>
              <a:pathLst>
                <a:path h="1514811" w="2047042">
                  <a:moveTo>
                    <a:pt x="0" y="0"/>
                  </a:moveTo>
                  <a:lnTo>
                    <a:pt x="2047042" y="0"/>
                  </a:lnTo>
                  <a:lnTo>
                    <a:pt x="2047042" y="1514811"/>
                  </a:lnTo>
                  <a:lnTo>
                    <a:pt x="0" y="15148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895241" y="7704324"/>
              <a:ext cx="4367072" cy="14528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Hasil deteksi kendaraan akan dikirimkan lewat MQTT</a:t>
              </a:r>
            </a:p>
          </p:txBody>
        </p:sp>
        <p:sp>
          <p:nvSpPr>
            <p:cNvPr name="Freeform 9" id="9"/>
            <p:cNvSpPr/>
            <p:nvPr/>
          </p:nvSpPr>
          <p:spPr>
            <a:xfrm flipH="false" flipV="false" rot="0">
              <a:off x="8294364" y="188210"/>
              <a:ext cx="3093841" cy="3093841"/>
            </a:xfrm>
            <a:custGeom>
              <a:avLst/>
              <a:gdLst/>
              <a:ahLst/>
              <a:cxnLst/>
              <a:rect r="r" b="b" t="t" l="l"/>
              <a:pathLst>
                <a:path h="3093841" w="3093841">
                  <a:moveTo>
                    <a:pt x="0" y="0"/>
                  </a:moveTo>
                  <a:lnTo>
                    <a:pt x="3093841" y="0"/>
                  </a:lnTo>
                  <a:lnTo>
                    <a:pt x="3093841" y="3093841"/>
                  </a:lnTo>
                  <a:lnTo>
                    <a:pt x="0" y="3093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5400000">
              <a:off x="6162060" y="1501124"/>
              <a:ext cx="2047042" cy="1514811"/>
            </a:xfrm>
            <a:custGeom>
              <a:avLst/>
              <a:gdLst/>
              <a:ahLst/>
              <a:cxnLst/>
              <a:rect r="r" b="b" t="t" l="l"/>
              <a:pathLst>
                <a:path h="1514811" w="2047042">
                  <a:moveTo>
                    <a:pt x="2047042" y="0"/>
                  </a:moveTo>
                  <a:lnTo>
                    <a:pt x="0" y="0"/>
                  </a:lnTo>
                  <a:lnTo>
                    <a:pt x="0" y="1514812"/>
                  </a:lnTo>
                  <a:lnTo>
                    <a:pt x="2047042" y="1514812"/>
                  </a:lnTo>
                  <a:lnTo>
                    <a:pt x="204704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7657749" y="2865116"/>
              <a:ext cx="4367072" cy="9575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Mikrokontroller akan membaca hasil deteksi</a:t>
              </a:r>
            </a:p>
          </p:txBody>
        </p:sp>
        <p:sp>
          <p:nvSpPr>
            <p:cNvPr name="Freeform 12" id="12"/>
            <p:cNvSpPr/>
            <p:nvPr/>
          </p:nvSpPr>
          <p:spPr>
            <a:xfrm flipH="false" flipV="false" rot="0">
              <a:off x="13494606" y="4438063"/>
              <a:ext cx="1472267" cy="2944534"/>
            </a:xfrm>
            <a:custGeom>
              <a:avLst/>
              <a:gdLst/>
              <a:ahLst/>
              <a:cxnLst/>
              <a:rect r="r" b="b" t="t" l="l"/>
              <a:pathLst>
                <a:path h="2944534" w="1472267">
                  <a:moveTo>
                    <a:pt x="0" y="0"/>
                  </a:moveTo>
                  <a:lnTo>
                    <a:pt x="1472267" y="0"/>
                  </a:lnTo>
                  <a:lnTo>
                    <a:pt x="1472267" y="2944534"/>
                  </a:lnTo>
                  <a:lnTo>
                    <a:pt x="0" y="29445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5990158">
              <a:off x="10635860" y="5236139"/>
              <a:ext cx="2047042" cy="1514811"/>
            </a:xfrm>
            <a:custGeom>
              <a:avLst/>
              <a:gdLst/>
              <a:ahLst/>
              <a:cxnLst/>
              <a:rect r="r" b="b" t="t" l="l"/>
              <a:pathLst>
                <a:path h="1514811" w="2047042">
                  <a:moveTo>
                    <a:pt x="0" y="0"/>
                  </a:moveTo>
                  <a:lnTo>
                    <a:pt x="2047042" y="0"/>
                  </a:lnTo>
                  <a:lnTo>
                    <a:pt x="2047042" y="1514811"/>
                  </a:lnTo>
                  <a:lnTo>
                    <a:pt x="0" y="15148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6016131" y="3784596"/>
              <a:ext cx="3888335" cy="14528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Isyarat lampu APILL diterapkan di persimpangan</a:t>
              </a:r>
            </a:p>
          </p:txBody>
        </p:sp>
        <p:sp>
          <p:nvSpPr>
            <p:cNvPr name="TextBox 15" id="15"/>
            <p:cNvSpPr txBox="true"/>
            <p:nvPr/>
          </p:nvSpPr>
          <p:spPr>
            <a:xfrm rot="0">
              <a:off x="12259527" y="7704324"/>
              <a:ext cx="3942425" cy="14528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Keputusan durasi isyarat waktu lampu APILL diberikan</a:t>
              </a:r>
            </a:p>
          </p:txBody>
        </p:sp>
        <p:sp>
          <p:nvSpPr>
            <p:cNvPr name="Freeform 16" id="16"/>
            <p:cNvSpPr/>
            <p:nvPr/>
          </p:nvSpPr>
          <p:spPr>
            <a:xfrm flipH="false" flipV="false" rot="0">
              <a:off x="16225168" y="0"/>
              <a:ext cx="3470261" cy="3470261"/>
            </a:xfrm>
            <a:custGeom>
              <a:avLst/>
              <a:gdLst/>
              <a:ahLst/>
              <a:cxnLst/>
              <a:rect r="r" b="b" t="t" l="l"/>
              <a:pathLst>
                <a:path h="3470261" w="3470261">
                  <a:moveTo>
                    <a:pt x="0" y="0"/>
                  </a:moveTo>
                  <a:lnTo>
                    <a:pt x="3470261" y="0"/>
                  </a:lnTo>
                  <a:lnTo>
                    <a:pt x="3470261" y="3470261"/>
                  </a:lnTo>
                  <a:lnTo>
                    <a:pt x="0" y="3470261"/>
                  </a:lnTo>
                  <a:lnTo>
                    <a:pt x="0" y="0"/>
                  </a:lnTo>
                  <a:close/>
                </a:path>
              </a:pathLst>
            </a:custGeom>
            <a:blipFill>
              <a:blip r:embed="rId12"/>
              <a:stretch>
                <a:fillRect l="-21770" t="-23271" r="-19518" b="-18016"/>
              </a:stretch>
            </a:blipFill>
          </p:spPr>
        </p:sp>
        <p:sp>
          <p:nvSpPr>
            <p:cNvPr name="Freeform 17" id="17"/>
            <p:cNvSpPr/>
            <p:nvPr/>
          </p:nvSpPr>
          <p:spPr>
            <a:xfrm flipH="true" flipV="false" rot="-5400000">
              <a:off x="13879605" y="1582029"/>
              <a:ext cx="2047042" cy="1514811"/>
            </a:xfrm>
            <a:custGeom>
              <a:avLst/>
              <a:gdLst/>
              <a:ahLst/>
              <a:cxnLst/>
              <a:rect r="r" b="b" t="t" l="l"/>
              <a:pathLst>
                <a:path h="1514811" w="2047042">
                  <a:moveTo>
                    <a:pt x="2047042" y="0"/>
                  </a:moveTo>
                  <a:lnTo>
                    <a:pt x="0" y="0"/>
                  </a:lnTo>
                  <a:lnTo>
                    <a:pt x="0" y="1514811"/>
                  </a:lnTo>
                  <a:lnTo>
                    <a:pt x="2047042" y="1514811"/>
                  </a:lnTo>
                  <a:lnTo>
                    <a:pt x="2047042"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8" id="18"/>
          <p:cNvSpPr/>
          <p:nvPr/>
        </p:nvSpPr>
        <p:spPr>
          <a:xfrm flipH="false" flipV="false" rot="-3578320">
            <a:off x="463150" y="9327200"/>
            <a:ext cx="2904567" cy="2513771"/>
          </a:xfrm>
          <a:custGeom>
            <a:avLst/>
            <a:gdLst/>
            <a:ahLst/>
            <a:cxnLst/>
            <a:rect r="r" b="b" t="t" l="l"/>
            <a:pathLst>
              <a:path h="2513771" w="2904567">
                <a:moveTo>
                  <a:pt x="0" y="0"/>
                </a:moveTo>
                <a:lnTo>
                  <a:pt x="2904566" y="0"/>
                </a:lnTo>
                <a:lnTo>
                  <a:pt x="2904566"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3578320">
            <a:off x="-1930291" y="8058757"/>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false" flipV="false" rot="-3578320">
            <a:off x="470668" y="667562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3578320">
            <a:off x="16580504" y="96909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3578320">
            <a:off x="14187064" y="-299344"/>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3578320">
            <a:off x="16588022" y="-1682472"/>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5"/>
            <a:stretch>
              <a:fillRect l="0" t="0" r="0" b="0"/>
            </a:stretch>
          </a:blipFill>
        </p:spPr>
      </p:sp>
      <p:sp>
        <p:nvSpPr>
          <p:cNvPr name="Freeform 25" id="25"/>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6"/>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59039" y="7296430"/>
            <a:ext cx="4972384" cy="4305860"/>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cap="sq">
              <a:noFill/>
              <a:prstDash val="solid"/>
              <a:miter/>
            </a:ln>
          </p:spPr>
        </p:sp>
      </p:grpSp>
      <p:grpSp>
        <p:nvGrpSpPr>
          <p:cNvPr name="Group 4" id="4"/>
          <p:cNvGrpSpPr/>
          <p:nvPr/>
        </p:nvGrpSpPr>
        <p:grpSpPr>
          <a:xfrm rot="0">
            <a:off x="12895837" y="880259"/>
            <a:ext cx="9083590" cy="7865979"/>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60267" t="-23745" r="-911" b="-263"/>
              </a:stretch>
            </a:blipFill>
            <a:ln cap="sq">
              <a:noFill/>
              <a:prstDash val="solid"/>
              <a:miter/>
            </a:ln>
          </p:spPr>
        </p:sp>
      </p:grpSp>
      <p:sp>
        <p:nvSpPr>
          <p:cNvPr name="Freeform 6" id="6"/>
          <p:cNvSpPr/>
          <p:nvPr/>
        </p:nvSpPr>
        <p:spPr>
          <a:xfrm flipH="false" flipV="false" rot="-3578320">
            <a:off x="10315128" y="2877622"/>
            <a:ext cx="4860206" cy="4206287"/>
          </a:xfrm>
          <a:custGeom>
            <a:avLst/>
            <a:gdLst/>
            <a:ahLst/>
            <a:cxnLst/>
            <a:rect r="r" b="b" t="t" l="l"/>
            <a:pathLst>
              <a:path h="4206287" w="4860206">
                <a:moveTo>
                  <a:pt x="0" y="0"/>
                </a:moveTo>
                <a:lnTo>
                  <a:pt x="4860206" y="0"/>
                </a:lnTo>
                <a:lnTo>
                  <a:pt x="4860206" y="4206288"/>
                </a:lnTo>
                <a:lnTo>
                  <a:pt x="0" y="4206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578320">
            <a:off x="15007529" y="8020199"/>
            <a:ext cx="4860206" cy="4206287"/>
          </a:xfrm>
          <a:custGeom>
            <a:avLst/>
            <a:gdLst/>
            <a:ahLst/>
            <a:cxnLst/>
            <a:rect r="r" b="b" t="t" l="l"/>
            <a:pathLst>
              <a:path h="4206287" w="4860206">
                <a:moveTo>
                  <a:pt x="0" y="0"/>
                </a:moveTo>
                <a:lnTo>
                  <a:pt x="4860206" y="0"/>
                </a:lnTo>
                <a:lnTo>
                  <a:pt x="4860206" y="4206287"/>
                </a:lnTo>
                <a:lnTo>
                  <a:pt x="0" y="42062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8320">
            <a:off x="14829197" y="-2430504"/>
            <a:ext cx="4860206" cy="4206287"/>
          </a:xfrm>
          <a:custGeom>
            <a:avLst/>
            <a:gdLst/>
            <a:ahLst/>
            <a:cxnLst/>
            <a:rect r="r" b="b" t="t" l="l"/>
            <a:pathLst>
              <a:path h="4206287" w="4860206">
                <a:moveTo>
                  <a:pt x="0" y="0"/>
                </a:moveTo>
                <a:lnTo>
                  <a:pt x="4860206" y="0"/>
                </a:lnTo>
                <a:lnTo>
                  <a:pt x="4860206" y="4206287"/>
                </a:lnTo>
                <a:lnTo>
                  <a:pt x="0" y="42062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221679">
            <a:off x="10210296" y="-1489389"/>
            <a:ext cx="4859752" cy="4205894"/>
          </a:xfrm>
          <a:custGeom>
            <a:avLst/>
            <a:gdLst/>
            <a:ahLst/>
            <a:cxnLst/>
            <a:rect r="r" b="b" t="t" l="l"/>
            <a:pathLst>
              <a:path h="4205894" w="4859752">
                <a:moveTo>
                  <a:pt x="0" y="0"/>
                </a:moveTo>
                <a:lnTo>
                  <a:pt x="4859751" y="0"/>
                </a:lnTo>
                <a:lnTo>
                  <a:pt x="4859751" y="4205895"/>
                </a:lnTo>
                <a:lnTo>
                  <a:pt x="0" y="42058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028700" y="1667260"/>
            <a:ext cx="11191403" cy="953135"/>
          </a:xfrm>
          <a:prstGeom prst="rect">
            <a:avLst/>
          </a:prstGeom>
        </p:spPr>
        <p:txBody>
          <a:bodyPr anchor="t" rtlCol="false" tIns="0" lIns="0" bIns="0" rIns="0">
            <a:spAutoFit/>
          </a:bodyPr>
          <a:lstStyle/>
          <a:p>
            <a:pPr algn="l">
              <a:lnSpc>
                <a:spcPts val="7840"/>
              </a:lnSpc>
            </a:pPr>
            <a:r>
              <a:rPr lang="en-US" sz="5600" b="true">
                <a:solidFill>
                  <a:srgbClr val="4F6A92"/>
                </a:solidFill>
                <a:latin typeface="Montserrat Bold"/>
                <a:ea typeface="Montserrat Bold"/>
                <a:cs typeface="Montserrat Bold"/>
                <a:sym typeface="Montserrat Bold"/>
              </a:rPr>
              <a:t>YOLO11</a:t>
            </a:r>
          </a:p>
        </p:txBody>
      </p:sp>
      <p:sp>
        <p:nvSpPr>
          <p:cNvPr name="TextBox 11" id="11"/>
          <p:cNvSpPr txBox="true"/>
          <p:nvPr/>
        </p:nvSpPr>
        <p:spPr>
          <a:xfrm rot="0">
            <a:off x="1028700" y="2855105"/>
            <a:ext cx="8995647" cy="3580766"/>
          </a:xfrm>
          <a:prstGeom prst="rect">
            <a:avLst/>
          </a:prstGeom>
        </p:spPr>
        <p:txBody>
          <a:bodyPr anchor="t" rtlCol="false" tIns="0" lIns="0" bIns="0" rIns="0">
            <a:spAutoFit/>
          </a:bodyPr>
          <a:lstStyle/>
          <a:p>
            <a:pPr algn="l">
              <a:lnSpc>
                <a:spcPts val="4759"/>
              </a:lnSpc>
            </a:pPr>
            <a:r>
              <a:rPr lang="en-US" sz="3399" i="true">
                <a:solidFill>
                  <a:srgbClr val="4F6A92"/>
                </a:solidFill>
                <a:latin typeface="Montserrat Italics"/>
                <a:ea typeface="Montserrat Italics"/>
                <a:cs typeface="Montserrat Italics"/>
                <a:sym typeface="Montserrat Italics"/>
              </a:rPr>
              <a:t>You Only Look Once 11</a:t>
            </a:r>
            <a:r>
              <a:rPr lang="en-US" sz="3399">
                <a:solidFill>
                  <a:srgbClr val="4F6A92"/>
                </a:solidFill>
                <a:latin typeface="Montserrat"/>
                <a:ea typeface="Montserrat"/>
                <a:cs typeface="Montserrat"/>
                <a:sym typeface="Montserrat"/>
              </a:rPr>
              <a:t> (YOLO11), Algoritma deteksi objek yang dapat mendeteksi objek secara waktu nyata dan mempunyai akurasi serta kecepatan yang tinggi untuk mendeteksi objek dibanding versi sebelumnya</a:t>
            </a:r>
          </a:p>
        </p:txBody>
      </p:sp>
      <p:sp>
        <p:nvSpPr>
          <p:cNvPr name="TextBox 12" id="12"/>
          <p:cNvSpPr txBox="true"/>
          <p:nvPr/>
        </p:nvSpPr>
        <p:spPr>
          <a:xfrm rot="0">
            <a:off x="1028700" y="6673995"/>
            <a:ext cx="7552309" cy="1180466"/>
          </a:xfrm>
          <a:prstGeom prst="rect">
            <a:avLst/>
          </a:prstGeom>
        </p:spPr>
        <p:txBody>
          <a:bodyPr anchor="t" rtlCol="false" tIns="0" lIns="0" bIns="0" rIns="0">
            <a:spAutoFit/>
          </a:bodyPr>
          <a:lstStyle/>
          <a:p>
            <a:pPr algn="l">
              <a:lnSpc>
                <a:spcPts val="4759"/>
              </a:lnSpc>
            </a:pPr>
            <a:r>
              <a:rPr lang="en-US" sz="3399" b="true">
                <a:solidFill>
                  <a:srgbClr val="4F6A92"/>
                </a:solidFill>
                <a:latin typeface="Montserrat Bold"/>
                <a:ea typeface="Montserrat Bold"/>
                <a:cs typeface="Montserrat Bold"/>
                <a:sym typeface="Montserrat Bold"/>
              </a:rPr>
              <a:t>Karena itulah YOLO11 dipilih didalam purwarupa ini</a:t>
            </a:r>
          </a:p>
        </p:txBody>
      </p:sp>
      <p:sp>
        <p:nvSpPr>
          <p:cNvPr name="Freeform 13" id="13"/>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2"/>
            <a:stretch>
              <a:fillRect l="0" t="0" r="0" b="0"/>
            </a:stretch>
          </a:blipFill>
        </p:spPr>
      </p:sp>
      <p:sp>
        <p:nvSpPr>
          <p:cNvPr name="Freeform 14" id="14"/>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3"/>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6299" y="2990669"/>
            <a:ext cx="7613134" cy="6524818"/>
            <a:chOff x="0" y="0"/>
            <a:chExt cx="2005105" cy="1718471"/>
          </a:xfrm>
        </p:grpSpPr>
        <p:sp>
          <p:nvSpPr>
            <p:cNvPr name="Freeform 3" id="3"/>
            <p:cNvSpPr/>
            <p:nvPr/>
          </p:nvSpPr>
          <p:spPr>
            <a:xfrm flipH="false" flipV="false" rot="0">
              <a:off x="0" y="0"/>
              <a:ext cx="2005105" cy="1718471"/>
            </a:xfrm>
            <a:custGeom>
              <a:avLst/>
              <a:gdLst/>
              <a:ahLst/>
              <a:cxnLst/>
              <a:rect r="r" b="b" t="t" l="l"/>
              <a:pathLst>
                <a:path h="1718471" w="2005105">
                  <a:moveTo>
                    <a:pt x="0" y="0"/>
                  </a:moveTo>
                  <a:lnTo>
                    <a:pt x="2005105" y="0"/>
                  </a:lnTo>
                  <a:lnTo>
                    <a:pt x="2005105" y="1718471"/>
                  </a:lnTo>
                  <a:lnTo>
                    <a:pt x="0" y="1718471"/>
                  </a:lnTo>
                  <a:close/>
                </a:path>
              </a:pathLst>
            </a:custGeom>
            <a:solidFill>
              <a:srgbClr val="4F6A92"/>
            </a:solidFill>
          </p:spPr>
        </p:sp>
        <p:sp>
          <p:nvSpPr>
            <p:cNvPr name="TextBox 4" id="4"/>
            <p:cNvSpPr txBox="true"/>
            <p:nvPr/>
          </p:nvSpPr>
          <p:spPr>
            <a:xfrm>
              <a:off x="0" y="-38100"/>
              <a:ext cx="2005105" cy="175657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690158" y="719153"/>
            <a:ext cx="9871302" cy="1342136"/>
          </a:xfrm>
          <a:prstGeom prst="rect">
            <a:avLst/>
          </a:prstGeom>
        </p:spPr>
        <p:txBody>
          <a:bodyPr anchor="t" rtlCol="false" tIns="0" lIns="0" bIns="0" rIns="0">
            <a:spAutoFit/>
          </a:bodyPr>
          <a:lstStyle/>
          <a:p>
            <a:pPr algn="r" marL="0" indent="0" lvl="1">
              <a:lnSpc>
                <a:spcPts val="5152"/>
              </a:lnSpc>
            </a:pPr>
            <a:r>
              <a:rPr lang="en-US" b="true" sz="5600" spc="156">
                <a:solidFill>
                  <a:srgbClr val="4F6A92"/>
                </a:solidFill>
                <a:latin typeface="Montserrat Bold"/>
                <a:ea typeface="Montserrat Bold"/>
                <a:cs typeface="Montserrat Bold"/>
                <a:sym typeface="Montserrat Bold"/>
              </a:rPr>
              <a:t>PENGGUNAAN YOLO11 DI PURWARUPA</a:t>
            </a:r>
          </a:p>
        </p:txBody>
      </p:sp>
      <p:grpSp>
        <p:nvGrpSpPr>
          <p:cNvPr name="Group 6" id="6"/>
          <p:cNvGrpSpPr/>
          <p:nvPr/>
        </p:nvGrpSpPr>
        <p:grpSpPr>
          <a:xfrm rot="0">
            <a:off x="998813" y="3295173"/>
            <a:ext cx="7071562" cy="4029491"/>
            <a:chOff x="0" y="0"/>
            <a:chExt cx="1426425" cy="812800"/>
          </a:xfrm>
        </p:grpSpPr>
        <p:sp>
          <p:nvSpPr>
            <p:cNvPr name="Freeform 7" id="7"/>
            <p:cNvSpPr/>
            <p:nvPr/>
          </p:nvSpPr>
          <p:spPr>
            <a:xfrm flipH="false" flipV="false" rot="0">
              <a:off x="0" y="0"/>
              <a:ext cx="1426425" cy="812800"/>
            </a:xfrm>
            <a:custGeom>
              <a:avLst/>
              <a:gdLst/>
              <a:ahLst/>
              <a:cxnLst/>
              <a:rect r="r" b="b" t="t" l="l"/>
              <a:pathLst>
                <a:path h="812800" w="1426425">
                  <a:moveTo>
                    <a:pt x="0" y="0"/>
                  </a:moveTo>
                  <a:lnTo>
                    <a:pt x="1426425" y="0"/>
                  </a:lnTo>
                  <a:lnTo>
                    <a:pt x="1426425" y="812800"/>
                  </a:lnTo>
                  <a:lnTo>
                    <a:pt x="0" y="812800"/>
                  </a:lnTo>
                  <a:close/>
                </a:path>
              </a:pathLst>
            </a:custGeom>
            <a:blipFill>
              <a:blip r:embed="rId2"/>
              <a:stretch>
                <a:fillRect l="-352" t="0" r="-352" b="0"/>
              </a:stretch>
            </a:blipFill>
          </p:spPr>
        </p:sp>
      </p:grpSp>
      <p:grpSp>
        <p:nvGrpSpPr>
          <p:cNvPr name="Group 8" id="8"/>
          <p:cNvGrpSpPr/>
          <p:nvPr/>
        </p:nvGrpSpPr>
        <p:grpSpPr>
          <a:xfrm rot="0">
            <a:off x="10441069" y="2990669"/>
            <a:ext cx="7613134" cy="6524818"/>
            <a:chOff x="0" y="0"/>
            <a:chExt cx="2005105" cy="1718471"/>
          </a:xfrm>
        </p:grpSpPr>
        <p:sp>
          <p:nvSpPr>
            <p:cNvPr name="Freeform 9" id="9"/>
            <p:cNvSpPr/>
            <p:nvPr/>
          </p:nvSpPr>
          <p:spPr>
            <a:xfrm flipH="false" flipV="false" rot="0">
              <a:off x="0" y="0"/>
              <a:ext cx="2005105" cy="1718471"/>
            </a:xfrm>
            <a:custGeom>
              <a:avLst/>
              <a:gdLst/>
              <a:ahLst/>
              <a:cxnLst/>
              <a:rect r="r" b="b" t="t" l="l"/>
              <a:pathLst>
                <a:path h="1718471" w="2005105">
                  <a:moveTo>
                    <a:pt x="0" y="0"/>
                  </a:moveTo>
                  <a:lnTo>
                    <a:pt x="2005105" y="0"/>
                  </a:lnTo>
                  <a:lnTo>
                    <a:pt x="2005105" y="1718471"/>
                  </a:lnTo>
                  <a:lnTo>
                    <a:pt x="0" y="1718471"/>
                  </a:lnTo>
                  <a:close/>
                </a:path>
              </a:pathLst>
            </a:custGeom>
            <a:solidFill>
              <a:srgbClr val="B2DFE5"/>
            </a:solidFill>
          </p:spPr>
        </p:sp>
        <p:sp>
          <p:nvSpPr>
            <p:cNvPr name="TextBox 10" id="10"/>
            <p:cNvSpPr txBox="true"/>
            <p:nvPr/>
          </p:nvSpPr>
          <p:spPr>
            <a:xfrm>
              <a:off x="0" y="-38100"/>
              <a:ext cx="2005105" cy="1756571"/>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722732" y="3295173"/>
            <a:ext cx="7049808" cy="4029491"/>
            <a:chOff x="0" y="0"/>
            <a:chExt cx="1422037" cy="812800"/>
          </a:xfrm>
        </p:grpSpPr>
        <p:sp>
          <p:nvSpPr>
            <p:cNvPr name="Freeform 12" id="12"/>
            <p:cNvSpPr/>
            <p:nvPr/>
          </p:nvSpPr>
          <p:spPr>
            <a:xfrm flipH="false" flipV="false" rot="0">
              <a:off x="0" y="0"/>
              <a:ext cx="1422037" cy="812800"/>
            </a:xfrm>
            <a:custGeom>
              <a:avLst/>
              <a:gdLst/>
              <a:ahLst/>
              <a:cxnLst/>
              <a:rect r="r" b="b" t="t" l="l"/>
              <a:pathLst>
                <a:path h="812800" w="1422037">
                  <a:moveTo>
                    <a:pt x="0" y="0"/>
                  </a:moveTo>
                  <a:lnTo>
                    <a:pt x="1422037" y="0"/>
                  </a:lnTo>
                  <a:lnTo>
                    <a:pt x="1422037" y="812800"/>
                  </a:lnTo>
                  <a:lnTo>
                    <a:pt x="0" y="812800"/>
                  </a:lnTo>
                  <a:close/>
                </a:path>
              </a:pathLst>
            </a:custGeom>
            <a:blipFill>
              <a:blip r:embed="rId3"/>
              <a:stretch>
                <a:fillRect l="-531" t="0" r="-531" b="0"/>
              </a:stretch>
            </a:blipFill>
          </p:spPr>
        </p:sp>
      </p:grpSp>
      <p:sp>
        <p:nvSpPr>
          <p:cNvPr name="Freeform 13" id="13"/>
          <p:cNvSpPr/>
          <p:nvPr/>
        </p:nvSpPr>
        <p:spPr>
          <a:xfrm flipH="false" flipV="false" rot="7221679">
            <a:off x="1605673" y="-674955"/>
            <a:ext cx="2898563" cy="2508574"/>
          </a:xfrm>
          <a:custGeom>
            <a:avLst/>
            <a:gdLst/>
            <a:ahLst/>
            <a:cxnLst/>
            <a:rect r="r" b="b" t="t" l="l"/>
            <a:pathLst>
              <a:path h="2508574" w="2898563">
                <a:moveTo>
                  <a:pt x="0" y="0"/>
                </a:moveTo>
                <a:lnTo>
                  <a:pt x="2898562" y="0"/>
                </a:lnTo>
                <a:lnTo>
                  <a:pt x="2898562" y="2508574"/>
                </a:lnTo>
                <a:lnTo>
                  <a:pt x="0" y="2508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3578320">
            <a:off x="-715984" y="56017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578320">
            <a:off x="16601920" y="8001415"/>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2726576" y="7562494"/>
            <a:ext cx="3632582" cy="1180466"/>
          </a:xfrm>
          <a:prstGeom prst="rect">
            <a:avLst/>
          </a:prstGeom>
        </p:spPr>
        <p:txBody>
          <a:bodyPr anchor="t" rtlCol="false" tIns="0" lIns="0" bIns="0" rIns="0">
            <a:spAutoFit/>
          </a:bodyPr>
          <a:lstStyle/>
          <a:p>
            <a:pPr algn="ctr">
              <a:lnSpc>
                <a:spcPts val="4759"/>
              </a:lnSpc>
            </a:pPr>
            <a:r>
              <a:rPr lang="en-US" sz="3399" b="true">
                <a:solidFill>
                  <a:srgbClr val="FFFFFF"/>
                </a:solidFill>
                <a:latin typeface="Montserrat Bold"/>
                <a:ea typeface="Montserrat Bold"/>
                <a:cs typeface="Montserrat Bold"/>
                <a:sym typeface="Montserrat Bold"/>
              </a:rPr>
              <a:t>Ketika tidak ada kendaraan</a:t>
            </a:r>
          </a:p>
        </p:txBody>
      </p:sp>
      <p:sp>
        <p:nvSpPr>
          <p:cNvPr name="TextBox 17" id="17"/>
          <p:cNvSpPr txBox="true"/>
          <p:nvPr/>
        </p:nvSpPr>
        <p:spPr>
          <a:xfrm rot="0">
            <a:off x="12431345" y="7562494"/>
            <a:ext cx="3632582" cy="1180466"/>
          </a:xfrm>
          <a:prstGeom prst="rect">
            <a:avLst/>
          </a:prstGeom>
        </p:spPr>
        <p:txBody>
          <a:bodyPr anchor="t" rtlCol="false" tIns="0" lIns="0" bIns="0" rIns="0">
            <a:spAutoFit/>
          </a:bodyPr>
          <a:lstStyle/>
          <a:p>
            <a:pPr algn="ctr">
              <a:lnSpc>
                <a:spcPts val="4759"/>
              </a:lnSpc>
            </a:pPr>
            <a:r>
              <a:rPr lang="en-US" sz="3399" b="true">
                <a:solidFill>
                  <a:srgbClr val="4F6A92"/>
                </a:solidFill>
                <a:latin typeface="Montserrat Bold"/>
                <a:ea typeface="Montserrat Bold"/>
                <a:cs typeface="Montserrat Bold"/>
                <a:sym typeface="Montserrat Bold"/>
              </a:rPr>
              <a:t>Ketika terdapat kendaraan</a:t>
            </a:r>
          </a:p>
        </p:txBody>
      </p:sp>
      <p:sp>
        <p:nvSpPr>
          <p:cNvPr name="Freeform 18" id="18"/>
          <p:cNvSpPr/>
          <p:nvPr/>
        </p:nvSpPr>
        <p:spPr>
          <a:xfrm flipH="false" flipV="false" rot="0">
            <a:off x="211934" y="245766"/>
            <a:ext cx="1048730" cy="1068254"/>
          </a:xfrm>
          <a:custGeom>
            <a:avLst/>
            <a:gdLst/>
            <a:ahLst/>
            <a:cxnLst/>
            <a:rect r="r" b="b" t="t" l="l"/>
            <a:pathLst>
              <a:path h="1068254" w="1048730">
                <a:moveTo>
                  <a:pt x="0" y="0"/>
                </a:moveTo>
                <a:lnTo>
                  <a:pt x="1048731" y="0"/>
                </a:lnTo>
                <a:lnTo>
                  <a:pt x="1048731" y="1068255"/>
                </a:lnTo>
                <a:lnTo>
                  <a:pt x="0" y="1068255"/>
                </a:lnTo>
                <a:lnTo>
                  <a:pt x="0" y="0"/>
                </a:lnTo>
                <a:close/>
              </a:path>
            </a:pathLst>
          </a:custGeom>
          <a:blipFill>
            <a:blip r:embed="rId10"/>
            <a:stretch>
              <a:fillRect l="0" t="0" r="0" b="0"/>
            </a:stretch>
          </a:blipFill>
        </p:spPr>
      </p:sp>
      <p:sp>
        <p:nvSpPr>
          <p:cNvPr name="Freeform 19" id="19"/>
          <p:cNvSpPr/>
          <p:nvPr/>
        </p:nvSpPr>
        <p:spPr>
          <a:xfrm flipH="false" flipV="false" rot="0">
            <a:off x="1294741" y="167469"/>
            <a:ext cx="1760213" cy="1224849"/>
          </a:xfrm>
          <a:custGeom>
            <a:avLst/>
            <a:gdLst/>
            <a:ahLst/>
            <a:cxnLst/>
            <a:rect r="r" b="b" t="t" l="l"/>
            <a:pathLst>
              <a:path h="1224849" w="1760213">
                <a:moveTo>
                  <a:pt x="0" y="0"/>
                </a:moveTo>
                <a:lnTo>
                  <a:pt x="1760213" y="0"/>
                </a:lnTo>
                <a:lnTo>
                  <a:pt x="1760213" y="1224849"/>
                </a:lnTo>
                <a:lnTo>
                  <a:pt x="0" y="1224849"/>
                </a:lnTo>
                <a:lnTo>
                  <a:pt x="0" y="0"/>
                </a:lnTo>
                <a:close/>
              </a:path>
            </a:pathLst>
          </a:custGeom>
          <a:blipFill>
            <a:blip r:embed="rId11"/>
            <a:stretch>
              <a:fillRect l="0" t="0" r="0"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sp>
        <p:nvSpPr>
          <p:cNvPr name="TextBox 2" id="2"/>
          <p:cNvSpPr txBox="true"/>
          <p:nvPr/>
        </p:nvSpPr>
        <p:spPr>
          <a:xfrm rot="0">
            <a:off x="2128268" y="1835990"/>
            <a:ext cx="8985176" cy="953135"/>
          </a:xfrm>
          <a:prstGeom prst="rect">
            <a:avLst/>
          </a:prstGeom>
        </p:spPr>
        <p:txBody>
          <a:bodyPr anchor="t" rtlCol="false" tIns="0" lIns="0" bIns="0" rIns="0">
            <a:spAutoFit/>
          </a:bodyPr>
          <a:lstStyle/>
          <a:p>
            <a:pPr algn="l">
              <a:lnSpc>
                <a:spcPts val="7840"/>
              </a:lnSpc>
            </a:pPr>
            <a:r>
              <a:rPr lang="en-US" sz="5600" b="true">
                <a:solidFill>
                  <a:srgbClr val="FFFFFF"/>
                </a:solidFill>
                <a:latin typeface="Montserrat Bold"/>
                <a:ea typeface="Montserrat Bold"/>
                <a:cs typeface="Montserrat Bold"/>
                <a:sym typeface="Montserrat Bold"/>
              </a:rPr>
              <a:t>COCO Dataset </a:t>
            </a:r>
          </a:p>
        </p:txBody>
      </p:sp>
      <p:sp>
        <p:nvSpPr>
          <p:cNvPr name="TextBox 3" id="3"/>
          <p:cNvSpPr txBox="true"/>
          <p:nvPr/>
        </p:nvSpPr>
        <p:spPr>
          <a:xfrm rot="0">
            <a:off x="2128268" y="3366145"/>
            <a:ext cx="2473672" cy="580390"/>
          </a:xfrm>
          <a:prstGeom prst="rect">
            <a:avLst/>
          </a:prstGeom>
        </p:spPr>
        <p:txBody>
          <a:bodyPr anchor="t" rtlCol="false" tIns="0" lIns="0" bIns="0" rIns="0">
            <a:spAutoFit/>
          </a:bodyPr>
          <a:lstStyle/>
          <a:p>
            <a:pPr algn="l">
              <a:lnSpc>
                <a:spcPts val="4759"/>
              </a:lnSpc>
            </a:pPr>
            <a:r>
              <a:rPr lang="en-US" sz="3399" b="true">
                <a:solidFill>
                  <a:srgbClr val="FFFFFF"/>
                </a:solidFill>
                <a:latin typeface="Montserrat Bold"/>
                <a:ea typeface="Montserrat Bold"/>
                <a:cs typeface="Montserrat Bold"/>
                <a:sym typeface="Montserrat Bold"/>
              </a:rPr>
              <a:t>Terdiri dari</a:t>
            </a:r>
          </a:p>
        </p:txBody>
      </p:sp>
      <p:grpSp>
        <p:nvGrpSpPr>
          <p:cNvPr name="Group 4" id="4"/>
          <p:cNvGrpSpPr/>
          <p:nvPr/>
        </p:nvGrpSpPr>
        <p:grpSpPr>
          <a:xfrm rot="0">
            <a:off x="2128268" y="4943501"/>
            <a:ext cx="4217216" cy="3439503"/>
            <a:chOff x="0" y="0"/>
            <a:chExt cx="1110707" cy="905877"/>
          </a:xfrm>
        </p:grpSpPr>
        <p:sp>
          <p:nvSpPr>
            <p:cNvPr name="Freeform 5" id="5"/>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B2DFE5"/>
            </a:solidFill>
          </p:spPr>
        </p:sp>
        <p:sp>
          <p:nvSpPr>
            <p:cNvPr name="TextBox 6" id="6"/>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363656" y="5143500"/>
            <a:ext cx="3746441" cy="2770316"/>
            <a:chOff x="0" y="0"/>
            <a:chExt cx="4995254" cy="3693755"/>
          </a:xfrm>
        </p:grpSpPr>
        <p:sp>
          <p:nvSpPr>
            <p:cNvPr name="TextBox 8" id="8"/>
            <p:cNvSpPr txBox="true"/>
            <p:nvPr/>
          </p:nvSpPr>
          <p:spPr>
            <a:xfrm rot="0">
              <a:off x="1049464" y="-66675"/>
              <a:ext cx="2896327" cy="751628"/>
            </a:xfrm>
            <a:prstGeom prst="rect">
              <a:avLst/>
            </a:prstGeom>
          </p:spPr>
          <p:txBody>
            <a:bodyPr anchor="t" rtlCol="false" tIns="0" lIns="0" bIns="0" rIns="0">
              <a:spAutoFit/>
            </a:bodyPr>
            <a:lstStyle/>
            <a:p>
              <a:pPr algn="l">
                <a:lnSpc>
                  <a:spcPts val="4759"/>
                </a:lnSpc>
              </a:pPr>
              <a:r>
                <a:rPr lang="en-US" sz="3399" b="true">
                  <a:solidFill>
                    <a:srgbClr val="4F6A92"/>
                  </a:solidFill>
                  <a:latin typeface="Montserrat Bold"/>
                  <a:ea typeface="Montserrat Bold"/>
                  <a:cs typeface="Montserrat Bold"/>
                  <a:sym typeface="Montserrat Bold"/>
                </a:rPr>
                <a:t>Train2017</a:t>
              </a:r>
            </a:p>
          </p:txBody>
        </p:sp>
        <p:sp>
          <p:nvSpPr>
            <p:cNvPr name="TextBox 9" id="9"/>
            <p:cNvSpPr txBox="true"/>
            <p:nvPr/>
          </p:nvSpPr>
          <p:spPr>
            <a:xfrm rot="0">
              <a:off x="0" y="1745575"/>
              <a:ext cx="4995254" cy="1948180"/>
            </a:xfrm>
            <a:prstGeom prst="rect">
              <a:avLst/>
            </a:prstGeom>
          </p:spPr>
          <p:txBody>
            <a:bodyPr anchor="t" rtlCol="false" tIns="0" lIns="0" bIns="0" rIns="0">
              <a:spAutoFit/>
            </a:bodyPr>
            <a:lstStyle/>
            <a:p>
              <a:pPr algn="ctr">
                <a:lnSpc>
                  <a:spcPts val="2940"/>
                </a:lnSpc>
              </a:pPr>
              <a:r>
                <a:rPr lang="en-US" sz="2100">
                  <a:solidFill>
                    <a:srgbClr val="4F6A92"/>
                  </a:solidFill>
                  <a:latin typeface="Montserrat"/>
                  <a:ea typeface="Montserrat"/>
                  <a:cs typeface="Montserrat"/>
                  <a:sym typeface="Montserrat"/>
                </a:rPr>
                <a:t>Terdiri dari 118.000 gambar untuk object detection, segmentation, dan captioning tasks</a:t>
              </a:r>
            </a:p>
          </p:txBody>
        </p:sp>
      </p:grpSp>
      <p:grpSp>
        <p:nvGrpSpPr>
          <p:cNvPr name="Group 10" id="10"/>
          <p:cNvGrpSpPr/>
          <p:nvPr/>
        </p:nvGrpSpPr>
        <p:grpSpPr>
          <a:xfrm rot="0">
            <a:off x="7035392" y="4943501"/>
            <a:ext cx="4217216" cy="3439503"/>
            <a:chOff x="0" y="0"/>
            <a:chExt cx="1110707" cy="905877"/>
          </a:xfrm>
        </p:grpSpPr>
        <p:sp>
          <p:nvSpPr>
            <p:cNvPr name="Freeform 11" id="11"/>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AECCE7"/>
            </a:solidFill>
          </p:spPr>
        </p:sp>
        <p:sp>
          <p:nvSpPr>
            <p:cNvPr name="TextBox 12" id="12"/>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7524152" y="5143500"/>
            <a:ext cx="3518952" cy="2398841"/>
            <a:chOff x="0" y="0"/>
            <a:chExt cx="4691935" cy="3198455"/>
          </a:xfrm>
        </p:grpSpPr>
        <p:sp>
          <p:nvSpPr>
            <p:cNvPr name="TextBox 14" id="14"/>
            <p:cNvSpPr txBox="true"/>
            <p:nvPr/>
          </p:nvSpPr>
          <p:spPr>
            <a:xfrm rot="0">
              <a:off x="1207386" y="-66675"/>
              <a:ext cx="2350624" cy="751628"/>
            </a:xfrm>
            <a:prstGeom prst="rect">
              <a:avLst/>
            </a:prstGeom>
          </p:spPr>
          <p:txBody>
            <a:bodyPr anchor="t" rtlCol="false" tIns="0" lIns="0" bIns="0" rIns="0">
              <a:spAutoFit/>
            </a:bodyPr>
            <a:lstStyle/>
            <a:p>
              <a:pPr algn="l">
                <a:lnSpc>
                  <a:spcPts val="4759"/>
                </a:lnSpc>
              </a:pPr>
              <a:r>
                <a:rPr lang="en-US" sz="3399" b="true">
                  <a:solidFill>
                    <a:srgbClr val="4F6A92"/>
                  </a:solidFill>
                  <a:latin typeface="Montserrat Bold"/>
                  <a:ea typeface="Montserrat Bold"/>
                  <a:cs typeface="Montserrat Bold"/>
                  <a:sym typeface="Montserrat Bold"/>
                </a:rPr>
                <a:t>Val2017</a:t>
              </a:r>
            </a:p>
          </p:txBody>
        </p:sp>
        <p:sp>
          <p:nvSpPr>
            <p:cNvPr name="TextBox 15" id="15"/>
            <p:cNvSpPr txBox="true"/>
            <p:nvPr/>
          </p:nvSpPr>
          <p:spPr>
            <a:xfrm rot="0">
              <a:off x="0" y="1745575"/>
              <a:ext cx="4691935" cy="1452880"/>
            </a:xfrm>
            <a:prstGeom prst="rect">
              <a:avLst/>
            </a:prstGeom>
          </p:spPr>
          <p:txBody>
            <a:bodyPr anchor="t" rtlCol="false" tIns="0" lIns="0" bIns="0" rIns="0">
              <a:spAutoFit/>
            </a:bodyPr>
            <a:lstStyle/>
            <a:p>
              <a:pPr algn="ctr">
                <a:lnSpc>
                  <a:spcPts val="2940"/>
                </a:lnSpc>
              </a:pPr>
              <a:r>
                <a:rPr lang="en-US" sz="2100">
                  <a:solidFill>
                    <a:srgbClr val="4F6A92"/>
                  </a:solidFill>
                  <a:latin typeface="Montserrat"/>
                  <a:ea typeface="Montserrat"/>
                  <a:cs typeface="Montserrat"/>
                  <a:sym typeface="Montserrat"/>
                </a:rPr>
                <a:t>Memiliki  sebanyak 5.000 gambar untuk validasi model pada dataset</a:t>
              </a:r>
            </a:p>
          </p:txBody>
        </p:sp>
      </p:grpSp>
      <p:grpSp>
        <p:nvGrpSpPr>
          <p:cNvPr name="Group 16" id="16"/>
          <p:cNvGrpSpPr/>
          <p:nvPr/>
        </p:nvGrpSpPr>
        <p:grpSpPr>
          <a:xfrm rot="0">
            <a:off x="12103671" y="4943501"/>
            <a:ext cx="4217216" cy="3439503"/>
            <a:chOff x="0" y="0"/>
            <a:chExt cx="1110707" cy="905877"/>
          </a:xfrm>
        </p:grpSpPr>
        <p:sp>
          <p:nvSpPr>
            <p:cNvPr name="Freeform 17" id="17"/>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48A9B6"/>
            </a:solidFill>
          </p:spPr>
        </p:sp>
        <p:sp>
          <p:nvSpPr>
            <p:cNvPr name="TextBox 18" id="18"/>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2452804" y="5143500"/>
            <a:ext cx="3518952" cy="2398841"/>
            <a:chOff x="0" y="0"/>
            <a:chExt cx="4691935" cy="3198455"/>
          </a:xfrm>
        </p:grpSpPr>
        <p:sp>
          <p:nvSpPr>
            <p:cNvPr name="TextBox 20" id="20"/>
            <p:cNvSpPr txBox="true"/>
            <p:nvPr/>
          </p:nvSpPr>
          <p:spPr>
            <a:xfrm rot="0">
              <a:off x="1126674" y="-66675"/>
              <a:ext cx="2632180" cy="751628"/>
            </a:xfrm>
            <a:prstGeom prst="rect">
              <a:avLst/>
            </a:prstGeom>
          </p:spPr>
          <p:txBody>
            <a:bodyPr anchor="t" rtlCol="false" tIns="0" lIns="0" bIns="0" rIns="0">
              <a:spAutoFit/>
            </a:bodyPr>
            <a:lstStyle/>
            <a:p>
              <a:pPr algn="l">
                <a:lnSpc>
                  <a:spcPts val="4759"/>
                </a:lnSpc>
              </a:pPr>
              <a:r>
                <a:rPr lang="en-US" sz="3399" b="true">
                  <a:solidFill>
                    <a:srgbClr val="FFFFFF"/>
                  </a:solidFill>
                  <a:latin typeface="Montserrat Bold"/>
                  <a:ea typeface="Montserrat Bold"/>
                  <a:cs typeface="Montserrat Bold"/>
                  <a:sym typeface="Montserrat Bold"/>
                </a:rPr>
                <a:t>Test2017</a:t>
              </a:r>
            </a:p>
          </p:txBody>
        </p:sp>
        <p:sp>
          <p:nvSpPr>
            <p:cNvPr name="TextBox 21" id="21"/>
            <p:cNvSpPr txBox="true"/>
            <p:nvPr/>
          </p:nvSpPr>
          <p:spPr>
            <a:xfrm rot="0">
              <a:off x="0" y="1745575"/>
              <a:ext cx="4691935" cy="1452880"/>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20.000 gambar digunakan sebagai uji coba dari model</a:t>
              </a:r>
            </a:p>
          </p:txBody>
        </p:sp>
      </p:grpSp>
      <p:sp>
        <p:nvSpPr>
          <p:cNvPr name="Freeform 22" id="22"/>
          <p:cNvSpPr/>
          <p:nvPr/>
        </p:nvSpPr>
        <p:spPr>
          <a:xfrm flipH="false" flipV="false" rot="-3578320">
            <a:off x="16580504" y="96909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3578320">
            <a:off x="14187064" y="-299344"/>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3578320">
            <a:off x="16588022" y="-1682472"/>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4"/>
            <a:stretch>
              <a:fillRect l="0" t="0" r="0" b="0"/>
            </a:stretch>
          </a:blipFill>
        </p:spPr>
      </p:sp>
      <p:sp>
        <p:nvSpPr>
          <p:cNvPr name="Freeform 26" id="26"/>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5"/>
            <a:stretch>
              <a:fillRect l="0" t="0" r="0" b="0"/>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935578"/>
            <a:ext cx="8985176" cy="953135"/>
          </a:xfrm>
          <a:prstGeom prst="rect">
            <a:avLst/>
          </a:prstGeom>
        </p:spPr>
        <p:txBody>
          <a:bodyPr anchor="t" rtlCol="false" tIns="0" lIns="0" bIns="0" rIns="0">
            <a:spAutoFit/>
          </a:bodyPr>
          <a:lstStyle/>
          <a:p>
            <a:pPr algn="l">
              <a:lnSpc>
                <a:spcPts val="7840"/>
              </a:lnSpc>
            </a:pPr>
            <a:r>
              <a:rPr lang="en-US" sz="5600" b="true">
                <a:solidFill>
                  <a:srgbClr val="4F6A92"/>
                </a:solidFill>
                <a:latin typeface="Montserrat Bold"/>
                <a:ea typeface="Montserrat Bold"/>
                <a:cs typeface="Montserrat Bold"/>
                <a:sym typeface="Montserrat Bold"/>
              </a:rPr>
              <a:t>COCO Dataset </a:t>
            </a:r>
          </a:p>
        </p:txBody>
      </p:sp>
      <p:sp>
        <p:nvSpPr>
          <p:cNvPr name="TextBox 3" id="3"/>
          <p:cNvSpPr txBox="true"/>
          <p:nvPr/>
        </p:nvSpPr>
        <p:spPr>
          <a:xfrm rot="0">
            <a:off x="1028700" y="3465732"/>
            <a:ext cx="8985176" cy="4780915"/>
          </a:xfrm>
          <a:prstGeom prst="rect">
            <a:avLst/>
          </a:prstGeom>
        </p:spPr>
        <p:txBody>
          <a:bodyPr anchor="t" rtlCol="false" tIns="0" lIns="0" bIns="0" rIns="0">
            <a:spAutoFit/>
          </a:bodyPr>
          <a:lstStyle/>
          <a:p>
            <a:pPr algn="l">
              <a:lnSpc>
                <a:spcPts val="4759"/>
              </a:lnSpc>
            </a:pPr>
            <a:r>
              <a:rPr lang="en-US" sz="3399">
                <a:solidFill>
                  <a:srgbClr val="4F6A92"/>
                </a:solidFill>
                <a:latin typeface="Montserrat"/>
                <a:ea typeface="Montserrat"/>
                <a:cs typeface="Montserrat"/>
                <a:sym typeface="Montserrat"/>
              </a:rPr>
              <a:t>Kemudian dengan menggunakan COCO dataset, model diatur agar dapat mengenali kelas yang dipilih yaitu :</a:t>
            </a:r>
          </a:p>
          <a:p>
            <a:pPr algn="l">
              <a:lnSpc>
                <a:spcPts val="4759"/>
              </a:lnSpc>
            </a:pPr>
          </a:p>
          <a:p>
            <a:pPr algn="l" marL="734059" indent="-367030" lvl="1">
              <a:lnSpc>
                <a:spcPts val="4759"/>
              </a:lnSpc>
              <a:buAutoNum type="arabicPeriod" startAt="1"/>
            </a:pPr>
            <a:r>
              <a:rPr lang="en-US" b="true" sz="3399">
                <a:solidFill>
                  <a:srgbClr val="4F6A92"/>
                </a:solidFill>
                <a:latin typeface="Montserrat Bold"/>
                <a:ea typeface="Montserrat Bold"/>
                <a:cs typeface="Montserrat Bold"/>
                <a:sym typeface="Montserrat Bold"/>
              </a:rPr>
              <a:t>Motor</a:t>
            </a:r>
          </a:p>
          <a:p>
            <a:pPr algn="l" marL="734059" indent="-367030" lvl="1">
              <a:lnSpc>
                <a:spcPts val="4759"/>
              </a:lnSpc>
              <a:buAutoNum type="arabicPeriod" startAt="1"/>
            </a:pPr>
            <a:r>
              <a:rPr lang="en-US" b="true" sz="3399">
                <a:solidFill>
                  <a:srgbClr val="4F6A92"/>
                </a:solidFill>
                <a:latin typeface="Montserrat Bold"/>
                <a:ea typeface="Montserrat Bold"/>
                <a:cs typeface="Montserrat Bold"/>
                <a:sym typeface="Montserrat Bold"/>
              </a:rPr>
              <a:t>Mobil</a:t>
            </a:r>
          </a:p>
          <a:p>
            <a:pPr algn="l" marL="734059" indent="-367030" lvl="1">
              <a:lnSpc>
                <a:spcPts val="4759"/>
              </a:lnSpc>
              <a:buAutoNum type="arabicPeriod" startAt="1"/>
            </a:pPr>
            <a:r>
              <a:rPr lang="en-US" b="true" sz="3399">
                <a:solidFill>
                  <a:srgbClr val="4F6A92"/>
                </a:solidFill>
                <a:latin typeface="Montserrat Bold"/>
                <a:ea typeface="Montserrat Bold"/>
                <a:cs typeface="Montserrat Bold"/>
                <a:sym typeface="Montserrat Bold"/>
              </a:rPr>
              <a:t>Truk</a:t>
            </a:r>
          </a:p>
          <a:p>
            <a:pPr algn="l" marL="734059" indent="-367030" lvl="1">
              <a:lnSpc>
                <a:spcPts val="4759"/>
              </a:lnSpc>
              <a:buAutoNum type="arabicPeriod" startAt="1"/>
            </a:pPr>
            <a:r>
              <a:rPr lang="en-US" b="true" sz="3399">
                <a:solidFill>
                  <a:srgbClr val="4F6A92"/>
                </a:solidFill>
                <a:latin typeface="Montserrat Bold"/>
                <a:ea typeface="Montserrat Bold"/>
                <a:cs typeface="Montserrat Bold"/>
                <a:sym typeface="Montserrat Bold"/>
              </a:rPr>
              <a:t>Bus</a:t>
            </a:r>
          </a:p>
        </p:txBody>
      </p:sp>
      <p:sp>
        <p:nvSpPr>
          <p:cNvPr name="Freeform 4" id="4"/>
          <p:cNvSpPr/>
          <p:nvPr/>
        </p:nvSpPr>
        <p:spPr>
          <a:xfrm flipH="false" flipV="false" rot="7221679">
            <a:off x="14253766" y="3787628"/>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578320">
            <a:off x="16505850" y="2479900"/>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578320">
            <a:off x="16520265" y="5115113"/>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517176" y="-783984"/>
            <a:ext cx="6742124" cy="5838376"/>
            <a:chOff x="0" y="0"/>
            <a:chExt cx="4282440" cy="3708400"/>
          </a:xfrm>
        </p:grpSpPr>
        <p:sp>
          <p:nvSpPr>
            <p:cNvPr name="Freeform 8" id="8"/>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8"/>
              <a:stretch>
                <a:fillRect l="-14946" t="0" r="-14946" b="0"/>
              </a:stretch>
            </a:blipFill>
            <a:ln cap="sq">
              <a:noFill/>
              <a:prstDash val="solid"/>
              <a:miter/>
            </a:ln>
          </p:spPr>
        </p:sp>
      </p:grpSp>
      <p:sp>
        <p:nvSpPr>
          <p:cNvPr name="Freeform 9" id="9"/>
          <p:cNvSpPr/>
          <p:nvPr/>
        </p:nvSpPr>
        <p:spPr>
          <a:xfrm flipH="false" flipV="false" rot="-3578320">
            <a:off x="9510285" y="-1010086"/>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0517176" y="5232609"/>
            <a:ext cx="6742124" cy="5838376"/>
            <a:chOff x="0" y="0"/>
            <a:chExt cx="4282440" cy="3708400"/>
          </a:xfrm>
        </p:grpSpPr>
        <p:sp>
          <p:nvSpPr>
            <p:cNvPr name="Freeform 11" id="11"/>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9"/>
              <a:stretch>
                <a:fillRect l="-14865" t="0" r="-14865" b="0"/>
              </a:stretch>
            </a:blipFill>
            <a:ln cap="sq">
              <a:noFill/>
              <a:prstDash val="solid"/>
              <a:miter/>
            </a:ln>
          </p:spPr>
        </p:sp>
      </p:grpSp>
      <p:sp>
        <p:nvSpPr>
          <p:cNvPr name="Freeform 12" id="12"/>
          <p:cNvSpPr/>
          <p:nvPr/>
        </p:nvSpPr>
        <p:spPr>
          <a:xfrm flipH="false" flipV="false" rot="7221679">
            <a:off x="9509528" y="6255403"/>
            <a:ext cx="2898563" cy="2508574"/>
          </a:xfrm>
          <a:custGeom>
            <a:avLst/>
            <a:gdLst/>
            <a:ahLst/>
            <a:cxnLst/>
            <a:rect r="r" b="b" t="t" l="l"/>
            <a:pathLst>
              <a:path h="2508574" w="2898563">
                <a:moveTo>
                  <a:pt x="0" y="0"/>
                </a:moveTo>
                <a:lnTo>
                  <a:pt x="2898563" y="0"/>
                </a:lnTo>
                <a:lnTo>
                  <a:pt x="2898563" y="2508575"/>
                </a:lnTo>
                <a:lnTo>
                  <a:pt x="0" y="25085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3578320">
            <a:off x="9510285" y="8891922"/>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7221679">
            <a:off x="16505093" y="-618033"/>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2"/>
            <a:stretch>
              <a:fillRect l="0" t="0" r="0" b="0"/>
            </a:stretch>
          </a:blipFill>
        </p:spPr>
      </p:sp>
      <p:sp>
        <p:nvSpPr>
          <p:cNvPr name="Freeform 16" id="16"/>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3"/>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E95BE"/>
        </a:solidFill>
      </p:bgPr>
    </p:bg>
    <p:spTree>
      <p:nvGrpSpPr>
        <p:cNvPr id="1" name=""/>
        <p:cNvGrpSpPr/>
        <p:nvPr/>
      </p:nvGrpSpPr>
      <p:grpSpPr>
        <a:xfrm>
          <a:off x="0" y="0"/>
          <a:ext cx="0" cy="0"/>
          <a:chOff x="0" y="0"/>
          <a:chExt cx="0" cy="0"/>
        </a:xfrm>
      </p:grpSpPr>
      <p:sp>
        <p:nvSpPr>
          <p:cNvPr name="Freeform 2" id="2"/>
          <p:cNvSpPr/>
          <p:nvPr/>
        </p:nvSpPr>
        <p:spPr>
          <a:xfrm flipH="false" flipV="false" rot="7221679">
            <a:off x="-127424" y="2042488"/>
            <a:ext cx="7262896" cy="6285707"/>
          </a:xfrm>
          <a:custGeom>
            <a:avLst/>
            <a:gdLst/>
            <a:ahLst/>
            <a:cxnLst/>
            <a:rect r="r" b="b" t="t" l="l"/>
            <a:pathLst>
              <a:path h="6285707" w="7262896">
                <a:moveTo>
                  <a:pt x="0" y="0"/>
                </a:moveTo>
                <a:lnTo>
                  <a:pt x="7262897" y="0"/>
                </a:lnTo>
                <a:lnTo>
                  <a:pt x="7262897" y="6285707"/>
                </a:lnTo>
                <a:lnTo>
                  <a:pt x="0" y="62857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21679">
            <a:off x="5540799" y="5224978"/>
            <a:ext cx="7262896" cy="6285707"/>
          </a:xfrm>
          <a:custGeom>
            <a:avLst/>
            <a:gdLst/>
            <a:ahLst/>
            <a:cxnLst/>
            <a:rect r="r" b="b" t="t" l="l"/>
            <a:pathLst>
              <a:path h="6285707" w="7262896">
                <a:moveTo>
                  <a:pt x="0" y="0"/>
                </a:moveTo>
                <a:lnTo>
                  <a:pt x="7262896" y="0"/>
                </a:lnTo>
                <a:lnTo>
                  <a:pt x="7262896" y="6285707"/>
                </a:lnTo>
                <a:lnTo>
                  <a:pt x="0" y="6285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221679">
            <a:off x="5540799" y="-1204425"/>
            <a:ext cx="7262896" cy="6285707"/>
          </a:xfrm>
          <a:custGeom>
            <a:avLst/>
            <a:gdLst/>
            <a:ahLst/>
            <a:cxnLst/>
            <a:rect r="r" b="b" t="t" l="l"/>
            <a:pathLst>
              <a:path h="6285707" w="7262896">
                <a:moveTo>
                  <a:pt x="0" y="0"/>
                </a:moveTo>
                <a:lnTo>
                  <a:pt x="7262896" y="0"/>
                </a:lnTo>
                <a:lnTo>
                  <a:pt x="7262896" y="6285706"/>
                </a:lnTo>
                <a:lnTo>
                  <a:pt x="0" y="6285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221679">
            <a:off x="11152527" y="2042488"/>
            <a:ext cx="7262896" cy="6285707"/>
          </a:xfrm>
          <a:custGeom>
            <a:avLst/>
            <a:gdLst/>
            <a:ahLst/>
            <a:cxnLst/>
            <a:rect r="r" b="b" t="t" l="l"/>
            <a:pathLst>
              <a:path h="6285707" w="7262896">
                <a:moveTo>
                  <a:pt x="0" y="0"/>
                </a:moveTo>
                <a:lnTo>
                  <a:pt x="7262897" y="0"/>
                </a:lnTo>
                <a:lnTo>
                  <a:pt x="7262897" y="6285707"/>
                </a:lnTo>
                <a:lnTo>
                  <a:pt x="0" y="6285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221679">
            <a:off x="-677795" y="8402657"/>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221679">
            <a:off x="16059714" y="-570679"/>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3578320">
            <a:off x="1619059" y="7116835"/>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3578320">
            <a:off x="13684513" y="681543"/>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3578320">
            <a:off x="15967228" y="2137176"/>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578320">
            <a:off x="-684556" y="5784649"/>
            <a:ext cx="2904567" cy="2513771"/>
          </a:xfrm>
          <a:custGeom>
            <a:avLst/>
            <a:gdLst/>
            <a:ahLst/>
            <a:cxnLst/>
            <a:rect r="r" b="b" t="t" l="l"/>
            <a:pathLst>
              <a:path h="2513771" w="2904567">
                <a:moveTo>
                  <a:pt x="0" y="0"/>
                </a:moveTo>
                <a:lnTo>
                  <a:pt x="2904566" y="0"/>
                </a:lnTo>
                <a:lnTo>
                  <a:pt x="2904566" y="2513771"/>
                </a:lnTo>
                <a:lnTo>
                  <a:pt x="0" y="251377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6573696" y="6226294"/>
            <a:ext cx="5168856" cy="887264"/>
          </a:xfrm>
          <a:prstGeom prst="rect">
            <a:avLst/>
          </a:prstGeom>
        </p:spPr>
        <p:txBody>
          <a:bodyPr anchor="t" rtlCol="false" tIns="0" lIns="0" bIns="0" rIns="0">
            <a:spAutoFit/>
          </a:bodyPr>
          <a:lstStyle/>
          <a:p>
            <a:pPr algn="ctr" marL="0" indent="0" lvl="1">
              <a:lnSpc>
                <a:spcPts val="6536"/>
              </a:lnSpc>
            </a:pPr>
            <a:r>
              <a:rPr lang="en-US" b="true" sz="7104" spc="198">
                <a:solidFill>
                  <a:srgbClr val="FFFFFF"/>
                </a:solidFill>
                <a:latin typeface="Barlow Condensed Bold"/>
                <a:ea typeface="Barlow Condensed Bold"/>
                <a:cs typeface="Barlow Condensed Bold"/>
                <a:sym typeface="Barlow Condensed Bold"/>
              </a:rPr>
              <a:t>HIVEMQ</a:t>
            </a:r>
          </a:p>
        </p:txBody>
      </p:sp>
      <p:sp>
        <p:nvSpPr>
          <p:cNvPr name="TextBox 13" id="13"/>
          <p:cNvSpPr txBox="true"/>
          <p:nvPr/>
        </p:nvSpPr>
        <p:spPr>
          <a:xfrm rot="0">
            <a:off x="6474631" y="587193"/>
            <a:ext cx="5395232" cy="677333"/>
          </a:xfrm>
          <a:prstGeom prst="rect">
            <a:avLst/>
          </a:prstGeom>
        </p:spPr>
        <p:txBody>
          <a:bodyPr anchor="t" rtlCol="false" tIns="0" lIns="0" bIns="0" rIns="0">
            <a:spAutoFit/>
          </a:bodyPr>
          <a:lstStyle/>
          <a:p>
            <a:pPr algn="ctr" marL="0" indent="0" lvl="1">
              <a:lnSpc>
                <a:spcPts val="4974"/>
              </a:lnSpc>
            </a:pPr>
            <a:r>
              <a:rPr lang="en-US" b="true" sz="5406" spc="151">
                <a:solidFill>
                  <a:srgbClr val="FFFFFF"/>
                </a:solidFill>
                <a:latin typeface="Barlow Condensed Bold"/>
                <a:ea typeface="Barlow Condensed Bold"/>
                <a:cs typeface="Barlow Condensed Bold"/>
                <a:sym typeface="Barlow Condensed Bold"/>
              </a:rPr>
              <a:t>ESP 32</a:t>
            </a:r>
          </a:p>
        </p:txBody>
      </p:sp>
      <p:sp>
        <p:nvSpPr>
          <p:cNvPr name="TextBox 14" id="14"/>
          <p:cNvSpPr txBox="true"/>
          <p:nvPr/>
        </p:nvSpPr>
        <p:spPr>
          <a:xfrm rot="0">
            <a:off x="1028700" y="3370300"/>
            <a:ext cx="5140609" cy="887264"/>
          </a:xfrm>
          <a:prstGeom prst="rect">
            <a:avLst/>
          </a:prstGeom>
        </p:spPr>
        <p:txBody>
          <a:bodyPr anchor="t" rtlCol="false" tIns="0" lIns="0" bIns="0" rIns="0">
            <a:spAutoFit/>
          </a:bodyPr>
          <a:lstStyle/>
          <a:p>
            <a:pPr algn="ctr" marL="0" indent="0" lvl="1">
              <a:lnSpc>
                <a:spcPts val="6536"/>
              </a:lnSpc>
            </a:pPr>
            <a:r>
              <a:rPr lang="en-US" b="true" sz="7104" spc="198">
                <a:solidFill>
                  <a:srgbClr val="4F6A92"/>
                </a:solidFill>
                <a:latin typeface="Barlow Condensed Bold"/>
                <a:ea typeface="Barlow Condensed Bold"/>
                <a:cs typeface="Barlow Condensed Bold"/>
                <a:sym typeface="Barlow Condensed Bold"/>
              </a:rPr>
              <a:t>ESP 32</a:t>
            </a:r>
          </a:p>
        </p:txBody>
      </p:sp>
      <p:sp>
        <p:nvSpPr>
          <p:cNvPr name="TextBox 15" id="15"/>
          <p:cNvSpPr txBox="true"/>
          <p:nvPr/>
        </p:nvSpPr>
        <p:spPr>
          <a:xfrm rot="0">
            <a:off x="11921028" y="3351250"/>
            <a:ext cx="5915854" cy="887264"/>
          </a:xfrm>
          <a:prstGeom prst="rect">
            <a:avLst/>
          </a:prstGeom>
        </p:spPr>
        <p:txBody>
          <a:bodyPr anchor="t" rtlCol="false" tIns="0" lIns="0" bIns="0" rIns="0">
            <a:spAutoFit/>
          </a:bodyPr>
          <a:lstStyle/>
          <a:p>
            <a:pPr algn="ctr" marL="0" indent="0" lvl="1">
              <a:lnSpc>
                <a:spcPts val="6536"/>
              </a:lnSpc>
            </a:pPr>
            <a:r>
              <a:rPr lang="en-US" b="true" sz="7104" spc="198">
                <a:solidFill>
                  <a:srgbClr val="4F6A92"/>
                </a:solidFill>
                <a:latin typeface="Barlow Condensed Bold"/>
                <a:ea typeface="Barlow Condensed Bold"/>
                <a:cs typeface="Barlow Condensed Bold"/>
                <a:sym typeface="Barlow Condensed Bold"/>
              </a:rPr>
              <a:t>HIVEMQ</a:t>
            </a:r>
          </a:p>
        </p:txBody>
      </p:sp>
      <p:sp>
        <p:nvSpPr>
          <p:cNvPr name="TextBox 16" id="16"/>
          <p:cNvSpPr txBox="true"/>
          <p:nvPr/>
        </p:nvSpPr>
        <p:spPr>
          <a:xfrm rot="0">
            <a:off x="7016630" y="1417004"/>
            <a:ext cx="4282987" cy="3052313"/>
          </a:xfrm>
          <a:prstGeom prst="rect">
            <a:avLst/>
          </a:prstGeom>
        </p:spPr>
        <p:txBody>
          <a:bodyPr anchor="t" rtlCol="false" tIns="0" lIns="0" bIns="0" rIns="0">
            <a:spAutoFit/>
          </a:bodyPr>
          <a:lstStyle/>
          <a:p>
            <a:pPr algn="ctr" marL="0" indent="0" lvl="1">
              <a:lnSpc>
                <a:spcPts val="4002"/>
              </a:lnSpc>
              <a:spcBef>
                <a:spcPct val="0"/>
              </a:spcBef>
            </a:pPr>
            <a:r>
              <a:rPr lang="en-US" sz="3740" spc="104">
                <a:solidFill>
                  <a:srgbClr val="4F6A92"/>
                </a:solidFill>
                <a:latin typeface="Barlow Condensed"/>
                <a:ea typeface="Barlow Condensed"/>
                <a:cs typeface="Barlow Condensed"/>
                <a:sym typeface="Barlow Condensed"/>
              </a:rPr>
              <a:t>ESP 32 merupakan mikrokontroller berharga rendah dan hemat energi dengan wifi dan dual-mode bluetooth terintegrasi </a:t>
            </a:r>
          </a:p>
        </p:txBody>
      </p:sp>
      <p:sp>
        <p:nvSpPr>
          <p:cNvPr name="TextBox 17" id="17"/>
          <p:cNvSpPr txBox="true"/>
          <p:nvPr/>
        </p:nvSpPr>
        <p:spPr>
          <a:xfrm rot="0">
            <a:off x="6175770" y="7151659"/>
            <a:ext cx="5936460" cy="2547785"/>
          </a:xfrm>
          <a:prstGeom prst="rect">
            <a:avLst/>
          </a:prstGeom>
        </p:spPr>
        <p:txBody>
          <a:bodyPr anchor="t" rtlCol="false" tIns="0" lIns="0" bIns="0" rIns="0">
            <a:spAutoFit/>
          </a:bodyPr>
          <a:lstStyle/>
          <a:p>
            <a:pPr algn="ctr" marL="0" indent="0" lvl="1">
              <a:lnSpc>
                <a:spcPts val="4002"/>
              </a:lnSpc>
              <a:spcBef>
                <a:spcPct val="0"/>
              </a:spcBef>
            </a:pPr>
            <a:r>
              <a:rPr lang="en-US" sz="3740" spc="104">
                <a:solidFill>
                  <a:srgbClr val="4F6A92"/>
                </a:solidFill>
                <a:latin typeface="Barlow Condensed"/>
                <a:ea typeface="Barlow Condensed"/>
                <a:cs typeface="Barlow Condensed"/>
                <a:sym typeface="Barlow Condensed"/>
              </a:rPr>
              <a:t>HiveMQ adalah platform yang dirancang khusus untuk menghubungkan, berkomunikasi, mengontrol data IoT dalam kondisi dunia nyata</a:t>
            </a:r>
          </a:p>
        </p:txBody>
      </p:sp>
      <p:sp>
        <p:nvSpPr>
          <p:cNvPr name="TextBox 18" id="18"/>
          <p:cNvSpPr txBox="true"/>
          <p:nvPr/>
        </p:nvSpPr>
        <p:spPr>
          <a:xfrm rot="0">
            <a:off x="1444999" y="4516941"/>
            <a:ext cx="4118050" cy="2547537"/>
          </a:xfrm>
          <a:prstGeom prst="rect">
            <a:avLst/>
          </a:prstGeom>
        </p:spPr>
        <p:txBody>
          <a:bodyPr anchor="t" rtlCol="false" tIns="0" lIns="0" bIns="0" rIns="0">
            <a:spAutoFit/>
          </a:bodyPr>
          <a:lstStyle/>
          <a:p>
            <a:pPr algn="ctr" marL="0" indent="0" lvl="1">
              <a:lnSpc>
                <a:spcPts val="4002"/>
              </a:lnSpc>
              <a:spcBef>
                <a:spcPct val="0"/>
              </a:spcBef>
            </a:pPr>
            <a:r>
              <a:rPr lang="en-US" sz="3740" spc="104">
                <a:solidFill>
                  <a:srgbClr val="4F6A92"/>
                </a:solidFill>
                <a:latin typeface="Barlow Condensed"/>
                <a:ea typeface="Barlow Condensed"/>
                <a:cs typeface="Barlow Condensed"/>
                <a:sym typeface="Barlow Condensed"/>
              </a:rPr>
              <a:t>Dapat dikoneksikan dengan WIFI sehingga dapat mengirim atau membaca data dari MQTT berbasis WebSite</a:t>
            </a:r>
          </a:p>
        </p:txBody>
      </p:sp>
      <p:sp>
        <p:nvSpPr>
          <p:cNvPr name="TextBox 19" id="19"/>
          <p:cNvSpPr txBox="true"/>
          <p:nvPr/>
        </p:nvSpPr>
        <p:spPr>
          <a:xfrm rot="0">
            <a:off x="12382455" y="4507416"/>
            <a:ext cx="4993001" cy="3052610"/>
          </a:xfrm>
          <a:prstGeom prst="rect">
            <a:avLst/>
          </a:prstGeom>
        </p:spPr>
        <p:txBody>
          <a:bodyPr anchor="t" rtlCol="false" tIns="0" lIns="0" bIns="0" rIns="0">
            <a:spAutoFit/>
          </a:bodyPr>
          <a:lstStyle/>
          <a:p>
            <a:pPr algn="ctr" marL="0" indent="0" lvl="1">
              <a:lnSpc>
                <a:spcPts val="4002"/>
              </a:lnSpc>
              <a:spcBef>
                <a:spcPct val="0"/>
              </a:spcBef>
            </a:pPr>
            <a:r>
              <a:rPr lang="en-US" sz="3740" spc="104">
                <a:solidFill>
                  <a:srgbClr val="4F6A92"/>
                </a:solidFill>
                <a:latin typeface="Barlow Condensed"/>
                <a:ea typeface="Barlow Condensed"/>
                <a:cs typeface="Barlow Condensed"/>
                <a:sym typeface="Barlow Condensed"/>
              </a:rPr>
              <a:t>HiveMQ berperan dalam pengiriman dan pemantauan data jumlah kendaraan pada lampu merah, sehingga YOLO dan ESP 32 dapat berkomunikasi.</a:t>
            </a:r>
          </a:p>
        </p:txBody>
      </p:sp>
      <p:sp>
        <p:nvSpPr>
          <p:cNvPr name="Freeform 20" id="20"/>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4"/>
            <a:stretch>
              <a:fillRect l="0" t="0" r="0" b="0"/>
            </a:stretch>
          </a:blipFill>
        </p:spPr>
      </p:sp>
      <p:sp>
        <p:nvSpPr>
          <p:cNvPr name="Freeform 21" id="21"/>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5"/>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E95BE"/>
        </a:solidFill>
      </p:bgPr>
    </p:bg>
    <p:spTree>
      <p:nvGrpSpPr>
        <p:cNvPr id="1" name=""/>
        <p:cNvGrpSpPr/>
        <p:nvPr/>
      </p:nvGrpSpPr>
      <p:grpSpPr>
        <a:xfrm>
          <a:off x="0" y="0"/>
          <a:ext cx="0" cy="0"/>
          <a:chOff x="0" y="0"/>
          <a:chExt cx="0" cy="0"/>
        </a:xfrm>
      </p:grpSpPr>
      <p:grpSp>
        <p:nvGrpSpPr>
          <p:cNvPr name="Group 2" id="2"/>
          <p:cNvGrpSpPr/>
          <p:nvPr/>
        </p:nvGrpSpPr>
        <p:grpSpPr>
          <a:xfrm rot="0">
            <a:off x="824602" y="3806209"/>
            <a:ext cx="8137521" cy="4795398"/>
            <a:chOff x="0" y="0"/>
            <a:chExt cx="2143215" cy="1262985"/>
          </a:xfrm>
        </p:grpSpPr>
        <p:sp>
          <p:nvSpPr>
            <p:cNvPr name="Freeform 3" id="3"/>
            <p:cNvSpPr/>
            <p:nvPr/>
          </p:nvSpPr>
          <p:spPr>
            <a:xfrm flipH="false" flipV="false" rot="0">
              <a:off x="0" y="0"/>
              <a:ext cx="2143215" cy="1262985"/>
            </a:xfrm>
            <a:custGeom>
              <a:avLst/>
              <a:gdLst/>
              <a:ahLst/>
              <a:cxnLst/>
              <a:rect r="r" b="b" t="t" l="l"/>
              <a:pathLst>
                <a:path h="1262985" w="2143215">
                  <a:moveTo>
                    <a:pt x="0" y="0"/>
                  </a:moveTo>
                  <a:lnTo>
                    <a:pt x="2143215" y="0"/>
                  </a:lnTo>
                  <a:lnTo>
                    <a:pt x="2143215" y="1262985"/>
                  </a:lnTo>
                  <a:lnTo>
                    <a:pt x="0" y="1262985"/>
                  </a:lnTo>
                  <a:close/>
                </a:path>
              </a:pathLst>
            </a:custGeom>
            <a:solidFill>
              <a:srgbClr val="AECCE7"/>
            </a:solidFill>
          </p:spPr>
        </p:sp>
        <p:sp>
          <p:nvSpPr>
            <p:cNvPr name="TextBox 4" id="4"/>
            <p:cNvSpPr txBox="true"/>
            <p:nvPr/>
          </p:nvSpPr>
          <p:spPr>
            <a:xfrm>
              <a:off x="0" y="-38100"/>
              <a:ext cx="2143215" cy="130108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88076" y="4133688"/>
            <a:ext cx="7810573" cy="3563574"/>
          </a:xfrm>
          <a:custGeom>
            <a:avLst/>
            <a:gdLst/>
            <a:ahLst/>
            <a:cxnLst/>
            <a:rect r="r" b="b" t="t" l="l"/>
            <a:pathLst>
              <a:path h="3563574" w="7810573">
                <a:moveTo>
                  <a:pt x="0" y="0"/>
                </a:moveTo>
                <a:lnTo>
                  <a:pt x="7810573" y="0"/>
                </a:lnTo>
                <a:lnTo>
                  <a:pt x="7810573" y="3563574"/>
                </a:lnTo>
                <a:lnTo>
                  <a:pt x="0" y="3563574"/>
                </a:lnTo>
                <a:lnTo>
                  <a:pt x="0" y="0"/>
                </a:lnTo>
                <a:close/>
              </a:path>
            </a:pathLst>
          </a:custGeom>
          <a:blipFill>
            <a:blip r:embed="rId2"/>
            <a:stretch>
              <a:fillRect l="0" t="0" r="0" b="0"/>
            </a:stretch>
          </a:blipFill>
        </p:spPr>
      </p:sp>
      <p:grpSp>
        <p:nvGrpSpPr>
          <p:cNvPr name="Group 6" id="6"/>
          <p:cNvGrpSpPr/>
          <p:nvPr/>
        </p:nvGrpSpPr>
        <p:grpSpPr>
          <a:xfrm rot="0">
            <a:off x="10129868" y="3806209"/>
            <a:ext cx="7400622" cy="4795398"/>
            <a:chOff x="0" y="0"/>
            <a:chExt cx="1949135" cy="1262985"/>
          </a:xfrm>
        </p:grpSpPr>
        <p:sp>
          <p:nvSpPr>
            <p:cNvPr name="Freeform 7" id="7"/>
            <p:cNvSpPr/>
            <p:nvPr/>
          </p:nvSpPr>
          <p:spPr>
            <a:xfrm flipH="false" flipV="false" rot="0">
              <a:off x="0" y="0"/>
              <a:ext cx="1949135" cy="1262985"/>
            </a:xfrm>
            <a:custGeom>
              <a:avLst/>
              <a:gdLst/>
              <a:ahLst/>
              <a:cxnLst/>
              <a:rect r="r" b="b" t="t" l="l"/>
              <a:pathLst>
                <a:path h="1262985" w="1949135">
                  <a:moveTo>
                    <a:pt x="0" y="0"/>
                  </a:moveTo>
                  <a:lnTo>
                    <a:pt x="1949135" y="0"/>
                  </a:lnTo>
                  <a:lnTo>
                    <a:pt x="1949135" y="1262985"/>
                  </a:lnTo>
                  <a:lnTo>
                    <a:pt x="0" y="1262985"/>
                  </a:lnTo>
                  <a:close/>
                </a:path>
              </a:pathLst>
            </a:custGeom>
            <a:solidFill>
              <a:srgbClr val="AECCE7"/>
            </a:solidFill>
          </p:spPr>
        </p:sp>
        <p:sp>
          <p:nvSpPr>
            <p:cNvPr name="TextBox 8" id="8"/>
            <p:cNvSpPr txBox="true"/>
            <p:nvPr/>
          </p:nvSpPr>
          <p:spPr>
            <a:xfrm>
              <a:off x="0" y="-38100"/>
              <a:ext cx="1949135" cy="1301085"/>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401058" y="3968093"/>
            <a:ext cx="6858242" cy="3729169"/>
          </a:xfrm>
          <a:custGeom>
            <a:avLst/>
            <a:gdLst/>
            <a:ahLst/>
            <a:cxnLst/>
            <a:rect r="r" b="b" t="t" l="l"/>
            <a:pathLst>
              <a:path h="3729169" w="6858242">
                <a:moveTo>
                  <a:pt x="0" y="0"/>
                </a:moveTo>
                <a:lnTo>
                  <a:pt x="6858242" y="0"/>
                </a:lnTo>
                <a:lnTo>
                  <a:pt x="6858242" y="3729169"/>
                </a:lnTo>
                <a:lnTo>
                  <a:pt x="0" y="3729169"/>
                </a:lnTo>
                <a:lnTo>
                  <a:pt x="0" y="0"/>
                </a:lnTo>
                <a:close/>
              </a:path>
            </a:pathLst>
          </a:custGeom>
          <a:blipFill>
            <a:blip r:embed="rId3"/>
            <a:stretch>
              <a:fillRect l="0" t="0" r="0" b="0"/>
            </a:stretch>
          </a:blipFill>
        </p:spPr>
      </p:sp>
      <p:grpSp>
        <p:nvGrpSpPr>
          <p:cNvPr name="Group 10" id="10"/>
          <p:cNvGrpSpPr/>
          <p:nvPr/>
        </p:nvGrpSpPr>
        <p:grpSpPr>
          <a:xfrm rot="-10800000">
            <a:off x="6556273" y="571978"/>
            <a:ext cx="11923607" cy="2454856"/>
            <a:chOff x="0" y="0"/>
            <a:chExt cx="3140374" cy="646547"/>
          </a:xfrm>
        </p:grpSpPr>
        <p:sp>
          <p:nvSpPr>
            <p:cNvPr name="Freeform 11" id="11"/>
            <p:cNvSpPr/>
            <p:nvPr/>
          </p:nvSpPr>
          <p:spPr>
            <a:xfrm flipH="false" flipV="false" rot="0">
              <a:off x="0" y="0"/>
              <a:ext cx="3140374" cy="646547"/>
            </a:xfrm>
            <a:custGeom>
              <a:avLst/>
              <a:gdLst/>
              <a:ahLst/>
              <a:cxnLst/>
              <a:rect r="r" b="b" t="t" l="l"/>
              <a:pathLst>
                <a:path h="646547" w="3140374">
                  <a:moveTo>
                    <a:pt x="2937174" y="0"/>
                  </a:moveTo>
                  <a:lnTo>
                    <a:pt x="0" y="0"/>
                  </a:lnTo>
                  <a:lnTo>
                    <a:pt x="0" y="646547"/>
                  </a:lnTo>
                  <a:lnTo>
                    <a:pt x="2937174" y="646547"/>
                  </a:lnTo>
                  <a:lnTo>
                    <a:pt x="3140374" y="323273"/>
                  </a:lnTo>
                  <a:lnTo>
                    <a:pt x="2937174" y="0"/>
                  </a:lnTo>
                  <a:close/>
                </a:path>
              </a:pathLst>
            </a:custGeom>
            <a:solidFill>
              <a:srgbClr val="AECCE7"/>
            </a:solidFill>
          </p:spPr>
        </p:sp>
        <p:sp>
          <p:nvSpPr>
            <p:cNvPr name="TextBox 12" id="12"/>
            <p:cNvSpPr txBox="true"/>
            <p:nvPr/>
          </p:nvSpPr>
          <p:spPr>
            <a:xfrm>
              <a:off x="0" y="-38100"/>
              <a:ext cx="3026074" cy="684647"/>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776853" y="1181100"/>
            <a:ext cx="9482447" cy="1342136"/>
          </a:xfrm>
          <a:prstGeom prst="rect">
            <a:avLst/>
          </a:prstGeom>
        </p:spPr>
        <p:txBody>
          <a:bodyPr anchor="t" rtlCol="false" tIns="0" lIns="0" bIns="0" rIns="0">
            <a:spAutoFit/>
          </a:bodyPr>
          <a:lstStyle/>
          <a:p>
            <a:pPr algn="r" marL="0" indent="0" lvl="1">
              <a:lnSpc>
                <a:spcPts val="5152"/>
              </a:lnSpc>
            </a:pPr>
            <a:r>
              <a:rPr lang="en-US" b="true" sz="5600" spc="156">
                <a:solidFill>
                  <a:srgbClr val="08377C"/>
                </a:solidFill>
                <a:latin typeface="Montserrat Bold"/>
                <a:ea typeface="Montserrat Bold"/>
                <a:cs typeface="Montserrat Bold"/>
                <a:sym typeface="Montserrat Bold"/>
              </a:rPr>
              <a:t>PENGGUNAAN HIVEMQ DI PURWARUPA</a:t>
            </a:r>
          </a:p>
        </p:txBody>
      </p:sp>
      <p:sp>
        <p:nvSpPr>
          <p:cNvPr name="Freeform 14" id="14"/>
          <p:cNvSpPr/>
          <p:nvPr/>
        </p:nvSpPr>
        <p:spPr>
          <a:xfrm flipH="false" flipV="false" rot="6015910">
            <a:off x="-160154" y="-2031061"/>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4784089">
            <a:off x="-1959777" y="-40156"/>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4784089">
            <a:off x="684111" y="542521"/>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6015910">
            <a:off x="17404783" y="7347319"/>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4784089">
            <a:off x="15605160" y="9338224"/>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610453" y="7935387"/>
            <a:ext cx="6166400" cy="425704"/>
          </a:xfrm>
          <a:prstGeom prst="rect">
            <a:avLst/>
          </a:prstGeom>
        </p:spPr>
        <p:txBody>
          <a:bodyPr anchor="t" rtlCol="false" tIns="0" lIns="0" bIns="0" rIns="0">
            <a:spAutoFit/>
          </a:bodyPr>
          <a:lstStyle/>
          <a:p>
            <a:pPr algn="ctr" marL="0" indent="0" lvl="1">
              <a:lnSpc>
                <a:spcPts val="3127"/>
              </a:lnSpc>
            </a:pPr>
            <a:r>
              <a:rPr lang="en-US" b="true" sz="3399" spc="95">
                <a:solidFill>
                  <a:srgbClr val="08377C"/>
                </a:solidFill>
                <a:latin typeface="Montserrat Bold"/>
                <a:ea typeface="Montserrat Bold"/>
                <a:cs typeface="Montserrat Bold"/>
                <a:sym typeface="Montserrat Bold"/>
              </a:rPr>
              <a:t>Koneksi pada HIVEMQ</a:t>
            </a:r>
          </a:p>
        </p:txBody>
      </p:sp>
      <p:sp>
        <p:nvSpPr>
          <p:cNvPr name="TextBox 20" id="20"/>
          <p:cNvSpPr txBox="true"/>
          <p:nvPr/>
        </p:nvSpPr>
        <p:spPr>
          <a:xfrm rot="0">
            <a:off x="10746979" y="7935387"/>
            <a:ext cx="6166400" cy="425704"/>
          </a:xfrm>
          <a:prstGeom prst="rect">
            <a:avLst/>
          </a:prstGeom>
        </p:spPr>
        <p:txBody>
          <a:bodyPr anchor="t" rtlCol="false" tIns="0" lIns="0" bIns="0" rIns="0">
            <a:spAutoFit/>
          </a:bodyPr>
          <a:lstStyle/>
          <a:p>
            <a:pPr algn="ctr" marL="0" indent="0" lvl="1">
              <a:lnSpc>
                <a:spcPts val="3127"/>
              </a:lnSpc>
            </a:pPr>
            <a:r>
              <a:rPr lang="en-US" b="true" sz="3399" spc="95">
                <a:solidFill>
                  <a:srgbClr val="08377C"/>
                </a:solidFill>
                <a:latin typeface="Montserrat Bold"/>
                <a:ea typeface="Montserrat Bold"/>
                <a:cs typeface="Montserrat Bold"/>
                <a:sym typeface="Montserrat Bold"/>
              </a:rPr>
              <a:t>Topic yang dipakai</a:t>
            </a:r>
          </a:p>
        </p:txBody>
      </p:sp>
      <p:sp>
        <p:nvSpPr>
          <p:cNvPr name="Freeform 21" id="21"/>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0"/>
            <a:stretch>
              <a:fillRect l="0" t="0" r="0" b="0"/>
            </a:stretch>
          </a:blipFill>
        </p:spPr>
      </p:sp>
      <p:sp>
        <p:nvSpPr>
          <p:cNvPr name="Freeform 22" id="22"/>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1"/>
            <a:stretch>
              <a:fillRect l="0" t="0" r="0" b="0"/>
            </a:stretch>
          </a:blipFill>
        </p:spPr>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839025">
            <a:off x="1516786" y="-460094"/>
            <a:ext cx="278907" cy="14793052"/>
            <a:chOff x="0" y="0"/>
            <a:chExt cx="73457" cy="3896112"/>
          </a:xfrm>
        </p:grpSpPr>
        <p:sp>
          <p:nvSpPr>
            <p:cNvPr name="Freeform 3" id="3"/>
            <p:cNvSpPr/>
            <p:nvPr/>
          </p:nvSpPr>
          <p:spPr>
            <a:xfrm flipH="false" flipV="false" rot="0">
              <a:off x="0" y="0"/>
              <a:ext cx="73457" cy="3896113"/>
            </a:xfrm>
            <a:custGeom>
              <a:avLst/>
              <a:gdLst/>
              <a:ahLst/>
              <a:cxnLst/>
              <a:rect r="r" b="b" t="t" l="l"/>
              <a:pathLst>
                <a:path h="3896113" w="73457">
                  <a:moveTo>
                    <a:pt x="0" y="0"/>
                  </a:moveTo>
                  <a:lnTo>
                    <a:pt x="73457" y="0"/>
                  </a:lnTo>
                  <a:lnTo>
                    <a:pt x="73457" y="3896113"/>
                  </a:lnTo>
                  <a:lnTo>
                    <a:pt x="0" y="3896113"/>
                  </a:lnTo>
                  <a:close/>
                </a:path>
              </a:pathLst>
            </a:custGeom>
            <a:solidFill>
              <a:srgbClr val="4F6A92"/>
            </a:solidFill>
            <a:ln cap="sq">
              <a:noFill/>
              <a:prstDash val="solid"/>
              <a:miter/>
            </a:ln>
          </p:spPr>
        </p:sp>
        <p:sp>
          <p:nvSpPr>
            <p:cNvPr name="TextBox 4" id="4"/>
            <p:cNvSpPr txBox="true"/>
            <p:nvPr/>
          </p:nvSpPr>
          <p:spPr>
            <a:xfrm>
              <a:off x="0" y="-47625"/>
              <a:ext cx="73457" cy="394373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1839025">
            <a:off x="-4049466" y="1232097"/>
            <a:ext cx="5850996" cy="14793052"/>
            <a:chOff x="0" y="0"/>
            <a:chExt cx="1541003" cy="3896112"/>
          </a:xfrm>
        </p:grpSpPr>
        <p:sp>
          <p:nvSpPr>
            <p:cNvPr name="Freeform 6" id="6"/>
            <p:cNvSpPr/>
            <p:nvPr/>
          </p:nvSpPr>
          <p:spPr>
            <a:xfrm flipH="false" flipV="false" rot="0">
              <a:off x="0" y="0"/>
              <a:ext cx="1541003" cy="3896113"/>
            </a:xfrm>
            <a:custGeom>
              <a:avLst/>
              <a:gdLst/>
              <a:ahLst/>
              <a:cxnLst/>
              <a:rect r="r" b="b" t="t" l="l"/>
              <a:pathLst>
                <a:path h="3896113" w="1541003">
                  <a:moveTo>
                    <a:pt x="0" y="0"/>
                  </a:moveTo>
                  <a:lnTo>
                    <a:pt x="1541003" y="0"/>
                  </a:lnTo>
                  <a:lnTo>
                    <a:pt x="1541003" y="3896113"/>
                  </a:lnTo>
                  <a:lnTo>
                    <a:pt x="0" y="3896113"/>
                  </a:lnTo>
                  <a:close/>
                </a:path>
              </a:pathLst>
            </a:custGeom>
            <a:solidFill>
              <a:srgbClr val="4F6A92"/>
            </a:solidFill>
            <a:ln cap="sq">
              <a:noFill/>
              <a:prstDash val="solid"/>
              <a:miter/>
            </a:ln>
          </p:spPr>
        </p:sp>
        <p:sp>
          <p:nvSpPr>
            <p:cNvPr name="TextBox 7" id="7"/>
            <p:cNvSpPr txBox="true"/>
            <p:nvPr/>
          </p:nvSpPr>
          <p:spPr>
            <a:xfrm>
              <a:off x="0" y="-47625"/>
              <a:ext cx="1541003" cy="394373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a:grpSpLocks noChangeAspect="true"/>
          </p:cNvGrpSpPr>
          <p:nvPr/>
        </p:nvGrpSpPr>
        <p:grpSpPr>
          <a:xfrm rot="0">
            <a:off x="-2065539" y="-59329"/>
            <a:ext cx="15224978" cy="10405658"/>
            <a:chOff x="0" y="0"/>
            <a:chExt cx="5508856" cy="3765081"/>
          </a:xfrm>
        </p:grpSpPr>
        <p:sp>
          <p:nvSpPr>
            <p:cNvPr name="Freeform 9" id="9"/>
            <p:cNvSpPr/>
            <p:nvPr/>
          </p:nvSpPr>
          <p:spPr>
            <a:xfrm flipH="false" flipV="false" rot="0">
              <a:off x="0" y="0"/>
              <a:ext cx="5508856" cy="3765081"/>
            </a:xfrm>
            <a:custGeom>
              <a:avLst/>
              <a:gdLst/>
              <a:ahLst/>
              <a:cxnLst/>
              <a:rect r="r" b="b" t="t" l="l"/>
              <a:pathLst>
                <a:path h="3765081" w="5508856">
                  <a:moveTo>
                    <a:pt x="0" y="0"/>
                  </a:moveTo>
                  <a:lnTo>
                    <a:pt x="3335085" y="0"/>
                  </a:lnTo>
                  <a:lnTo>
                    <a:pt x="5508856" y="3765081"/>
                  </a:lnTo>
                  <a:lnTo>
                    <a:pt x="2173770" y="3765081"/>
                  </a:lnTo>
                  <a:lnTo>
                    <a:pt x="0" y="0"/>
                  </a:lnTo>
                  <a:close/>
                </a:path>
              </a:pathLst>
            </a:custGeom>
            <a:solidFill>
              <a:srgbClr val="08377C"/>
            </a:solidFill>
          </p:spPr>
        </p:sp>
        <p:sp>
          <p:nvSpPr>
            <p:cNvPr name="Freeform 10" id="10"/>
            <p:cNvSpPr/>
            <p:nvPr/>
          </p:nvSpPr>
          <p:spPr>
            <a:xfrm flipH="false" flipV="false" rot="0">
              <a:off x="0" y="0"/>
              <a:ext cx="5508856" cy="3765081"/>
            </a:xfrm>
            <a:custGeom>
              <a:avLst/>
              <a:gdLst/>
              <a:ahLst/>
              <a:cxnLst/>
              <a:rect r="r" b="b" t="t" l="l"/>
              <a:pathLst>
                <a:path h="3765081" w="5508856">
                  <a:moveTo>
                    <a:pt x="0" y="0"/>
                  </a:moveTo>
                  <a:lnTo>
                    <a:pt x="3335085" y="0"/>
                  </a:lnTo>
                  <a:lnTo>
                    <a:pt x="5508856" y="3765081"/>
                  </a:lnTo>
                  <a:lnTo>
                    <a:pt x="2173770" y="3765081"/>
                  </a:lnTo>
                  <a:lnTo>
                    <a:pt x="0" y="0"/>
                  </a:lnTo>
                  <a:close/>
                </a:path>
              </a:pathLst>
            </a:custGeom>
            <a:solidFill>
              <a:srgbClr val="4F6A92"/>
            </a:solidFill>
            <a:ln w="12700">
              <a:solidFill>
                <a:srgbClr val="000000"/>
              </a:solidFill>
            </a:ln>
          </p:spPr>
        </p:sp>
      </p:grpSp>
      <p:grpSp>
        <p:nvGrpSpPr>
          <p:cNvPr name="Group 11" id="11"/>
          <p:cNvGrpSpPr/>
          <p:nvPr/>
        </p:nvGrpSpPr>
        <p:grpSpPr>
          <a:xfrm rot="-1839025">
            <a:off x="10382703" y="-2380630"/>
            <a:ext cx="278907" cy="14793052"/>
            <a:chOff x="0" y="0"/>
            <a:chExt cx="73457" cy="3896112"/>
          </a:xfrm>
        </p:grpSpPr>
        <p:sp>
          <p:nvSpPr>
            <p:cNvPr name="Freeform 12" id="12"/>
            <p:cNvSpPr/>
            <p:nvPr/>
          </p:nvSpPr>
          <p:spPr>
            <a:xfrm flipH="false" flipV="false" rot="0">
              <a:off x="0" y="0"/>
              <a:ext cx="73457" cy="3896113"/>
            </a:xfrm>
            <a:custGeom>
              <a:avLst/>
              <a:gdLst/>
              <a:ahLst/>
              <a:cxnLst/>
              <a:rect r="r" b="b" t="t" l="l"/>
              <a:pathLst>
                <a:path h="3896113" w="73457">
                  <a:moveTo>
                    <a:pt x="0" y="0"/>
                  </a:moveTo>
                  <a:lnTo>
                    <a:pt x="73457" y="0"/>
                  </a:lnTo>
                  <a:lnTo>
                    <a:pt x="73457" y="3896113"/>
                  </a:lnTo>
                  <a:lnTo>
                    <a:pt x="0" y="3896113"/>
                  </a:lnTo>
                  <a:close/>
                </a:path>
              </a:pathLst>
            </a:custGeom>
            <a:solidFill>
              <a:srgbClr val="4F6A92"/>
            </a:solidFill>
            <a:ln cap="sq">
              <a:noFill/>
              <a:prstDash val="solid"/>
              <a:miter/>
            </a:ln>
          </p:spPr>
        </p:sp>
        <p:sp>
          <p:nvSpPr>
            <p:cNvPr name="TextBox 13" id="13"/>
            <p:cNvSpPr txBox="true"/>
            <p:nvPr/>
          </p:nvSpPr>
          <p:spPr>
            <a:xfrm>
              <a:off x="0" y="-47625"/>
              <a:ext cx="73457" cy="394373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974485" y="2432177"/>
            <a:ext cx="16230600" cy="7702584"/>
            <a:chOff x="0" y="0"/>
            <a:chExt cx="4274726" cy="2028664"/>
          </a:xfrm>
        </p:grpSpPr>
        <p:sp>
          <p:nvSpPr>
            <p:cNvPr name="Freeform 15" id="15"/>
            <p:cNvSpPr/>
            <p:nvPr/>
          </p:nvSpPr>
          <p:spPr>
            <a:xfrm flipH="false" flipV="false" rot="0">
              <a:off x="0" y="0"/>
              <a:ext cx="4274726" cy="2028664"/>
            </a:xfrm>
            <a:custGeom>
              <a:avLst/>
              <a:gdLst/>
              <a:ahLst/>
              <a:cxnLst/>
              <a:rect r="r" b="b" t="t" l="l"/>
              <a:pathLst>
                <a:path h="2028664" w="4274726">
                  <a:moveTo>
                    <a:pt x="0" y="0"/>
                  </a:moveTo>
                  <a:lnTo>
                    <a:pt x="4274726" y="0"/>
                  </a:lnTo>
                  <a:lnTo>
                    <a:pt x="4274726" y="2028664"/>
                  </a:lnTo>
                  <a:lnTo>
                    <a:pt x="0" y="2028664"/>
                  </a:lnTo>
                  <a:close/>
                </a:path>
              </a:pathLst>
            </a:custGeom>
            <a:solidFill>
              <a:srgbClr val="052A47"/>
            </a:solidFill>
          </p:spPr>
        </p:sp>
        <p:sp>
          <p:nvSpPr>
            <p:cNvPr name="TextBox 16" id="16"/>
            <p:cNvSpPr txBox="true"/>
            <p:nvPr/>
          </p:nvSpPr>
          <p:spPr>
            <a:xfrm>
              <a:off x="0" y="-47625"/>
              <a:ext cx="4274726" cy="2076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9089785" y="2711120"/>
            <a:ext cx="7453978" cy="4409060"/>
          </a:xfrm>
          <a:custGeom>
            <a:avLst/>
            <a:gdLst/>
            <a:ahLst/>
            <a:cxnLst/>
            <a:rect r="r" b="b" t="t" l="l"/>
            <a:pathLst>
              <a:path h="4409060" w="7453978">
                <a:moveTo>
                  <a:pt x="0" y="0"/>
                </a:moveTo>
                <a:lnTo>
                  <a:pt x="7453978" y="0"/>
                </a:lnTo>
                <a:lnTo>
                  <a:pt x="7453978" y="4409060"/>
                </a:lnTo>
                <a:lnTo>
                  <a:pt x="0" y="4409060"/>
                </a:lnTo>
                <a:lnTo>
                  <a:pt x="0" y="0"/>
                </a:lnTo>
                <a:close/>
              </a:path>
            </a:pathLst>
          </a:custGeom>
          <a:blipFill>
            <a:blip r:embed="rId2"/>
            <a:stretch>
              <a:fillRect l="-1065" t="0" r="-2606" b="0"/>
            </a:stretch>
          </a:blipFill>
        </p:spPr>
      </p:sp>
      <p:sp>
        <p:nvSpPr>
          <p:cNvPr name="Freeform 18" id="18"/>
          <p:cNvSpPr/>
          <p:nvPr/>
        </p:nvSpPr>
        <p:spPr>
          <a:xfrm flipH="false" flipV="false" rot="0">
            <a:off x="1313235" y="2810421"/>
            <a:ext cx="7389516" cy="4309759"/>
          </a:xfrm>
          <a:custGeom>
            <a:avLst/>
            <a:gdLst/>
            <a:ahLst/>
            <a:cxnLst/>
            <a:rect r="r" b="b" t="t" l="l"/>
            <a:pathLst>
              <a:path h="4309759" w="7389516">
                <a:moveTo>
                  <a:pt x="0" y="0"/>
                </a:moveTo>
                <a:lnTo>
                  <a:pt x="7389516" y="0"/>
                </a:lnTo>
                <a:lnTo>
                  <a:pt x="7389516" y="4309759"/>
                </a:lnTo>
                <a:lnTo>
                  <a:pt x="0" y="4309759"/>
                </a:lnTo>
                <a:lnTo>
                  <a:pt x="0" y="0"/>
                </a:lnTo>
                <a:close/>
              </a:path>
            </a:pathLst>
          </a:custGeom>
          <a:blipFill>
            <a:blip r:embed="rId3"/>
            <a:stretch>
              <a:fillRect l="-1185" t="0" r="-1185" b="0"/>
            </a:stretch>
          </a:blipFill>
        </p:spPr>
      </p:sp>
      <p:sp>
        <p:nvSpPr>
          <p:cNvPr name="TextBox 19" id="19"/>
          <p:cNvSpPr txBox="true"/>
          <p:nvPr/>
        </p:nvSpPr>
        <p:spPr>
          <a:xfrm rot="0">
            <a:off x="2322158" y="7361807"/>
            <a:ext cx="13535254" cy="2486007"/>
          </a:xfrm>
          <a:prstGeom prst="rect">
            <a:avLst/>
          </a:prstGeom>
        </p:spPr>
        <p:txBody>
          <a:bodyPr anchor="t" rtlCol="false" tIns="0" lIns="0" bIns="0" rIns="0">
            <a:spAutoFit/>
          </a:bodyPr>
          <a:lstStyle/>
          <a:p>
            <a:pPr algn="l" marL="0" indent="0" lvl="0">
              <a:lnSpc>
                <a:spcPts val="3286"/>
              </a:lnSpc>
              <a:spcBef>
                <a:spcPct val="0"/>
              </a:spcBef>
            </a:pPr>
            <a:r>
              <a:rPr lang="en-US" sz="2347" spc="105">
                <a:solidFill>
                  <a:srgbClr val="FFFFFF"/>
                </a:solidFill>
                <a:latin typeface="Montserrat"/>
                <a:ea typeface="Montserrat"/>
                <a:cs typeface="Montserrat"/>
                <a:sym typeface="Montserrat"/>
              </a:rPr>
              <a:t>Lampu lalu lintas konvensional memiliki kekurangan dalam mengatasi antrian kendaraan yang fluktuatif. Sehingga efisiensi dan efektifitas jalan tidak dicapai secara maksimal. Terdapat waktu isyarat hijau yang terbuang secara percuma, dan antrian kendaraan yang tersisa. Dengan lampu lalu lintas cerdas berbasis YOLO, waktu isyarat hijau akan digunakan secara optimal dan antrian kendaraan dapat diminimalisir.</a:t>
            </a:r>
          </a:p>
        </p:txBody>
      </p:sp>
      <p:sp>
        <p:nvSpPr>
          <p:cNvPr name="TextBox 20" id="20"/>
          <p:cNvSpPr txBox="true"/>
          <p:nvPr/>
        </p:nvSpPr>
        <p:spPr>
          <a:xfrm rot="0">
            <a:off x="9089785" y="276225"/>
            <a:ext cx="9522181" cy="1495425"/>
          </a:xfrm>
          <a:prstGeom prst="rect">
            <a:avLst/>
          </a:prstGeom>
        </p:spPr>
        <p:txBody>
          <a:bodyPr anchor="t" rtlCol="false" tIns="0" lIns="0" bIns="0" rIns="0">
            <a:spAutoFit/>
          </a:bodyPr>
          <a:lstStyle/>
          <a:p>
            <a:pPr algn="l" marL="0" indent="0" lvl="0">
              <a:lnSpc>
                <a:spcPts val="3903"/>
              </a:lnSpc>
              <a:spcBef>
                <a:spcPct val="0"/>
              </a:spcBef>
            </a:pPr>
            <a:r>
              <a:rPr lang="en-US" b="true" sz="3253" spc="117">
                <a:solidFill>
                  <a:srgbClr val="4F6A92"/>
                </a:solidFill>
                <a:latin typeface="Montserrat Classic Bold"/>
                <a:ea typeface="Montserrat Classic Bold"/>
                <a:cs typeface="Montserrat Classic Bold"/>
                <a:sym typeface="Montserrat Classic Bold"/>
              </a:rPr>
              <a:t>Hasil Perbandingan Lampu Lalu Lintas Konvensional Dengan Lampu </a:t>
            </a:r>
            <a:r>
              <a:rPr lang="en-US" b="true" sz="3253" spc="117">
                <a:solidFill>
                  <a:srgbClr val="4F6A92"/>
                </a:solidFill>
                <a:latin typeface="Montserrat Classic Bold"/>
                <a:ea typeface="Montserrat Classic Bold"/>
                <a:cs typeface="Montserrat Classic Bold"/>
                <a:sym typeface="Montserrat Classic Bold"/>
              </a:rPr>
              <a:t>Lalu Lintas Berbasis YOLO</a:t>
            </a:r>
          </a:p>
        </p:txBody>
      </p:sp>
      <p:sp>
        <p:nvSpPr>
          <p:cNvPr name="Freeform 21" id="21"/>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4"/>
            <a:stretch>
              <a:fillRect l="0" t="0" r="0" b="0"/>
            </a:stretch>
          </a:blipFill>
        </p:spPr>
      </p:sp>
      <p:sp>
        <p:nvSpPr>
          <p:cNvPr name="Freeform 22" id="22"/>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5"/>
            <a:stretch>
              <a:fillRect l="0" t="0" r="0" b="0"/>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sp>
        <p:nvSpPr>
          <p:cNvPr name="TextBox 2" id="2"/>
          <p:cNvSpPr txBox="true"/>
          <p:nvPr/>
        </p:nvSpPr>
        <p:spPr>
          <a:xfrm rot="0">
            <a:off x="2857436" y="1979410"/>
            <a:ext cx="5291891" cy="953135"/>
          </a:xfrm>
          <a:prstGeom prst="rect">
            <a:avLst/>
          </a:prstGeom>
        </p:spPr>
        <p:txBody>
          <a:bodyPr anchor="t" rtlCol="false" tIns="0" lIns="0" bIns="0" rIns="0">
            <a:spAutoFit/>
          </a:bodyPr>
          <a:lstStyle/>
          <a:p>
            <a:pPr algn="ctr">
              <a:lnSpc>
                <a:spcPts val="7840"/>
              </a:lnSpc>
            </a:pPr>
            <a:r>
              <a:rPr lang="en-US" sz="5600" b="true">
                <a:solidFill>
                  <a:srgbClr val="FFFFFF"/>
                </a:solidFill>
                <a:latin typeface="Montserrat Bold"/>
                <a:ea typeface="Montserrat Bold"/>
                <a:cs typeface="Montserrat Bold"/>
                <a:sym typeface="Montserrat Bold"/>
              </a:rPr>
              <a:t>Konvensional</a:t>
            </a:r>
          </a:p>
        </p:txBody>
      </p:sp>
      <p:sp>
        <p:nvSpPr>
          <p:cNvPr name="TextBox 3" id="3"/>
          <p:cNvSpPr txBox="true"/>
          <p:nvPr/>
        </p:nvSpPr>
        <p:spPr>
          <a:xfrm rot="0">
            <a:off x="2952666" y="2993773"/>
            <a:ext cx="5101431" cy="1099185"/>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Sistem lampu lalu lintas konvensional memiliki nilai </a:t>
            </a:r>
            <a:r>
              <a:rPr lang="en-US" sz="2100" b="true">
                <a:solidFill>
                  <a:srgbClr val="FFFFFF"/>
                </a:solidFill>
                <a:latin typeface="Montserrat Bold"/>
                <a:ea typeface="Montserrat Bold"/>
                <a:cs typeface="Montserrat Bold"/>
                <a:sym typeface="Montserrat Bold"/>
              </a:rPr>
              <a:t>rata-rata 27.1</a:t>
            </a:r>
            <a:r>
              <a:rPr lang="en-US" sz="2100">
                <a:solidFill>
                  <a:srgbClr val="FFFFFF"/>
                </a:solidFill>
                <a:latin typeface="Montserrat"/>
                <a:ea typeface="Montserrat"/>
                <a:cs typeface="Montserrat"/>
                <a:sym typeface="Montserrat"/>
              </a:rPr>
              <a:t> detik per fase lampu hijau yang terbuang</a:t>
            </a:r>
          </a:p>
        </p:txBody>
      </p:sp>
      <p:sp>
        <p:nvSpPr>
          <p:cNvPr name="TextBox 4" id="4"/>
          <p:cNvSpPr txBox="true"/>
          <p:nvPr/>
        </p:nvSpPr>
        <p:spPr>
          <a:xfrm rot="0">
            <a:off x="9159011" y="7026330"/>
            <a:ext cx="4241177" cy="953135"/>
          </a:xfrm>
          <a:prstGeom prst="rect">
            <a:avLst/>
          </a:prstGeom>
        </p:spPr>
        <p:txBody>
          <a:bodyPr anchor="t" rtlCol="false" tIns="0" lIns="0" bIns="0" rIns="0">
            <a:spAutoFit/>
          </a:bodyPr>
          <a:lstStyle/>
          <a:p>
            <a:pPr algn="ctr">
              <a:lnSpc>
                <a:spcPts val="7840"/>
              </a:lnSpc>
            </a:pPr>
            <a:r>
              <a:rPr lang="en-US" sz="5600" b="true">
                <a:solidFill>
                  <a:srgbClr val="FFFFFF"/>
                </a:solidFill>
                <a:latin typeface="Montserrat Bold"/>
                <a:ea typeface="Montserrat Bold"/>
                <a:cs typeface="Montserrat Bold"/>
                <a:sym typeface="Montserrat Bold"/>
              </a:rPr>
              <a:t>Purwarupa</a:t>
            </a:r>
          </a:p>
        </p:txBody>
      </p:sp>
      <p:sp>
        <p:nvSpPr>
          <p:cNvPr name="TextBox 5" id="5"/>
          <p:cNvSpPr txBox="true"/>
          <p:nvPr/>
        </p:nvSpPr>
        <p:spPr>
          <a:xfrm rot="0">
            <a:off x="8613440" y="7981401"/>
            <a:ext cx="5332318" cy="1099185"/>
          </a:xfrm>
          <a:prstGeom prst="rect">
            <a:avLst/>
          </a:prstGeom>
        </p:spPr>
        <p:txBody>
          <a:bodyPr anchor="t" rtlCol="false" tIns="0" lIns="0" bIns="0" rIns="0">
            <a:spAutoFit/>
          </a:bodyPr>
          <a:lstStyle/>
          <a:p>
            <a:pPr algn="ctr">
              <a:lnSpc>
                <a:spcPts val="2940"/>
              </a:lnSpc>
            </a:pPr>
            <a:r>
              <a:rPr lang="en-US" sz="2100">
                <a:solidFill>
                  <a:srgbClr val="FFFFFF"/>
                </a:solidFill>
                <a:latin typeface="Montserrat"/>
                <a:ea typeface="Montserrat"/>
                <a:cs typeface="Montserrat"/>
                <a:sym typeface="Montserrat"/>
              </a:rPr>
              <a:t>Sistem Lampu lalu lintas purwarupa mempunyai nilai </a:t>
            </a:r>
            <a:r>
              <a:rPr lang="en-US" sz="2100" b="true">
                <a:solidFill>
                  <a:srgbClr val="FFFFFF"/>
                </a:solidFill>
                <a:latin typeface="Montserrat Bold"/>
                <a:ea typeface="Montserrat Bold"/>
                <a:cs typeface="Montserrat Bold"/>
                <a:sym typeface="Montserrat Bold"/>
              </a:rPr>
              <a:t>rata-rata 10.1 detik</a:t>
            </a:r>
            <a:r>
              <a:rPr lang="en-US" sz="2100">
                <a:solidFill>
                  <a:srgbClr val="FFFFFF"/>
                </a:solidFill>
                <a:latin typeface="Montserrat"/>
                <a:ea typeface="Montserrat"/>
                <a:cs typeface="Montserrat"/>
                <a:sym typeface="Montserrat"/>
              </a:rPr>
              <a:t> per fase lampu hijau yang terbuang</a:t>
            </a:r>
          </a:p>
        </p:txBody>
      </p:sp>
      <p:grpSp>
        <p:nvGrpSpPr>
          <p:cNvPr name="Group 6" id="6"/>
          <p:cNvGrpSpPr/>
          <p:nvPr/>
        </p:nvGrpSpPr>
        <p:grpSpPr>
          <a:xfrm rot="0">
            <a:off x="11849816" y="-503377"/>
            <a:ext cx="4438309" cy="3843376"/>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cap="sq">
              <a:noFill/>
              <a:prstDash val="solid"/>
              <a:miter/>
            </a:ln>
          </p:spPr>
        </p:sp>
      </p:grpSp>
      <p:grpSp>
        <p:nvGrpSpPr>
          <p:cNvPr name="Group 8" id="8"/>
          <p:cNvGrpSpPr/>
          <p:nvPr/>
        </p:nvGrpSpPr>
        <p:grpSpPr>
          <a:xfrm rot="0">
            <a:off x="15286624" y="1580657"/>
            <a:ext cx="4438309" cy="3843376"/>
            <a:chOff x="0" y="0"/>
            <a:chExt cx="4282440" cy="3708400"/>
          </a:xfrm>
        </p:grpSpPr>
        <p:sp>
          <p:nvSpPr>
            <p:cNvPr name="Freeform 9" id="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cap="sq">
              <a:noFill/>
              <a:prstDash val="solid"/>
              <a:miter/>
            </a:ln>
          </p:spPr>
        </p:sp>
      </p:grpSp>
      <p:sp>
        <p:nvSpPr>
          <p:cNvPr name="Freeform 10" id="10"/>
          <p:cNvSpPr/>
          <p:nvPr/>
        </p:nvSpPr>
        <p:spPr>
          <a:xfrm flipH="false" flipV="false" rot="7221679">
            <a:off x="12844168" y="3496395"/>
            <a:ext cx="2898563" cy="2508574"/>
          </a:xfrm>
          <a:custGeom>
            <a:avLst/>
            <a:gdLst/>
            <a:ahLst/>
            <a:cxnLst/>
            <a:rect r="r" b="b" t="t" l="l"/>
            <a:pathLst>
              <a:path h="2508574" w="2898563">
                <a:moveTo>
                  <a:pt x="0" y="0"/>
                </a:moveTo>
                <a:lnTo>
                  <a:pt x="2898562" y="0"/>
                </a:lnTo>
                <a:lnTo>
                  <a:pt x="2898562" y="2508574"/>
                </a:lnTo>
                <a:lnTo>
                  <a:pt x="0" y="2508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3578320">
            <a:off x="15807017" y="-1061105"/>
            <a:ext cx="2904567" cy="2513771"/>
          </a:xfrm>
          <a:custGeom>
            <a:avLst/>
            <a:gdLst/>
            <a:ahLst/>
            <a:cxnLst/>
            <a:rect r="r" b="b" t="t" l="l"/>
            <a:pathLst>
              <a:path h="2513771" w="2904567">
                <a:moveTo>
                  <a:pt x="0" y="0"/>
                </a:moveTo>
                <a:lnTo>
                  <a:pt x="2904566" y="0"/>
                </a:lnTo>
                <a:lnTo>
                  <a:pt x="2904566" y="2513771"/>
                </a:lnTo>
                <a:lnTo>
                  <a:pt x="0" y="2513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3578320">
            <a:off x="15180805" y="4874211"/>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1336306" y="4404617"/>
            <a:ext cx="4438309" cy="3843376"/>
            <a:chOff x="0" y="0"/>
            <a:chExt cx="4282440" cy="3708400"/>
          </a:xfrm>
        </p:grpSpPr>
        <p:sp>
          <p:nvSpPr>
            <p:cNvPr name="Freeform 14" id="1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10"/>
              <a:stretch>
                <a:fillRect l="-15109" t="0" r="-15109" b="0"/>
              </a:stretch>
            </a:blipFill>
            <a:ln cap="sq">
              <a:noFill/>
              <a:prstDash val="solid"/>
              <a:miter/>
            </a:ln>
          </p:spPr>
        </p:sp>
      </p:grpSp>
      <p:grpSp>
        <p:nvGrpSpPr>
          <p:cNvPr name="Group 15" id="15"/>
          <p:cNvGrpSpPr/>
          <p:nvPr/>
        </p:nvGrpSpPr>
        <p:grpSpPr>
          <a:xfrm rot="0">
            <a:off x="2147261" y="6443624"/>
            <a:ext cx="4438309" cy="3843376"/>
            <a:chOff x="0" y="0"/>
            <a:chExt cx="4282440" cy="3708400"/>
          </a:xfrm>
        </p:grpSpPr>
        <p:sp>
          <p:nvSpPr>
            <p:cNvPr name="Freeform 16" id="16"/>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11"/>
              <a:stretch>
                <a:fillRect l="-14987" t="0" r="-14987" b="0"/>
              </a:stretch>
            </a:blipFill>
            <a:ln cap="sq">
              <a:noFill/>
              <a:prstDash val="solid"/>
              <a:miter/>
            </a:ln>
          </p:spPr>
        </p:sp>
      </p:grpSp>
      <p:sp>
        <p:nvSpPr>
          <p:cNvPr name="Freeform 17" id="17"/>
          <p:cNvSpPr/>
          <p:nvPr/>
        </p:nvSpPr>
        <p:spPr>
          <a:xfrm flipH="false" flipV="false" rot="7221679">
            <a:off x="-228763" y="8379277"/>
            <a:ext cx="2898563" cy="2508574"/>
          </a:xfrm>
          <a:custGeom>
            <a:avLst/>
            <a:gdLst/>
            <a:ahLst/>
            <a:cxnLst/>
            <a:rect r="r" b="b" t="t" l="l"/>
            <a:pathLst>
              <a:path h="2508574" w="2898563">
                <a:moveTo>
                  <a:pt x="0" y="0"/>
                </a:moveTo>
                <a:lnTo>
                  <a:pt x="2898563" y="0"/>
                </a:lnTo>
                <a:lnTo>
                  <a:pt x="2898563" y="2508575"/>
                </a:lnTo>
                <a:lnTo>
                  <a:pt x="0" y="2508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3578320">
            <a:off x="3851468" y="5102703"/>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2"/>
            <a:stretch>
              <a:fillRect l="0" t="0" r="0" b="0"/>
            </a:stretch>
          </a:blipFill>
        </p:spPr>
      </p:sp>
      <p:sp>
        <p:nvSpPr>
          <p:cNvPr name="Freeform 20" id="20"/>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3"/>
            <a:stretch>
              <a:fillRect l="0" t="0" r="0" b="0"/>
            </a:stretch>
          </a:blipFill>
        </p:spPr>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F6A92"/>
        </a:solidFill>
      </p:bgPr>
    </p:bg>
    <p:spTree>
      <p:nvGrpSpPr>
        <p:cNvPr id="1" name=""/>
        <p:cNvGrpSpPr/>
        <p:nvPr/>
      </p:nvGrpSpPr>
      <p:grpSpPr>
        <a:xfrm>
          <a:off x="0" y="0"/>
          <a:ext cx="0" cy="0"/>
          <a:chOff x="0" y="0"/>
          <a:chExt cx="0" cy="0"/>
        </a:xfrm>
      </p:grpSpPr>
      <p:sp>
        <p:nvSpPr>
          <p:cNvPr name="TextBox 2" id="2"/>
          <p:cNvSpPr txBox="true"/>
          <p:nvPr/>
        </p:nvSpPr>
        <p:spPr>
          <a:xfrm rot="0">
            <a:off x="4791040" y="2836487"/>
            <a:ext cx="8985176" cy="953135"/>
          </a:xfrm>
          <a:prstGeom prst="rect">
            <a:avLst/>
          </a:prstGeom>
        </p:spPr>
        <p:txBody>
          <a:bodyPr anchor="t" rtlCol="false" tIns="0" lIns="0" bIns="0" rIns="0">
            <a:spAutoFit/>
          </a:bodyPr>
          <a:lstStyle/>
          <a:p>
            <a:pPr algn="ctr">
              <a:lnSpc>
                <a:spcPts val="7840"/>
              </a:lnSpc>
            </a:pPr>
            <a:r>
              <a:rPr lang="en-US" sz="5600" b="true">
                <a:solidFill>
                  <a:srgbClr val="FFFFFF"/>
                </a:solidFill>
                <a:latin typeface="Montserrat Bold"/>
                <a:ea typeface="Montserrat Bold"/>
                <a:cs typeface="Montserrat Bold"/>
                <a:sym typeface="Montserrat Bold"/>
              </a:rPr>
              <a:t>Saran</a:t>
            </a:r>
          </a:p>
        </p:txBody>
      </p:sp>
      <p:grpSp>
        <p:nvGrpSpPr>
          <p:cNvPr name="Group 3" id="3"/>
          <p:cNvGrpSpPr/>
          <p:nvPr/>
        </p:nvGrpSpPr>
        <p:grpSpPr>
          <a:xfrm rot="0">
            <a:off x="2128268" y="4943501"/>
            <a:ext cx="4217216" cy="3439503"/>
            <a:chOff x="0" y="0"/>
            <a:chExt cx="1110707" cy="905877"/>
          </a:xfrm>
        </p:grpSpPr>
        <p:sp>
          <p:nvSpPr>
            <p:cNvPr name="Freeform 4" id="4"/>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FFFFFF"/>
            </a:solidFill>
          </p:spPr>
        </p:sp>
        <p:sp>
          <p:nvSpPr>
            <p:cNvPr name="TextBox 5" id="5"/>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035392" y="4943501"/>
            <a:ext cx="4217216" cy="3439503"/>
            <a:chOff x="0" y="0"/>
            <a:chExt cx="1110707" cy="905877"/>
          </a:xfrm>
        </p:grpSpPr>
        <p:sp>
          <p:nvSpPr>
            <p:cNvPr name="Freeform 7" id="7"/>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FFFFFF"/>
            </a:solidFill>
          </p:spPr>
        </p:sp>
        <p:sp>
          <p:nvSpPr>
            <p:cNvPr name="TextBox 8" id="8"/>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2103671" y="4943501"/>
            <a:ext cx="4217216" cy="3439503"/>
            <a:chOff x="0" y="0"/>
            <a:chExt cx="1110707" cy="905877"/>
          </a:xfrm>
        </p:grpSpPr>
        <p:sp>
          <p:nvSpPr>
            <p:cNvPr name="Freeform 10" id="10"/>
            <p:cNvSpPr/>
            <p:nvPr/>
          </p:nvSpPr>
          <p:spPr>
            <a:xfrm flipH="false" flipV="false" rot="0">
              <a:off x="0" y="0"/>
              <a:ext cx="1110707" cy="905877"/>
            </a:xfrm>
            <a:custGeom>
              <a:avLst/>
              <a:gdLst/>
              <a:ahLst/>
              <a:cxnLst/>
              <a:rect r="r" b="b" t="t" l="l"/>
              <a:pathLst>
                <a:path h="905877" w="1110707">
                  <a:moveTo>
                    <a:pt x="0" y="0"/>
                  </a:moveTo>
                  <a:lnTo>
                    <a:pt x="1110707" y="0"/>
                  </a:lnTo>
                  <a:lnTo>
                    <a:pt x="1110707" y="905877"/>
                  </a:lnTo>
                  <a:lnTo>
                    <a:pt x="0" y="905877"/>
                  </a:lnTo>
                  <a:close/>
                </a:path>
              </a:pathLst>
            </a:custGeom>
            <a:solidFill>
              <a:srgbClr val="FFFFFF"/>
            </a:solidFill>
          </p:spPr>
        </p:sp>
        <p:sp>
          <p:nvSpPr>
            <p:cNvPr name="TextBox 11" id="11"/>
            <p:cNvSpPr txBox="true"/>
            <p:nvPr/>
          </p:nvSpPr>
          <p:spPr>
            <a:xfrm>
              <a:off x="0" y="-38100"/>
              <a:ext cx="1110707" cy="943977"/>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3578320">
            <a:off x="16580504" y="96909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3578320">
            <a:off x="14187064" y="-299344"/>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3578320">
            <a:off x="16588022" y="-1682472"/>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3359738" y="5219919"/>
            <a:ext cx="1754276" cy="580390"/>
          </a:xfrm>
          <a:prstGeom prst="rect">
            <a:avLst/>
          </a:prstGeom>
        </p:spPr>
        <p:txBody>
          <a:bodyPr anchor="t" rtlCol="false" tIns="0" lIns="0" bIns="0" rIns="0">
            <a:spAutoFit/>
          </a:bodyPr>
          <a:lstStyle/>
          <a:p>
            <a:pPr algn="ctr">
              <a:lnSpc>
                <a:spcPts val="4759"/>
              </a:lnSpc>
            </a:pPr>
            <a:r>
              <a:rPr lang="en-US" sz="3399" b="true">
                <a:solidFill>
                  <a:srgbClr val="4F6A92"/>
                </a:solidFill>
                <a:latin typeface="Montserrat Bold"/>
                <a:ea typeface="Montserrat Bold"/>
                <a:cs typeface="Montserrat Bold"/>
                <a:sym typeface="Montserrat Bold"/>
              </a:rPr>
              <a:t>Akurasi</a:t>
            </a:r>
          </a:p>
        </p:txBody>
      </p:sp>
      <p:sp>
        <p:nvSpPr>
          <p:cNvPr name="TextBox 16" id="16"/>
          <p:cNvSpPr txBox="true"/>
          <p:nvPr/>
        </p:nvSpPr>
        <p:spPr>
          <a:xfrm rot="0">
            <a:off x="2213788" y="5979992"/>
            <a:ext cx="4046176" cy="1842135"/>
          </a:xfrm>
          <a:prstGeom prst="rect">
            <a:avLst/>
          </a:prstGeom>
        </p:spPr>
        <p:txBody>
          <a:bodyPr anchor="t" rtlCol="false" tIns="0" lIns="0" bIns="0" rIns="0">
            <a:spAutoFit/>
          </a:bodyPr>
          <a:lstStyle/>
          <a:p>
            <a:pPr algn="ctr">
              <a:lnSpc>
                <a:spcPts val="2940"/>
              </a:lnSpc>
            </a:pPr>
            <a:r>
              <a:rPr lang="en-US" sz="2100">
                <a:solidFill>
                  <a:srgbClr val="4F6A92"/>
                </a:solidFill>
                <a:latin typeface="Montserrat"/>
                <a:ea typeface="Montserrat"/>
                <a:cs typeface="Montserrat"/>
                <a:sym typeface="Montserrat"/>
              </a:rPr>
              <a:t>Menggunakan dataset yang lebih khusus untuk kendaraan di Indonesia sehingga akurasi deteksi dapat lebih tinggi </a:t>
            </a:r>
          </a:p>
        </p:txBody>
      </p:sp>
      <p:sp>
        <p:nvSpPr>
          <p:cNvPr name="TextBox 17" id="17"/>
          <p:cNvSpPr txBox="true"/>
          <p:nvPr/>
        </p:nvSpPr>
        <p:spPr>
          <a:xfrm rot="0">
            <a:off x="8192372" y="5219919"/>
            <a:ext cx="1903256" cy="580390"/>
          </a:xfrm>
          <a:prstGeom prst="rect">
            <a:avLst/>
          </a:prstGeom>
        </p:spPr>
        <p:txBody>
          <a:bodyPr anchor="t" rtlCol="false" tIns="0" lIns="0" bIns="0" rIns="0">
            <a:spAutoFit/>
          </a:bodyPr>
          <a:lstStyle/>
          <a:p>
            <a:pPr algn="ctr">
              <a:lnSpc>
                <a:spcPts val="4759"/>
              </a:lnSpc>
            </a:pPr>
            <a:r>
              <a:rPr lang="en-US" sz="3399" b="true">
                <a:solidFill>
                  <a:srgbClr val="4F6A92"/>
                </a:solidFill>
                <a:latin typeface="Montserrat Bold"/>
                <a:ea typeface="Montserrat Bold"/>
                <a:cs typeface="Montserrat Bold"/>
                <a:sym typeface="Montserrat Bold"/>
              </a:rPr>
              <a:t>Kamera</a:t>
            </a:r>
          </a:p>
        </p:txBody>
      </p:sp>
      <p:sp>
        <p:nvSpPr>
          <p:cNvPr name="TextBox 18" id="18"/>
          <p:cNvSpPr txBox="true"/>
          <p:nvPr/>
        </p:nvSpPr>
        <p:spPr>
          <a:xfrm rot="0">
            <a:off x="7171016" y="5979992"/>
            <a:ext cx="3945968" cy="1470660"/>
          </a:xfrm>
          <a:prstGeom prst="rect">
            <a:avLst/>
          </a:prstGeom>
        </p:spPr>
        <p:txBody>
          <a:bodyPr anchor="t" rtlCol="false" tIns="0" lIns="0" bIns="0" rIns="0">
            <a:spAutoFit/>
          </a:bodyPr>
          <a:lstStyle/>
          <a:p>
            <a:pPr algn="ctr">
              <a:lnSpc>
                <a:spcPts val="2940"/>
              </a:lnSpc>
            </a:pPr>
            <a:r>
              <a:rPr lang="en-US" sz="2100">
                <a:solidFill>
                  <a:srgbClr val="4F6A92"/>
                </a:solidFill>
                <a:latin typeface="Montserrat"/>
                <a:ea typeface="Montserrat"/>
                <a:cs typeface="Montserrat"/>
                <a:sym typeface="Montserrat"/>
              </a:rPr>
              <a:t>Mengoptimalkan posisi kamera di persimpangan agar bisa mendapatkan deteksi yang lebih baik </a:t>
            </a:r>
          </a:p>
        </p:txBody>
      </p:sp>
      <p:sp>
        <p:nvSpPr>
          <p:cNvPr name="TextBox 19" id="19"/>
          <p:cNvSpPr txBox="true"/>
          <p:nvPr/>
        </p:nvSpPr>
        <p:spPr>
          <a:xfrm rot="0">
            <a:off x="13400548" y="5219919"/>
            <a:ext cx="1623463" cy="580390"/>
          </a:xfrm>
          <a:prstGeom prst="rect">
            <a:avLst/>
          </a:prstGeom>
        </p:spPr>
        <p:txBody>
          <a:bodyPr anchor="t" rtlCol="false" tIns="0" lIns="0" bIns="0" rIns="0">
            <a:spAutoFit/>
          </a:bodyPr>
          <a:lstStyle/>
          <a:p>
            <a:pPr algn="ctr">
              <a:lnSpc>
                <a:spcPts val="4759"/>
              </a:lnSpc>
            </a:pPr>
            <a:r>
              <a:rPr lang="en-US" sz="3399" b="true">
                <a:solidFill>
                  <a:srgbClr val="4F6A92"/>
                </a:solidFill>
                <a:latin typeface="Montserrat Bold"/>
                <a:ea typeface="Montserrat Bold"/>
                <a:cs typeface="Montserrat Bold"/>
                <a:sym typeface="Montserrat Bold"/>
              </a:rPr>
              <a:t>Sensor</a:t>
            </a:r>
          </a:p>
        </p:txBody>
      </p:sp>
      <p:sp>
        <p:nvSpPr>
          <p:cNvPr name="TextBox 20" id="20"/>
          <p:cNvSpPr txBox="true"/>
          <p:nvPr/>
        </p:nvSpPr>
        <p:spPr>
          <a:xfrm rot="0">
            <a:off x="12184915" y="5865375"/>
            <a:ext cx="4054729" cy="2213610"/>
          </a:xfrm>
          <a:prstGeom prst="rect">
            <a:avLst/>
          </a:prstGeom>
        </p:spPr>
        <p:txBody>
          <a:bodyPr anchor="t" rtlCol="false" tIns="0" lIns="0" bIns="0" rIns="0">
            <a:spAutoFit/>
          </a:bodyPr>
          <a:lstStyle/>
          <a:p>
            <a:pPr algn="ctr">
              <a:lnSpc>
                <a:spcPts val="2940"/>
              </a:lnSpc>
            </a:pPr>
            <a:r>
              <a:rPr lang="en-US" sz="2100">
                <a:solidFill>
                  <a:srgbClr val="4F6A92"/>
                </a:solidFill>
                <a:latin typeface="Montserrat"/>
                <a:ea typeface="Montserrat"/>
                <a:cs typeface="Montserrat"/>
                <a:sym typeface="Montserrat"/>
              </a:rPr>
              <a:t>Menambahkan sensor lain seperti sensor hujan atau inframerah untuk membuat purwarupa punya perbandingan kondisi untuk mengambil keputusan</a:t>
            </a:r>
          </a:p>
        </p:txBody>
      </p:sp>
      <p:sp>
        <p:nvSpPr>
          <p:cNvPr name="Freeform 21" id="21"/>
          <p:cNvSpPr/>
          <p:nvPr/>
        </p:nvSpPr>
        <p:spPr>
          <a:xfrm flipH="false" flipV="false" rot="-7168575">
            <a:off x="-862658" y="10031423"/>
            <a:ext cx="2884378" cy="2496298"/>
          </a:xfrm>
          <a:custGeom>
            <a:avLst/>
            <a:gdLst/>
            <a:ahLst/>
            <a:cxnLst/>
            <a:rect r="r" b="b" t="t" l="l"/>
            <a:pathLst>
              <a:path h="2496298" w="2884378">
                <a:moveTo>
                  <a:pt x="0" y="0"/>
                </a:moveTo>
                <a:lnTo>
                  <a:pt x="2884378" y="0"/>
                </a:lnTo>
                <a:lnTo>
                  <a:pt x="2884378" y="2496297"/>
                </a:lnTo>
                <a:lnTo>
                  <a:pt x="0" y="24962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3631424">
            <a:off x="1398527" y="8741573"/>
            <a:ext cx="2890352" cy="2501469"/>
          </a:xfrm>
          <a:custGeom>
            <a:avLst/>
            <a:gdLst/>
            <a:ahLst/>
            <a:cxnLst/>
            <a:rect r="r" b="b" t="t" l="l"/>
            <a:pathLst>
              <a:path h="2501469" w="2890352">
                <a:moveTo>
                  <a:pt x="0" y="0"/>
                </a:moveTo>
                <a:lnTo>
                  <a:pt x="2890353" y="0"/>
                </a:lnTo>
                <a:lnTo>
                  <a:pt x="2890353" y="2501469"/>
                </a:lnTo>
                <a:lnTo>
                  <a:pt x="0" y="25014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3631424">
            <a:off x="-831266" y="7357190"/>
            <a:ext cx="2890352" cy="2501469"/>
          </a:xfrm>
          <a:custGeom>
            <a:avLst/>
            <a:gdLst/>
            <a:ahLst/>
            <a:cxnLst/>
            <a:rect r="r" b="b" t="t" l="l"/>
            <a:pathLst>
              <a:path h="2501469" w="2890352">
                <a:moveTo>
                  <a:pt x="0" y="0"/>
                </a:moveTo>
                <a:lnTo>
                  <a:pt x="2890352" y="0"/>
                </a:lnTo>
                <a:lnTo>
                  <a:pt x="2890352" y="2501469"/>
                </a:lnTo>
                <a:lnTo>
                  <a:pt x="0" y="25014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8"/>
            <a:stretch>
              <a:fillRect l="0" t="0" r="0" b="0"/>
            </a:stretch>
          </a:blipFill>
        </p:spPr>
      </p:sp>
      <p:sp>
        <p:nvSpPr>
          <p:cNvPr name="Freeform 25" id="25"/>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9"/>
            <a:stretch>
              <a:fillRect l="0" t="0" r="0" b="0"/>
            </a:stretch>
          </a:blipFill>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59039" y="7296430"/>
            <a:ext cx="4972384" cy="4305860"/>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29974" t="0" r="0" b="0"/>
              </a:stretch>
            </a:blipFill>
            <a:ln cap="sq">
              <a:noFill/>
              <a:prstDash val="solid"/>
              <a:miter/>
            </a:ln>
          </p:spPr>
        </p:sp>
      </p:grpSp>
      <p:grpSp>
        <p:nvGrpSpPr>
          <p:cNvPr name="Group 4" id="4"/>
          <p:cNvGrpSpPr/>
          <p:nvPr/>
        </p:nvGrpSpPr>
        <p:grpSpPr>
          <a:xfrm rot="0">
            <a:off x="12895837" y="880259"/>
            <a:ext cx="9083590" cy="7865979"/>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29974" t="0" r="0" b="0"/>
              </a:stretch>
            </a:blipFill>
            <a:ln cap="sq">
              <a:noFill/>
              <a:prstDash val="solid"/>
              <a:miter/>
            </a:ln>
          </p:spPr>
        </p:sp>
      </p:grpSp>
      <p:sp>
        <p:nvSpPr>
          <p:cNvPr name="Freeform 6" id="6"/>
          <p:cNvSpPr/>
          <p:nvPr/>
        </p:nvSpPr>
        <p:spPr>
          <a:xfrm flipH="false" flipV="false" rot="-3578320">
            <a:off x="10315128" y="2877622"/>
            <a:ext cx="4860206" cy="4206287"/>
          </a:xfrm>
          <a:custGeom>
            <a:avLst/>
            <a:gdLst/>
            <a:ahLst/>
            <a:cxnLst/>
            <a:rect r="r" b="b" t="t" l="l"/>
            <a:pathLst>
              <a:path h="4206287" w="4860206">
                <a:moveTo>
                  <a:pt x="0" y="0"/>
                </a:moveTo>
                <a:lnTo>
                  <a:pt x="4860206" y="0"/>
                </a:lnTo>
                <a:lnTo>
                  <a:pt x="4860206" y="4206288"/>
                </a:lnTo>
                <a:lnTo>
                  <a:pt x="0" y="4206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578320">
            <a:off x="15007529" y="8020199"/>
            <a:ext cx="4860206" cy="4206287"/>
          </a:xfrm>
          <a:custGeom>
            <a:avLst/>
            <a:gdLst/>
            <a:ahLst/>
            <a:cxnLst/>
            <a:rect r="r" b="b" t="t" l="l"/>
            <a:pathLst>
              <a:path h="4206287" w="4860206">
                <a:moveTo>
                  <a:pt x="0" y="0"/>
                </a:moveTo>
                <a:lnTo>
                  <a:pt x="4860206" y="0"/>
                </a:lnTo>
                <a:lnTo>
                  <a:pt x="4860206" y="4206287"/>
                </a:lnTo>
                <a:lnTo>
                  <a:pt x="0" y="42062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8320">
            <a:off x="14829197" y="-2430504"/>
            <a:ext cx="4860206" cy="4206287"/>
          </a:xfrm>
          <a:custGeom>
            <a:avLst/>
            <a:gdLst/>
            <a:ahLst/>
            <a:cxnLst/>
            <a:rect r="r" b="b" t="t" l="l"/>
            <a:pathLst>
              <a:path h="4206287" w="4860206">
                <a:moveTo>
                  <a:pt x="0" y="0"/>
                </a:moveTo>
                <a:lnTo>
                  <a:pt x="4860206" y="0"/>
                </a:lnTo>
                <a:lnTo>
                  <a:pt x="4860206" y="4206287"/>
                </a:lnTo>
                <a:lnTo>
                  <a:pt x="0" y="42062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221679">
            <a:off x="10210296" y="-1489389"/>
            <a:ext cx="4859752" cy="4205894"/>
          </a:xfrm>
          <a:custGeom>
            <a:avLst/>
            <a:gdLst/>
            <a:ahLst/>
            <a:cxnLst/>
            <a:rect r="r" b="b" t="t" l="l"/>
            <a:pathLst>
              <a:path h="4205894" w="4859752">
                <a:moveTo>
                  <a:pt x="0" y="0"/>
                </a:moveTo>
                <a:lnTo>
                  <a:pt x="4859751" y="0"/>
                </a:lnTo>
                <a:lnTo>
                  <a:pt x="4859751" y="4205895"/>
                </a:lnTo>
                <a:lnTo>
                  <a:pt x="0" y="42058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334906" y="4548632"/>
            <a:ext cx="8367318" cy="1342136"/>
          </a:xfrm>
          <a:prstGeom prst="rect">
            <a:avLst/>
          </a:prstGeom>
        </p:spPr>
        <p:txBody>
          <a:bodyPr anchor="t" rtlCol="false" tIns="0" lIns="0" bIns="0" rIns="0">
            <a:spAutoFit/>
          </a:bodyPr>
          <a:lstStyle/>
          <a:p>
            <a:pPr algn="ctr" marL="0" indent="0" lvl="1">
              <a:lnSpc>
                <a:spcPts val="5152"/>
              </a:lnSpc>
            </a:pPr>
            <a:r>
              <a:rPr lang="en-US" b="true" sz="5600" spc="156">
                <a:solidFill>
                  <a:srgbClr val="4F6A92"/>
                </a:solidFill>
                <a:latin typeface="Montserrat Bold"/>
                <a:ea typeface="Montserrat Bold"/>
                <a:cs typeface="Montserrat Bold"/>
                <a:sym typeface="Montserrat Bold"/>
              </a:rPr>
              <a:t>APAKAH ADA PERTANYAAN?</a:t>
            </a:r>
          </a:p>
        </p:txBody>
      </p:sp>
      <p:sp>
        <p:nvSpPr>
          <p:cNvPr name="Freeform 11" id="11"/>
          <p:cNvSpPr/>
          <p:nvPr/>
        </p:nvSpPr>
        <p:spPr>
          <a:xfrm flipH="false" flipV="false" rot="0">
            <a:off x="5162823" y="7296430"/>
            <a:ext cx="1760213" cy="1224849"/>
          </a:xfrm>
          <a:custGeom>
            <a:avLst/>
            <a:gdLst/>
            <a:ahLst/>
            <a:cxnLst/>
            <a:rect r="r" b="b" t="t" l="l"/>
            <a:pathLst>
              <a:path h="1224849" w="1760213">
                <a:moveTo>
                  <a:pt x="0" y="0"/>
                </a:moveTo>
                <a:lnTo>
                  <a:pt x="1760213" y="0"/>
                </a:lnTo>
                <a:lnTo>
                  <a:pt x="1760213" y="1224849"/>
                </a:lnTo>
                <a:lnTo>
                  <a:pt x="0" y="1224849"/>
                </a:lnTo>
                <a:lnTo>
                  <a:pt x="0" y="0"/>
                </a:lnTo>
                <a:close/>
              </a:path>
            </a:pathLst>
          </a:custGeom>
          <a:blipFill>
            <a:blip r:embed="rId12"/>
            <a:stretch>
              <a:fillRect l="0" t="0" r="0" b="0"/>
            </a:stretch>
          </a:blipFill>
        </p:spPr>
      </p:sp>
      <p:sp>
        <p:nvSpPr>
          <p:cNvPr name="Freeform 12" id="12"/>
          <p:cNvSpPr/>
          <p:nvPr/>
        </p:nvSpPr>
        <p:spPr>
          <a:xfrm flipH="false" flipV="false" rot="0">
            <a:off x="4114093" y="7396041"/>
            <a:ext cx="1048730" cy="1068254"/>
          </a:xfrm>
          <a:custGeom>
            <a:avLst/>
            <a:gdLst/>
            <a:ahLst/>
            <a:cxnLst/>
            <a:rect r="r" b="b" t="t" l="l"/>
            <a:pathLst>
              <a:path h="1068254" w="1048730">
                <a:moveTo>
                  <a:pt x="0" y="0"/>
                </a:moveTo>
                <a:lnTo>
                  <a:pt x="1048730" y="0"/>
                </a:lnTo>
                <a:lnTo>
                  <a:pt x="1048730" y="1068254"/>
                </a:lnTo>
                <a:lnTo>
                  <a:pt x="0" y="1068254"/>
                </a:lnTo>
                <a:lnTo>
                  <a:pt x="0" y="0"/>
                </a:lnTo>
                <a:close/>
              </a:path>
            </a:pathLst>
          </a:custGeom>
          <a:blipFill>
            <a:blip r:embed="rId13"/>
            <a:stretch>
              <a:fillRect l="0" t="0" r="0" b="0"/>
            </a:stretch>
          </a:blipFill>
        </p:spPr>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18161" y="3916072"/>
            <a:ext cx="11215913" cy="9712475"/>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22641" t="-8821" r="-18797" b="0"/>
              </a:stretch>
            </a:blipFill>
            <a:ln cap="sq">
              <a:noFill/>
              <a:prstDash val="solid"/>
              <a:miter/>
            </a:ln>
          </p:spPr>
        </p:sp>
      </p:grpSp>
      <p:grpSp>
        <p:nvGrpSpPr>
          <p:cNvPr name="Group 4" id="4"/>
          <p:cNvGrpSpPr/>
          <p:nvPr/>
        </p:nvGrpSpPr>
        <p:grpSpPr>
          <a:xfrm rot="0">
            <a:off x="0" y="3916072"/>
            <a:ext cx="11923607" cy="2454856"/>
            <a:chOff x="0" y="0"/>
            <a:chExt cx="3140374" cy="646547"/>
          </a:xfrm>
        </p:grpSpPr>
        <p:sp>
          <p:nvSpPr>
            <p:cNvPr name="Freeform 5" id="5"/>
            <p:cNvSpPr/>
            <p:nvPr/>
          </p:nvSpPr>
          <p:spPr>
            <a:xfrm flipH="false" flipV="false" rot="0">
              <a:off x="0" y="0"/>
              <a:ext cx="3140374" cy="646547"/>
            </a:xfrm>
            <a:custGeom>
              <a:avLst/>
              <a:gdLst/>
              <a:ahLst/>
              <a:cxnLst/>
              <a:rect r="r" b="b" t="t" l="l"/>
              <a:pathLst>
                <a:path h="646547" w="3140374">
                  <a:moveTo>
                    <a:pt x="2937174" y="0"/>
                  </a:moveTo>
                  <a:lnTo>
                    <a:pt x="0" y="0"/>
                  </a:lnTo>
                  <a:lnTo>
                    <a:pt x="0" y="646547"/>
                  </a:lnTo>
                  <a:lnTo>
                    <a:pt x="2937174" y="646547"/>
                  </a:lnTo>
                  <a:lnTo>
                    <a:pt x="3140374" y="323273"/>
                  </a:lnTo>
                  <a:lnTo>
                    <a:pt x="2937174" y="0"/>
                  </a:lnTo>
                  <a:close/>
                </a:path>
              </a:pathLst>
            </a:custGeom>
            <a:solidFill>
              <a:srgbClr val="AECCE7"/>
            </a:solidFill>
          </p:spPr>
        </p:sp>
        <p:sp>
          <p:nvSpPr>
            <p:cNvPr name="TextBox 6" id="6"/>
            <p:cNvSpPr txBox="true"/>
            <p:nvPr/>
          </p:nvSpPr>
          <p:spPr>
            <a:xfrm>
              <a:off x="0" y="-38100"/>
              <a:ext cx="3026074" cy="68464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7221679">
            <a:off x="11278991" y="2494298"/>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3578320">
            <a:off x="11279749" y="5181087"/>
            <a:ext cx="2904567" cy="2513771"/>
          </a:xfrm>
          <a:custGeom>
            <a:avLst/>
            <a:gdLst/>
            <a:ahLst/>
            <a:cxnLst/>
            <a:rect r="r" b="b" t="t" l="l"/>
            <a:pathLst>
              <a:path h="2513771" w="2904567">
                <a:moveTo>
                  <a:pt x="0" y="0"/>
                </a:moveTo>
                <a:lnTo>
                  <a:pt x="2904566" y="0"/>
                </a:lnTo>
                <a:lnTo>
                  <a:pt x="2904566" y="2513770"/>
                </a:lnTo>
                <a:lnTo>
                  <a:pt x="0" y="25137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3578320">
            <a:off x="13634195" y="1222705"/>
            <a:ext cx="2904567" cy="2513771"/>
          </a:xfrm>
          <a:custGeom>
            <a:avLst/>
            <a:gdLst/>
            <a:ahLst/>
            <a:cxnLst/>
            <a:rect r="r" b="b" t="t" l="l"/>
            <a:pathLst>
              <a:path h="2513771" w="2904567">
                <a:moveTo>
                  <a:pt x="0" y="0"/>
                </a:moveTo>
                <a:lnTo>
                  <a:pt x="2904567" y="0"/>
                </a:lnTo>
                <a:lnTo>
                  <a:pt x="2904567" y="2513770"/>
                </a:lnTo>
                <a:lnTo>
                  <a:pt x="0" y="2513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3578320">
            <a:off x="9941200" y="7541493"/>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498850" y="237969"/>
            <a:ext cx="1760213" cy="1224849"/>
          </a:xfrm>
          <a:custGeom>
            <a:avLst/>
            <a:gdLst/>
            <a:ahLst/>
            <a:cxnLst/>
            <a:rect r="r" b="b" t="t" l="l"/>
            <a:pathLst>
              <a:path h="1224849" w="1760213">
                <a:moveTo>
                  <a:pt x="0" y="0"/>
                </a:moveTo>
                <a:lnTo>
                  <a:pt x="1760214" y="0"/>
                </a:lnTo>
                <a:lnTo>
                  <a:pt x="1760214" y="1224849"/>
                </a:lnTo>
                <a:lnTo>
                  <a:pt x="0" y="1224849"/>
                </a:lnTo>
                <a:lnTo>
                  <a:pt x="0" y="0"/>
                </a:lnTo>
                <a:close/>
              </a:path>
            </a:pathLst>
          </a:custGeom>
          <a:blipFill>
            <a:blip r:embed="rId11"/>
            <a:stretch>
              <a:fillRect l="0" t="0" r="0" b="0"/>
            </a:stretch>
          </a:blipFill>
        </p:spPr>
      </p:sp>
      <p:sp>
        <p:nvSpPr>
          <p:cNvPr name="Freeform 12" id="12"/>
          <p:cNvSpPr/>
          <p:nvPr/>
        </p:nvSpPr>
        <p:spPr>
          <a:xfrm flipH="false" flipV="false" rot="0">
            <a:off x="450120" y="337580"/>
            <a:ext cx="1048730" cy="1068254"/>
          </a:xfrm>
          <a:custGeom>
            <a:avLst/>
            <a:gdLst/>
            <a:ahLst/>
            <a:cxnLst/>
            <a:rect r="r" b="b" t="t" l="l"/>
            <a:pathLst>
              <a:path h="1068254" w="1048730">
                <a:moveTo>
                  <a:pt x="0" y="0"/>
                </a:moveTo>
                <a:lnTo>
                  <a:pt x="1048730" y="0"/>
                </a:lnTo>
                <a:lnTo>
                  <a:pt x="1048730" y="1068255"/>
                </a:lnTo>
                <a:lnTo>
                  <a:pt x="0" y="1068255"/>
                </a:lnTo>
                <a:lnTo>
                  <a:pt x="0" y="0"/>
                </a:lnTo>
                <a:close/>
              </a:path>
            </a:pathLst>
          </a:custGeom>
          <a:blipFill>
            <a:blip r:embed="rId12"/>
            <a:stretch>
              <a:fillRect l="0" t="0" r="0" b="0"/>
            </a:stretch>
          </a:blipFill>
        </p:spPr>
      </p:sp>
      <p:sp>
        <p:nvSpPr>
          <p:cNvPr name="Freeform 13" id="13"/>
          <p:cNvSpPr/>
          <p:nvPr/>
        </p:nvSpPr>
        <p:spPr>
          <a:xfrm flipH="false" flipV="false" rot="-3578320">
            <a:off x="15917750" y="-11956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7221679">
            <a:off x="13577580" y="-1359922"/>
            <a:ext cx="2898563" cy="2508574"/>
          </a:xfrm>
          <a:custGeom>
            <a:avLst/>
            <a:gdLst/>
            <a:ahLst/>
            <a:cxnLst/>
            <a:rect r="r" b="b" t="t" l="l"/>
            <a:pathLst>
              <a:path h="2508574" w="2898563">
                <a:moveTo>
                  <a:pt x="0" y="0"/>
                </a:moveTo>
                <a:lnTo>
                  <a:pt x="2898563" y="0"/>
                </a:lnTo>
                <a:lnTo>
                  <a:pt x="2898563" y="2508574"/>
                </a:lnTo>
                <a:lnTo>
                  <a:pt x="0" y="25085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3578320">
            <a:off x="11272230" y="-119569"/>
            <a:ext cx="2904567" cy="2513771"/>
          </a:xfrm>
          <a:custGeom>
            <a:avLst/>
            <a:gdLst/>
            <a:ahLst/>
            <a:cxnLst/>
            <a:rect r="r" b="b" t="t" l="l"/>
            <a:pathLst>
              <a:path h="2513771" w="2904567">
                <a:moveTo>
                  <a:pt x="0" y="0"/>
                </a:moveTo>
                <a:lnTo>
                  <a:pt x="2904567" y="0"/>
                </a:lnTo>
                <a:lnTo>
                  <a:pt x="2904567" y="2513771"/>
                </a:lnTo>
                <a:lnTo>
                  <a:pt x="0" y="25137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7221679">
            <a:off x="15924512" y="2494298"/>
            <a:ext cx="2898563" cy="2508574"/>
          </a:xfrm>
          <a:custGeom>
            <a:avLst/>
            <a:gdLst/>
            <a:ahLst/>
            <a:cxnLst/>
            <a:rect r="r" b="b" t="t" l="l"/>
            <a:pathLst>
              <a:path h="2508574" w="2898563">
                <a:moveTo>
                  <a:pt x="0" y="0"/>
                </a:moveTo>
                <a:lnTo>
                  <a:pt x="2898562" y="0"/>
                </a:lnTo>
                <a:lnTo>
                  <a:pt x="2898562" y="2508574"/>
                </a:lnTo>
                <a:lnTo>
                  <a:pt x="0" y="25085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3135941" y="4872482"/>
            <a:ext cx="5651726" cy="694436"/>
          </a:xfrm>
          <a:prstGeom prst="rect">
            <a:avLst/>
          </a:prstGeom>
        </p:spPr>
        <p:txBody>
          <a:bodyPr anchor="t" rtlCol="false" tIns="0" lIns="0" bIns="0" rIns="0">
            <a:spAutoFit/>
          </a:bodyPr>
          <a:lstStyle/>
          <a:p>
            <a:pPr algn="l" marL="0" indent="0" lvl="1">
              <a:lnSpc>
                <a:spcPts val="5152"/>
              </a:lnSpc>
            </a:pPr>
            <a:r>
              <a:rPr lang="en-US" b="true" sz="5600" spc="156">
                <a:solidFill>
                  <a:srgbClr val="FFFFFF"/>
                </a:solidFill>
                <a:latin typeface="Montserrat Semi-Bold"/>
                <a:ea typeface="Montserrat Semi-Bold"/>
                <a:cs typeface="Montserrat Semi-Bold"/>
                <a:sym typeface="Montserrat Semi-Bold"/>
              </a:rPr>
              <a:t>TERIMA KASIH</a:t>
            </a:r>
          </a:p>
        </p:txBody>
      </p:sp>
      <p:sp>
        <p:nvSpPr>
          <p:cNvPr name="TextBox 18" id="18"/>
          <p:cNvSpPr txBox="true"/>
          <p:nvPr/>
        </p:nvSpPr>
        <p:spPr>
          <a:xfrm rot="0">
            <a:off x="3621222" y="5671186"/>
            <a:ext cx="4681163" cy="443294"/>
          </a:xfrm>
          <a:prstGeom prst="rect">
            <a:avLst/>
          </a:prstGeom>
        </p:spPr>
        <p:txBody>
          <a:bodyPr anchor="t" rtlCol="false" tIns="0" lIns="0" bIns="0" rIns="0">
            <a:spAutoFit/>
          </a:bodyPr>
          <a:lstStyle/>
          <a:p>
            <a:pPr algn="ctr" marL="0" indent="0" lvl="1">
              <a:lnSpc>
                <a:spcPts val="3419"/>
              </a:lnSpc>
              <a:spcBef>
                <a:spcPct val="0"/>
              </a:spcBef>
            </a:pPr>
            <a:r>
              <a:rPr lang="en-US" b="true" sz="3196" spc="89">
                <a:solidFill>
                  <a:srgbClr val="4F6A92"/>
                </a:solidFill>
                <a:latin typeface="Montserrat Bold"/>
                <a:ea typeface="Montserrat Bold"/>
                <a:cs typeface="Montserrat Bold"/>
                <a:sym typeface="Montserrat Bold"/>
              </a:rPr>
              <a:t>Tim TrafficSpark</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DAGXp4vg-4w</dc:identifier>
  <dcterms:modified xsi:type="dcterms:W3CDTF">2011-08-01T06:04:30Z</dcterms:modified>
  <cp:revision>1</cp:revision>
  <dc:title>TrafficSpark</dc:title>
</cp:coreProperties>
</file>